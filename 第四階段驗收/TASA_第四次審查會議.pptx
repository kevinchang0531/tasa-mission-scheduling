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75" r:id="rId1"/>
  </p:sldMasterIdLst>
  <p:notesMasterIdLst>
    <p:notesMasterId r:id="rId43"/>
  </p:notesMasterIdLst>
  <p:handoutMasterIdLst>
    <p:handoutMasterId r:id="rId44"/>
  </p:handoutMasterIdLst>
  <p:sldIdLst>
    <p:sldId id="256" r:id="rId2"/>
    <p:sldId id="456" r:id="rId3"/>
    <p:sldId id="480" r:id="rId4"/>
    <p:sldId id="481" r:id="rId5"/>
    <p:sldId id="482" r:id="rId6"/>
    <p:sldId id="483" r:id="rId7"/>
    <p:sldId id="484" r:id="rId8"/>
    <p:sldId id="485" r:id="rId9"/>
    <p:sldId id="486" r:id="rId10"/>
    <p:sldId id="487" r:id="rId11"/>
    <p:sldId id="488" r:id="rId12"/>
    <p:sldId id="489" r:id="rId13"/>
    <p:sldId id="490" r:id="rId14"/>
    <p:sldId id="491" r:id="rId15"/>
    <p:sldId id="492" r:id="rId16"/>
    <p:sldId id="493" r:id="rId17"/>
    <p:sldId id="494" r:id="rId18"/>
    <p:sldId id="474" r:id="rId19"/>
    <p:sldId id="475" r:id="rId20"/>
    <p:sldId id="476" r:id="rId21"/>
    <p:sldId id="477" r:id="rId22"/>
    <p:sldId id="478" r:id="rId23"/>
    <p:sldId id="495" r:id="rId24"/>
    <p:sldId id="496" r:id="rId25"/>
    <p:sldId id="457" r:id="rId26"/>
    <p:sldId id="451" r:id="rId27"/>
    <p:sldId id="458" r:id="rId28"/>
    <p:sldId id="459" r:id="rId29"/>
    <p:sldId id="497" r:id="rId30"/>
    <p:sldId id="502" r:id="rId31"/>
    <p:sldId id="498" r:id="rId32"/>
    <p:sldId id="503" r:id="rId33"/>
    <p:sldId id="504" r:id="rId34"/>
    <p:sldId id="499" r:id="rId35"/>
    <p:sldId id="505" r:id="rId36"/>
    <p:sldId id="506" r:id="rId37"/>
    <p:sldId id="507" r:id="rId38"/>
    <p:sldId id="500" r:id="rId39"/>
    <p:sldId id="508" r:id="rId40"/>
    <p:sldId id="501" r:id="rId41"/>
    <p:sldId id="272" r:id="rId42"/>
  </p:sldIdLst>
  <p:sldSz cx="9144000" cy="5143500" type="screen16x9"/>
  <p:notesSz cx="6858000" cy="9144000"/>
  <p:embeddedFontLst>
    <p:embeddedFont>
      <p:font typeface="Cambria Math" panose="02040503050406030204" pitchFamily="18" charset="0"/>
      <p:regular r:id="rId45"/>
    </p:embeddedFont>
    <p:embeddedFont>
      <p:font typeface="Poppins" panose="00000500000000000000" pitchFamily="2" charset="0"/>
      <p:regular r:id="rId46"/>
      <p:bold r:id="rId47"/>
      <p:italic r:id="rId48"/>
      <p:boldItalic r:id="rId49"/>
    </p:embeddedFont>
    <p:embeddedFont>
      <p:font typeface="標楷體" panose="03000509000000000000" pitchFamily="65" charset="-12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26">
          <p15:clr>
            <a:srgbClr val="9AA0A6"/>
          </p15:clr>
        </p15:guide>
        <p15:guide id="2" orient="horz" pos="720">
          <p15:clr>
            <a:srgbClr val="9AA0A6"/>
          </p15:clr>
        </p15:guide>
        <p15:guide id="3"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陳衣綾" initials="陳衣綾" lastIdx="1" clrIdx="0">
    <p:extLst>
      <p:ext uri="{19B8F6BF-5375-455C-9EA6-DF929625EA0E}">
        <p15:presenceInfo xmlns:p15="http://schemas.microsoft.com/office/powerpoint/2012/main" userId="S::108034036@office365.nthu.edu.tw::231bc0af-6525-411e-9a73-4de2f1698c29" providerId="AD"/>
      </p:ext>
    </p:extLst>
  </p:cmAuthor>
  <p:cmAuthor id="2" name="品玲 尹" initials="品玲" lastIdx="7" clrIdx="1">
    <p:extLst>
      <p:ext uri="{19B8F6BF-5375-455C-9EA6-DF929625EA0E}">
        <p15:presenceInfo xmlns:p15="http://schemas.microsoft.com/office/powerpoint/2012/main" userId="d0201a0183f5b3c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CFB"/>
    <a:srgbClr val="CEE4FA"/>
    <a:srgbClr val="B3D9FF"/>
    <a:srgbClr val="FF6600"/>
    <a:srgbClr val="0088CC"/>
    <a:srgbClr val="6C6C6C"/>
    <a:srgbClr val="A800A8"/>
    <a:srgbClr val="FFE7FF"/>
    <a:srgbClr val="FFD9FF"/>
    <a:srgbClr val="F2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193ECF-1327-48E1-8871-2513AA109082}">
  <a:tblStyle styleId="{8B193ECF-1327-48E1-8871-2513AA1090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3700" autoAdjust="0"/>
  </p:normalViewPr>
  <p:slideViewPr>
    <p:cSldViewPr snapToGrid="0">
      <p:cViewPr varScale="1">
        <p:scale>
          <a:sx n="79" d="100"/>
          <a:sy n="79" d="100"/>
        </p:scale>
        <p:origin x="760" y="56"/>
      </p:cViewPr>
      <p:guideLst>
        <p:guide orient="horz" pos="2826"/>
        <p:guide orient="horz" pos="7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5A0BA01C-A111-2F08-85F9-990BA665D9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5BB9BE87-2ACB-E328-0DA6-EDE1CDECF4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3F485D-9A45-483F-B418-532BC5D2B739}" type="datetimeFigureOut">
              <a:rPr lang="zh-TW" altLang="en-US" smtClean="0"/>
              <a:t>2024/9/24</a:t>
            </a:fld>
            <a:endParaRPr lang="zh-TW" altLang="en-US"/>
          </a:p>
        </p:txBody>
      </p:sp>
      <p:sp>
        <p:nvSpPr>
          <p:cNvPr id="4" name="頁尾版面配置區 3">
            <a:extLst>
              <a:ext uri="{FF2B5EF4-FFF2-40B4-BE49-F238E27FC236}">
                <a16:creationId xmlns:a16="http://schemas.microsoft.com/office/drawing/2014/main" id="{A5AC73B0-6F1D-EC83-CB23-4F3B7079F7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B9295556-9FB7-56A5-1BBA-5627A1C3C6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8B2262-B73F-4E29-A96C-CE6ACC17D7C7}" type="slidenum">
              <a:rPr lang="zh-TW" altLang="en-US" smtClean="0"/>
              <a:t>‹#›</a:t>
            </a:fld>
            <a:endParaRPr lang="zh-TW" altLang="en-US"/>
          </a:p>
        </p:txBody>
      </p:sp>
    </p:spTree>
    <p:extLst>
      <p:ext uri="{BB962C8B-B14F-4D97-AF65-F5344CB8AC3E}">
        <p14:creationId xmlns:p14="http://schemas.microsoft.com/office/powerpoint/2010/main" val="349332479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7938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8068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6981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7159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2973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4018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9747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2820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1190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065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4734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578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6180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0200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622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6878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5361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4329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0780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9750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9170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4480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0675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59737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18227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9279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5582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55007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76537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61175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29880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72230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53206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6507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88743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66404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16317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39441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6"/>
        <p:cNvGrpSpPr/>
        <p:nvPr/>
      </p:nvGrpSpPr>
      <p:grpSpPr>
        <a:xfrm>
          <a:off x="0" y="0"/>
          <a:ext cx="0" cy="0"/>
          <a:chOff x="0" y="0"/>
          <a:chExt cx="0" cy="0"/>
        </a:xfrm>
      </p:grpSpPr>
      <p:sp>
        <p:nvSpPr>
          <p:cNvPr id="3027" name="Google Shape;3027;g146b887401b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8" name="Google Shape;3028;g146b887401b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01733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7"/>
        <p:cNvGrpSpPr/>
        <p:nvPr/>
      </p:nvGrpSpPr>
      <p:grpSpPr>
        <a:xfrm>
          <a:off x="0" y="0"/>
          <a:ext cx="0" cy="0"/>
          <a:chOff x="0" y="0"/>
          <a:chExt cx="0" cy="0"/>
        </a:xfrm>
      </p:grpSpPr>
      <p:sp>
        <p:nvSpPr>
          <p:cNvPr id="4878" name="Google Shape;4878;g146b887401b_0_2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9" name="Google Shape;4879;g146b887401b_0_2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48700" y="556225"/>
            <a:ext cx="8046600" cy="4038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301825" y="4860650"/>
            <a:ext cx="872300" cy="99600"/>
            <a:chOff x="301825" y="4860650"/>
            <a:chExt cx="872300" cy="99600"/>
          </a:xfrm>
        </p:grpSpPr>
        <p:sp>
          <p:nvSpPr>
            <p:cNvPr id="11" name="Google Shape;11;p2"/>
            <p:cNvSpPr/>
            <p:nvPr/>
          </p:nvSpPr>
          <p:spPr>
            <a:xfrm>
              <a:off x="301825" y="4860650"/>
              <a:ext cx="99600" cy="99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95000" y="4860650"/>
              <a:ext cx="99600" cy="99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8175" y="4860650"/>
              <a:ext cx="99600" cy="99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81350" y="4860650"/>
              <a:ext cx="99600" cy="99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074525" y="4860650"/>
              <a:ext cx="99600" cy="99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4111275" y="669163"/>
            <a:ext cx="3661200" cy="28071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4500"/>
            </a:lvl1pPr>
            <a:lvl2pPr lvl="1" algn="ctr">
              <a:spcBef>
                <a:spcPts val="200"/>
              </a:spcBef>
              <a:spcAft>
                <a:spcPts val="0"/>
              </a:spcAft>
              <a:buClr>
                <a:schemeClr val="hlink"/>
              </a:buClr>
              <a:buSzPts val="5200"/>
              <a:buNone/>
              <a:defRPr sz="5200">
                <a:solidFill>
                  <a:schemeClr val="hlink"/>
                </a:solidFill>
              </a:defRPr>
            </a:lvl2pPr>
            <a:lvl3pPr lvl="2" algn="ctr">
              <a:spcBef>
                <a:spcPts val="0"/>
              </a:spcBef>
              <a:spcAft>
                <a:spcPts val="0"/>
              </a:spcAft>
              <a:buClr>
                <a:schemeClr val="hlink"/>
              </a:buClr>
              <a:buSzPts val="5200"/>
              <a:buNone/>
              <a:defRPr sz="5200">
                <a:solidFill>
                  <a:schemeClr val="hlink"/>
                </a:solidFill>
              </a:defRPr>
            </a:lvl3pPr>
            <a:lvl4pPr lvl="3" algn="ctr">
              <a:spcBef>
                <a:spcPts val="0"/>
              </a:spcBef>
              <a:spcAft>
                <a:spcPts val="0"/>
              </a:spcAft>
              <a:buClr>
                <a:schemeClr val="hlink"/>
              </a:buClr>
              <a:buSzPts val="5200"/>
              <a:buNone/>
              <a:defRPr sz="5200">
                <a:solidFill>
                  <a:schemeClr val="hlink"/>
                </a:solidFill>
              </a:defRPr>
            </a:lvl4pPr>
            <a:lvl5pPr lvl="4" algn="ctr">
              <a:spcBef>
                <a:spcPts val="0"/>
              </a:spcBef>
              <a:spcAft>
                <a:spcPts val="0"/>
              </a:spcAft>
              <a:buClr>
                <a:schemeClr val="hlink"/>
              </a:buClr>
              <a:buSzPts val="5200"/>
              <a:buNone/>
              <a:defRPr sz="5200">
                <a:solidFill>
                  <a:schemeClr val="hlink"/>
                </a:solidFill>
              </a:defRPr>
            </a:lvl5pPr>
            <a:lvl6pPr lvl="5" algn="ctr">
              <a:spcBef>
                <a:spcPts val="0"/>
              </a:spcBef>
              <a:spcAft>
                <a:spcPts val="0"/>
              </a:spcAft>
              <a:buClr>
                <a:schemeClr val="hlink"/>
              </a:buClr>
              <a:buSzPts val="5200"/>
              <a:buNone/>
              <a:defRPr sz="5200">
                <a:solidFill>
                  <a:schemeClr val="hlink"/>
                </a:solidFill>
              </a:defRPr>
            </a:lvl6pPr>
            <a:lvl7pPr lvl="6" algn="ctr">
              <a:spcBef>
                <a:spcPts val="0"/>
              </a:spcBef>
              <a:spcAft>
                <a:spcPts val="0"/>
              </a:spcAft>
              <a:buClr>
                <a:schemeClr val="hlink"/>
              </a:buClr>
              <a:buSzPts val="5200"/>
              <a:buNone/>
              <a:defRPr sz="5200">
                <a:solidFill>
                  <a:schemeClr val="hlink"/>
                </a:solidFill>
              </a:defRPr>
            </a:lvl7pPr>
            <a:lvl8pPr lvl="7" algn="ctr">
              <a:spcBef>
                <a:spcPts val="0"/>
              </a:spcBef>
              <a:spcAft>
                <a:spcPts val="0"/>
              </a:spcAft>
              <a:buClr>
                <a:schemeClr val="hlink"/>
              </a:buClr>
              <a:buSzPts val="5200"/>
              <a:buNone/>
              <a:defRPr sz="5200">
                <a:solidFill>
                  <a:schemeClr val="hlink"/>
                </a:solidFill>
              </a:defRPr>
            </a:lvl8pPr>
            <a:lvl9pPr lvl="8" algn="ctr">
              <a:spcBef>
                <a:spcPts val="0"/>
              </a:spcBef>
              <a:spcAft>
                <a:spcPts val="0"/>
              </a:spcAft>
              <a:buClr>
                <a:schemeClr val="hlink"/>
              </a:buClr>
              <a:buSzPts val="5200"/>
              <a:buNone/>
              <a:defRPr sz="5200">
                <a:solidFill>
                  <a:schemeClr val="hlink"/>
                </a:solidFill>
              </a:defRPr>
            </a:lvl9pPr>
          </a:lstStyle>
          <a:p>
            <a:endParaRPr/>
          </a:p>
        </p:txBody>
      </p:sp>
      <p:sp>
        <p:nvSpPr>
          <p:cNvPr id="17" name="Google Shape;17;p2"/>
          <p:cNvSpPr txBox="1">
            <a:spLocks noGrp="1"/>
          </p:cNvSpPr>
          <p:nvPr>
            <p:ph type="subTitle" idx="1"/>
          </p:nvPr>
        </p:nvSpPr>
        <p:spPr>
          <a:xfrm>
            <a:off x="4111275" y="4062275"/>
            <a:ext cx="3661200" cy="320100"/>
          </a:xfrm>
          <a:prstGeom prst="rect">
            <a:avLst/>
          </a:prstGeom>
          <a:ln>
            <a:noFill/>
          </a:ln>
        </p:spPr>
        <p:txBody>
          <a:bodyPr spcFirstLastPara="1" wrap="square" lIns="91425" tIns="91425" rIns="91425" bIns="91425" anchor="ctr"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371600" y="3910025"/>
            <a:ext cx="6400800" cy="693900"/>
          </a:xfrm>
          <a:prstGeom prst="rect">
            <a:avLst/>
          </a:prstGeom>
          <a:solidFill>
            <a:schemeClr val="accent2"/>
          </a:solidFill>
          <a:ln>
            <a:noFill/>
          </a:ln>
        </p:spPr>
        <p:txBody>
          <a:bodyPr spcFirstLastPara="1" wrap="square" lIns="91425" tIns="91425" rIns="91425" bIns="91425" anchor="ctr" anchorCtr="0">
            <a:noAutofit/>
          </a:bodyPr>
          <a:lstStyle>
            <a:lvl1pPr lvl="0" algn="ctr" rtl="0">
              <a:spcBef>
                <a:spcPts val="0"/>
              </a:spcBef>
              <a:spcAft>
                <a:spcPts val="0"/>
              </a:spcAft>
              <a:buSzPts val="35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1371600" y="1952850"/>
            <a:ext cx="6400800" cy="7995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1"/>
          <p:cNvSpPr txBox="1">
            <a:spLocks noGrp="1"/>
          </p:cNvSpPr>
          <p:nvPr>
            <p:ph type="subTitle" idx="1"/>
          </p:nvPr>
        </p:nvSpPr>
        <p:spPr>
          <a:xfrm>
            <a:off x="1371600" y="2816250"/>
            <a:ext cx="6400800" cy="374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104"/>
        <p:cNvGrpSpPr/>
        <p:nvPr/>
      </p:nvGrpSpPr>
      <p:grpSpPr>
        <a:xfrm>
          <a:off x="0" y="0"/>
          <a:ext cx="0" cy="0"/>
          <a:chOff x="0" y="0"/>
          <a:chExt cx="0" cy="0"/>
        </a:xfrm>
      </p:grpSpPr>
      <p:sp>
        <p:nvSpPr>
          <p:cNvPr id="105" name="Google Shape;105;p16"/>
          <p:cNvSpPr txBox="1">
            <a:spLocks noGrp="1"/>
          </p:cNvSpPr>
          <p:nvPr>
            <p:ph type="subTitle" idx="1"/>
          </p:nvPr>
        </p:nvSpPr>
        <p:spPr>
          <a:xfrm>
            <a:off x="1362200" y="1403125"/>
            <a:ext cx="4339200" cy="66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rtl="0">
              <a:lnSpc>
                <a:spcPct val="100000"/>
              </a:lnSpc>
              <a:spcBef>
                <a:spcPts val="100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 name="Google Shape;106;p16"/>
          <p:cNvSpPr txBox="1">
            <a:spLocks noGrp="1"/>
          </p:cNvSpPr>
          <p:nvPr>
            <p:ph type="title"/>
          </p:nvPr>
        </p:nvSpPr>
        <p:spPr>
          <a:xfrm>
            <a:off x="1362200" y="590700"/>
            <a:ext cx="4339200" cy="520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5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
        <p:nvSpPr>
          <p:cNvPr id="107" name="Google Shape;107;p16"/>
          <p:cNvSpPr txBox="1">
            <a:spLocks noGrp="1"/>
          </p:cNvSpPr>
          <p:nvPr>
            <p:ph type="subTitle" idx="2"/>
          </p:nvPr>
        </p:nvSpPr>
        <p:spPr>
          <a:xfrm>
            <a:off x="1362200" y="2573575"/>
            <a:ext cx="4339200" cy="314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200"/>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108" name="Google Shape;108;p16"/>
          <p:cNvSpPr txBox="1">
            <a:spLocks noGrp="1"/>
          </p:cNvSpPr>
          <p:nvPr>
            <p:ph type="title" idx="3"/>
          </p:nvPr>
        </p:nvSpPr>
        <p:spPr>
          <a:xfrm>
            <a:off x="1362200" y="2243823"/>
            <a:ext cx="4339200" cy="2454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500"/>
              <a:buNone/>
              <a:defRPr sz="2000"/>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0"/>
        <p:cNvGrpSpPr/>
        <p:nvPr/>
      </p:nvGrpSpPr>
      <p:grpSpPr>
        <a:xfrm>
          <a:off x="0" y="0"/>
          <a:ext cx="0" cy="0"/>
          <a:chOff x="0" y="0"/>
          <a:chExt cx="0" cy="0"/>
        </a:xfrm>
      </p:grpSpPr>
      <p:sp>
        <p:nvSpPr>
          <p:cNvPr id="201" name="Google Shape;201;p23"/>
          <p:cNvSpPr txBox="1">
            <a:spLocks noGrp="1"/>
          </p:cNvSpPr>
          <p:nvPr>
            <p:ph type="title"/>
          </p:nvPr>
        </p:nvSpPr>
        <p:spPr>
          <a:xfrm>
            <a:off x="1371600" y="540000"/>
            <a:ext cx="42966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71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2" name="Google Shape;202;p23"/>
          <p:cNvSpPr txBox="1">
            <a:spLocks noGrp="1"/>
          </p:cNvSpPr>
          <p:nvPr>
            <p:ph type="subTitle" idx="1"/>
          </p:nvPr>
        </p:nvSpPr>
        <p:spPr>
          <a:xfrm>
            <a:off x="1371600" y="1841450"/>
            <a:ext cx="27132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BLANK_1_1_1_1_1_1_1_1_1">
    <p:spTree>
      <p:nvGrpSpPr>
        <p:cNvPr id="1" name="Shape 21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BLANK_1_1_1_1_1_1_1_1_2">
    <p:spTree>
      <p:nvGrpSpPr>
        <p:cNvPr id="1" name="Shape 218"/>
        <p:cNvGrpSpPr/>
        <p:nvPr/>
      </p:nvGrpSpPr>
      <p:grpSpPr>
        <a:xfrm>
          <a:off x="0" y="0"/>
          <a:ext cx="0" cy="0"/>
          <a:chOff x="0" y="0"/>
          <a:chExt cx="0" cy="0"/>
        </a:xfrm>
      </p:grpSpPr>
      <p:sp>
        <p:nvSpPr>
          <p:cNvPr id="219" name="Google Shape;219;p26"/>
          <p:cNvSpPr/>
          <p:nvPr/>
        </p:nvSpPr>
        <p:spPr>
          <a:xfrm>
            <a:off x="548700" y="556225"/>
            <a:ext cx="8046600" cy="4038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dirty="0"/>
          </a:p>
        </p:txBody>
      </p:sp>
      <p:sp>
        <p:nvSpPr>
          <p:cNvPr id="4" name="文字方塊 3">
            <a:extLst>
              <a:ext uri="{FF2B5EF4-FFF2-40B4-BE49-F238E27FC236}">
                <a16:creationId xmlns:a16="http://schemas.microsoft.com/office/drawing/2014/main" id="{F0E93378-5AD2-5B77-8C7B-9EB64032B88F}"/>
              </a:ext>
            </a:extLst>
          </p:cNvPr>
          <p:cNvSpPr txBox="1"/>
          <p:nvPr userDrawn="1"/>
        </p:nvSpPr>
        <p:spPr>
          <a:xfrm>
            <a:off x="8580120" y="4701540"/>
            <a:ext cx="533400" cy="276999"/>
          </a:xfrm>
          <a:prstGeom prst="rect">
            <a:avLst/>
          </a:prstGeom>
          <a:noFill/>
        </p:spPr>
        <p:txBody>
          <a:bodyPr wrap="square" rtlCol="0">
            <a:spAutoFit/>
          </a:bodyPr>
          <a:lstStyle/>
          <a:p>
            <a:fld id="{1CC9BC7A-D7FB-4A42-9A07-D42E3BACD70C}" type="slidenum">
              <a:rPr lang="en-US" altLang="zh-TW" sz="1200" smtClean="0">
                <a:solidFill>
                  <a:schemeClr val="bg1">
                    <a:lumMod val="50000"/>
                  </a:schemeClr>
                </a:solidFill>
                <a:latin typeface="Times New Roman" panose="02020603050405020304" pitchFamily="18" charset="0"/>
                <a:cs typeface="Times New Roman" panose="02020603050405020304" pitchFamily="18" charset="0"/>
              </a:rPr>
              <a:t>‹#›</a:t>
            </a:fld>
            <a:endParaRPr lang="zh-TW" altLang="en-US" dirty="0">
              <a:solidFill>
                <a:schemeClr val="bg1">
                  <a:lumMod val="50000"/>
                </a:schemeClr>
              </a:solidFill>
              <a:latin typeface="Times New Roman" panose="02020603050405020304" pitchFamily="18" charset="0"/>
              <a:cs typeface="Times New Roman" panose="02020603050405020304" pitchFamily="18" charset="0"/>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 id="2147483657" r:id="rId3"/>
    <p:sldLayoutId id="2147483662" r:id="rId4"/>
    <p:sldLayoutId id="2147483669" r:id="rId5"/>
    <p:sldLayoutId id="2147483671" r:id="rId6"/>
    <p:sldLayoutId id="2147483672"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6">
          <p15:clr>
            <a:srgbClr val="EA4335"/>
          </p15:clr>
        </p15:guide>
        <p15:guide id="2" orient="horz" pos="346">
          <p15:clr>
            <a:srgbClr val="EA4335"/>
          </p15:clr>
        </p15:guide>
        <p15:guide id="3" pos="5414">
          <p15:clr>
            <a:srgbClr val="EA4335"/>
          </p15:clr>
        </p15:guide>
        <p15:guide id="4" orient="horz" pos="2894">
          <p15:clr>
            <a:srgbClr val="EA4335"/>
          </p15:clr>
        </p15:guide>
        <p15:guide id="5" pos="864">
          <p15:clr>
            <a:srgbClr val="9900FF"/>
          </p15:clr>
        </p15:guide>
        <p15:guide id="6" pos="4896">
          <p15:clr>
            <a:srgbClr val="9900FF"/>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5.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6.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7.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1.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3.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5.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1.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3.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2.png"/><Relationship Id="rId7" Type="http://schemas.openxmlformats.org/officeDocument/2006/relationships/slide" Target="slide26.xm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2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3.png"/><Relationship Id="rId7" Type="http://schemas.openxmlformats.org/officeDocument/2006/relationships/slide" Target="slide26.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2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4.png"/><Relationship Id="rId7" Type="http://schemas.openxmlformats.org/officeDocument/2006/relationships/slide" Target="slide26.xm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26.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29.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5.png"/><Relationship Id="rId7" Type="http://schemas.openxmlformats.org/officeDocument/2006/relationships/slide" Target="slide26.xml"/><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31.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3.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6.png"/><Relationship Id="rId7" Type="http://schemas.openxmlformats.org/officeDocument/2006/relationships/slide" Target="slide26.xml"/><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36.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7.png"/><Relationship Id="rId7" Type="http://schemas.openxmlformats.org/officeDocument/2006/relationships/slide" Target="slide26.xml"/><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3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39.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image" Target="../media/image8.png"/><Relationship Id="rId7" Type="http://schemas.openxmlformats.org/officeDocument/2006/relationships/slide" Target="slide26.xml"/><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slide" Target="slide1.xml"/><Relationship Id="rId4" Type="http://schemas.openxmlformats.org/officeDocument/2006/relationships/slide" Target="slide25.xml"/><Relationship Id="rId9" Type="http://schemas.openxmlformats.org/officeDocument/2006/relationships/slide" Target="slide13.xml"/></Relationships>
</file>

<file path=ppt/slides/_rels/slide40.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25.xml"/><Relationship Id="rId7" Type="http://schemas.openxmlformats.org/officeDocument/2006/relationships/slide" Target="slide28.xm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slide" Target="slide26.xml"/><Relationship Id="rId5" Type="http://schemas.openxmlformats.org/officeDocument/2006/relationships/slide" Target="slide2.xml"/><Relationship Id="rId4" Type="http://schemas.openxmlformats.org/officeDocument/2006/relationships/slide" Target="slide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0"/>
          <p:cNvSpPr/>
          <p:nvPr/>
        </p:nvSpPr>
        <p:spPr>
          <a:xfrm>
            <a:off x="55081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p:cNvSpPr txBox="1">
            <a:spLocks noGrp="1"/>
          </p:cNvSpPr>
          <p:nvPr>
            <p:ph type="ctrTitle"/>
          </p:nvPr>
        </p:nvSpPr>
        <p:spPr>
          <a:xfrm>
            <a:off x="1283698" y="1612412"/>
            <a:ext cx="6845778" cy="1391719"/>
          </a:xfrm>
          <a:prstGeom prst="rect">
            <a:avLst/>
          </a:prstGeom>
        </p:spPr>
        <p:txBody>
          <a:bodyPr spcFirstLastPara="1" wrap="square" lIns="91425" tIns="91425" rIns="91425" bIns="91425" anchor="ctr" anchorCtr="0">
            <a:noAutofit/>
          </a:bodyPr>
          <a:lstStyle/>
          <a:p>
            <a:pPr marL="0" lvl="0" indent="0" algn="ctr" rtl="0">
              <a:lnSpc>
                <a:spcPct val="120000"/>
              </a:lnSpc>
              <a:spcBef>
                <a:spcPts val="0"/>
              </a:spcBef>
              <a:spcAft>
                <a:spcPts val="600"/>
              </a:spcAft>
              <a:buNone/>
            </a:pPr>
            <a:r>
              <a:rPr lang="zh-TW" altLang="en-US" sz="3200" dirty="0">
                <a:latin typeface="標楷體" panose="03000509000000000000" pitchFamily="65" charset="-120"/>
                <a:ea typeface="標楷體" panose="03000509000000000000" pitchFamily="65" charset="-120"/>
              </a:rPr>
              <a:t>任務排程系統新模組開發</a:t>
            </a:r>
            <a:endParaRPr sz="3200" dirty="0">
              <a:latin typeface="標楷體" panose="03000509000000000000" pitchFamily="65" charset="-120"/>
              <a:ea typeface="標楷體" panose="03000509000000000000" pitchFamily="65" charset="-120"/>
            </a:endParaRPr>
          </a:p>
        </p:txBody>
      </p:sp>
      <p:sp>
        <p:nvSpPr>
          <p:cNvPr id="233" name="Google Shape;233;p30"/>
          <p:cNvSpPr txBox="1">
            <a:spLocks noGrp="1"/>
          </p:cNvSpPr>
          <p:nvPr>
            <p:ph type="subTitle" idx="1"/>
          </p:nvPr>
        </p:nvSpPr>
        <p:spPr>
          <a:xfrm>
            <a:off x="2670689" y="3988298"/>
            <a:ext cx="4071796" cy="600164"/>
          </a:xfrm>
          <a:prstGeom prst="rect">
            <a:avLst/>
          </a:prstGeom>
        </p:spPr>
        <p:txBody>
          <a:bodyPr spcFirstLastPara="1" wrap="square" lIns="91425" tIns="91425" rIns="91425" bIns="91425" anchor="ctr" anchorCtr="0">
            <a:noAutofit/>
          </a:bodyPr>
          <a:lstStyle/>
          <a:p>
            <a:pPr algn="ctr">
              <a:spcAft>
                <a:spcPts val="300"/>
              </a:spcAft>
            </a:pPr>
            <a:r>
              <a:rPr lang="zh-TW" altLang="en-US" b="1" dirty="0">
                <a:latin typeface="標楷體" panose="03000509000000000000" pitchFamily="65" charset="-120"/>
                <a:ea typeface="標楷體" panose="03000509000000000000" pitchFamily="65" charset="-120"/>
              </a:rPr>
              <a:t>國家太空中心</a:t>
            </a:r>
            <a:endParaRPr lang="en-US" altLang="zh-TW" b="1" dirty="0">
              <a:latin typeface="標楷體" panose="03000509000000000000" pitchFamily="65" charset="-120"/>
              <a:ea typeface="標楷體" panose="03000509000000000000" pitchFamily="65" charset="-120"/>
            </a:endParaRPr>
          </a:p>
          <a:p>
            <a:pPr algn="ctr">
              <a:spcAft>
                <a:spcPts val="300"/>
              </a:spcAft>
            </a:pPr>
            <a:r>
              <a:rPr lang="zh-TW" altLang="en-US" b="1" dirty="0">
                <a:latin typeface="標楷體" panose="03000509000000000000" pitchFamily="65" charset="-120"/>
                <a:ea typeface="標楷體" panose="03000509000000000000" pitchFamily="65" charset="-120"/>
              </a:rPr>
              <a:t>國立清華大學工業工程與工程管理學系</a:t>
            </a:r>
            <a:endParaRPr lang="en-US" altLang="zh-TW" b="1" dirty="0">
              <a:latin typeface="標楷體" panose="03000509000000000000" pitchFamily="65" charset="-120"/>
              <a:ea typeface="標楷體" panose="03000509000000000000" pitchFamily="65" charset="-120"/>
            </a:endParaRPr>
          </a:p>
        </p:txBody>
      </p:sp>
      <p:sp>
        <p:nvSpPr>
          <p:cNvPr id="234" name="Google Shape;234;p30">
            <a:hlinkClick r:id="" action="ppaction://hlinkshowjump?jump=firstslide"/>
          </p:cNvPr>
          <p:cNvSpPr txBox="1">
            <a:spLocks noGrp="1"/>
          </p:cNvSpPr>
          <p:nvPr>
            <p:ph type="subTitle" idx="4294967295"/>
          </p:nvPr>
        </p:nvSpPr>
        <p:spPr>
          <a:xfrm>
            <a:off x="413826" y="228908"/>
            <a:ext cx="1196302" cy="19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1200" b="1" dirty="0">
                <a:latin typeface="Times New Roman" panose="02020603050405020304" pitchFamily="18" charset="0"/>
                <a:ea typeface="標楷體" panose="03000509000000000000" pitchFamily="65" charset="-120"/>
                <a:cs typeface="Times New Roman" panose="02020603050405020304" pitchFamily="18" charset="0"/>
              </a:rPr>
              <a:t>TASA</a:t>
            </a:r>
            <a:endParaRPr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1FBB212-6AB2-7B95-208B-B4E1E2C3247E}"/>
              </a:ext>
            </a:extLst>
          </p:cNvPr>
          <p:cNvSpPr txBox="1"/>
          <p:nvPr/>
        </p:nvSpPr>
        <p:spPr>
          <a:xfrm>
            <a:off x="2050953" y="2960620"/>
            <a:ext cx="5311268" cy="600164"/>
          </a:xfrm>
          <a:prstGeom prst="rect">
            <a:avLst/>
          </a:prstGeom>
          <a:noFill/>
        </p:spPr>
        <p:txBody>
          <a:bodyPr wrap="square" rtlCol="0">
            <a:spAutoFit/>
          </a:bodyPr>
          <a:lstStyle/>
          <a:p>
            <a:pPr algn="ctr">
              <a:spcAft>
                <a:spcPts val="600"/>
              </a:spcAft>
            </a:pP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產學合作研究計畫</a:t>
            </a:r>
            <a:endParaRPr lang="en-US" altLang="zh-TW" b="1" dirty="0">
              <a:latin typeface="Times New Roman" panose="02020603050405020304" pitchFamily="18" charset="0"/>
              <a:ea typeface="標楷體" panose="03000509000000000000" pitchFamily="65" charset="-120"/>
              <a:cs typeface="Times New Roman" panose="02020603050405020304" pitchFamily="18" charset="0"/>
            </a:endParaRPr>
          </a:p>
          <a:p>
            <a:pPr algn="ctr">
              <a:spcAft>
                <a:spcPts val="600"/>
              </a:spcAft>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2024 / 09 / 25</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Google Shape;234;p30">
            <a:hlinkClick r:id="" action="ppaction://hlinkshowjump?jump=firstslide"/>
            <a:extLst>
              <a:ext uri="{FF2B5EF4-FFF2-40B4-BE49-F238E27FC236}">
                <a16:creationId xmlns:a16="http://schemas.microsoft.com/office/drawing/2014/main" id="{2F2D17F6-1515-34DE-7169-079E5181ABF6}"/>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矩形 3">
            <a:hlinkClick r:id="rId3" action="ppaction://hlinksldjump"/>
            <a:extLst>
              <a:ext uri="{FF2B5EF4-FFF2-40B4-BE49-F238E27FC236}">
                <a16:creationId xmlns:a16="http://schemas.microsoft.com/office/drawing/2014/main" id="{44E49FBF-BC78-4B76-99D2-A5EB2EA7B0F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hlinkClick r:id="rId4" action="ppaction://hlinksldjump"/>
            <a:extLst>
              <a:ext uri="{FF2B5EF4-FFF2-40B4-BE49-F238E27FC236}">
                <a16:creationId xmlns:a16="http://schemas.microsoft.com/office/drawing/2014/main" id="{327FA1D5-6B7A-51C9-33D5-2C017298CF51}"/>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Google Shape;234;p30">
            <a:hlinkClick r:id="" action="ppaction://hlinkshowjump?jump=firstslide"/>
            <a:extLst>
              <a:ext uri="{FF2B5EF4-FFF2-40B4-BE49-F238E27FC236}">
                <a16:creationId xmlns:a16="http://schemas.microsoft.com/office/drawing/2014/main" id="{950AAB1A-6DA7-C995-BA5A-9D6730CCDB7B}"/>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矩形 9">
            <a:hlinkClick r:id="rId5" action="ppaction://hlinksldjump"/>
            <a:extLst>
              <a:ext uri="{FF2B5EF4-FFF2-40B4-BE49-F238E27FC236}">
                <a16:creationId xmlns:a16="http://schemas.microsoft.com/office/drawing/2014/main" id="{6FE365A4-0847-8E3D-3ABA-21E6DC29E6D5}"/>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Google Shape;234;p30">
            <a:hlinkClick r:id="" action="ppaction://hlinkshowjump?jump=firstslide"/>
            <a:extLst>
              <a:ext uri="{FF2B5EF4-FFF2-40B4-BE49-F238E27FC236}">
                <a16:creationId xmlns:a16="http://schemas.microsoft.com/office/drawing/2014/main" id="{0F4C3C7B-ED08-BC95-F54F-86712796FE6C}"/>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矩形 13">
            <a:hlinkClick r:id="rId6" action="ppaction://hlinksldjump"/>
            <a:extLst>
              <a:ext uri="{FF2B5EF4-FFF2-40B4-BE49-F238E27FC236}">
                <a16:creationId xmlns:a16="http://schemas.microsoft.com/office/drawing/2014/main" id="{B18E305A-4990-7204-A525-4B447ED844D8}"/>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Google Shape;234;p30">
            <a:hlinkClick r:id="" action="ppaction://hlinkshowjump?jump=firstslide"/>
            <a:extLst>
              <a:ext uri="{FF2B5EF4-FFF2-40B4-BE49-F238E27FC236}">
                <a16:creationId xmlns:a16="http://schemas.microsoft.com/office/drawing/2014/main" id="{8303E41A-9F84-2533-5550-3CC64A0EBBC5}"/>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矩形 15">
            <a:hlinkClick r:id="rId7" action="ppaction://hlinksldjump"/>
            <a:extLst>
              <a:ext uri="{FF2B5EF4-FFF2-40B4-BE49-F238E27FC236}">
                <a16:creationId xmlns:a16="http://schemas.microsoft.com/office/drawing/2014/main" id="{18CDCACF-3B77-F112-0571-9FA2EF22394E}"/>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Google Shape;234;p30">
            <a:hlinkClick r:id="" action="ppaction://hlinkshowjump?jump=firstslide"/>
            <a:extLst>
              <a:ext uri="{FF2B5EF4-FFF2-40B4-BE49-F238E27FC236}">
                <a16:creationId xmlns:a16="http://schemas.microsoft.com/office/drawing/2014/main" id="{B9222913-FF9D-6C85-2EA7-DACB65A532FF}"/>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hlinkClick r:id="rId8" action="ppaction://hlinksldjump"/>
            <a:extLst>
              <a:ext uri="{FF2B5EF4-FFF2-40B4-BE49-F238E27FC236}">
                <a16:creationId xmlns:a16="http://schemas.microsoft.com/office/drawing/2014/main" id="{69E40FEE-859B-96DB-43A6-D44AFB51469E}"/>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539454"/>
            <a:ext cx="288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46065" y="18339"/>
            <a:ext cx="2465584" cy="52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系統執行流程</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EC64CBE6-A3D5-4E3D-1ACA-D7D49C83E75D}"/>
              </a:ext>
            </a:extLst>
          </p:cNvPr>
          <p:cNvSpPr txBox="1"/>
          <p:nvPr/>
        </p:nvSpPr>
        <p:spPr>
          <a:xfrm>
            <a:off x="83407" y="663547"/>
            <a:ext cx="4488593" cy="4163256"/>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altLang="zh-TW" b="1" dirty="0">
                <a:latin typeface="Times New Roman" panose="02020603050405020304" pitchFamily="18" charset="0"/>
                <a:ea typeface="標楷體" panose="03000509000000000000" pitchFamily="65" charset="-120"/>
              </a:rPr>
              <a:t>Cold Scheduling</a:t>
            </a: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根據</a:t>
            </a:r>
            <a:r>
              <a:rPr lang="en-US" altLang="zh-TW" dirty="0">
                <a:latin typeface="Times New Roman" panose="02020603050405020304" pitchFamily="18" charset="0"/>
                <a:ea typeface="標楷體" panose="03000509000000000000" pitchFamily="65" charset="-120"/>
              </a:rPr>
              <a:t>S-band contact</a:t>
            </a:r>
            <a:r>
              <a:rPr lang="zh-TW" altLang="en-US" dirty="0">
                <a:latin typeface="Times New Roman" panose="02020603050405020304" pitchFamily="18" charset="0"/>
                <a:ea typeface="標楷體" panose="03000509000000000000" pitchFamily="65" charset="-120"/>
              </a:rPr>
              <a:t>資訊創建</a:t>
            </a:r>
            <a:r>
              <a:rPr lang="en-US" altLang="zh-TW" dirty="0">
                <a:latin typeface="Times New Roman" panose="02020603050405020304" pitchFamily="18" charset="0"/>
                <a:ea typeface="標楷體" panose="03000509000000000000" pitchFamily="65" charset="-120"/>
              </a:rPr>
              <a:t>monitoring</a:t>
            </a:r>
            <a:r>
              <a:rPr lang="zh-TW" altLang="en-US" dirty="0">
                <a:latin typeface="Times New Roman" panose="02020603050405020304" pitchFamily="18" charset="0"/>
                <a:ea typeface="標楷體" panose="03000509000000000000" pitchFamily="65" charset="-120"/>
              </a:rPr>
              <a:t>活動，並搭配</a:t>
            </a:r>
            <a:r>
              <a:rPr lang="en-US" altLang="zh-TW" dirty="0">
                <a:latin typeface="Times New Roman" panose="02020603050405020304" pitchFamily="18" charset="0"/>
                <a:ea typeface="標楷體" panose="03000509000000000000" pitchFamily="65" charset="-120"/>
              </a:rPr>
              <a:t>Activity Table</a:t>
            </a:r>
            <a:r>
              <a:rPr lang="zh-TW" altLang="en-US" dirty="0">
                <a:latin typeface="Times New Roman" panose="02020603050405020304" pitchFamily="18" charset="0"/>
                <a:ea typeface="標楷體" panose="03000509000000000000" pitchFamily="65" charset="-120"/>
              </a:rPr>
              <a:t>已建立的活動進行排程。</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en-US" altLang="zh-TW" b="1" dirty="0">
                <a:latin typeface="Times New Roman" panose="02020603050405020304" pitchFamily="18" charset="0"/>
                <a:ea typeface="標楷體" panose="03000509000000000000" pitchFamily="65" charset="-120"/>
              </a:rPr>
              <a:t>Hot Scheduling</a:t>
            </a: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根據</a:t>
            </a:r>
            <a:r>
              <a:rPr lang="en-US" altLang="zh-TW" dirty="0">
                <a:latin typeface="Times New Roman" panose="02020603050405020304" pitchFamily="18" charset="0"/>
                <a:ea typeface="標楷體" panose="03000509000000000000" pitchFamily="65" charset="-120"/>
              </a:rPr>
              <a:t>X-band contact</a:t>
            </a:r>
            <a:r>
              <a:rPr lang="zh-TW" altLang="en-US" dirty="0">
                <a:latin typeface="Times New Roman" panose="02020603050405020304" pitchFamily="18" charset="0"/>
                <a:ea typeface="標楷體" panose="03000509000000000000" pitchFamily="65" charset="-120"/>
              </a:rPr>
              <a:t>資訊創建</a:t>
            </a:r>
            <a:r>
              <a:rPr lang="en-US" altLang="zh-TW" dirty="0">
                <a:latin typeface="Times New Roman" panose="02020603050405020304" pitchFamily="18" charset="0"/>
                <a:ea typeface="標楷體" panose="03000509000000000000" pitchFamily="65" charset="-120"/>
              </a:rPr>
              <a:t>GAT</a:t>
            </a:r>
            <a:r>
              <a:rPr lang="zh-TW" altLang="en-US" dirty="0">
                <a:latin typeface="Times New Roman" panose="02020603050405020304" pitchFamily="18" charset="0"/>
                <a:ea typeface="標楷體" panose="03000509000000000000" pitchFamily="65" charset="-120"/>
              </a:rPr>
              <a:t>和</a:t>
            </a:r>
            <a:r>
              <a:rPr lang="en-US" altLang="zh-TW" dirty="0">
                <a:latin typeface="Times New Roman" panose="02020603050405020304" pitchFamily="18" charset="0"/>
                <a:ea typeface="標楷體" panose="03000509000000000000" pitchFamily="65" charset="-120"/>
              </a:rPr>
              <a:t>GOHOME Maneuver</a:t>
            </a:r>
            <a:r>
              <a:rPr lang="zh-TW" altLang="en-US" dirty="0">
                <a:latin typeface="Times New Roman" panose="02020603050405020304" pitchFamily="18" charset="0"/>
                <a:ea typeface="標楷體" panose="03000509000000000000" pitchFamily="65" charset="-120"/>
              </a:rPr>
              <a:t>活動，同樣搭配</a:t>
            </a:r>
            <a:r>
              <a:rPr lang="en-US" altLang="zh-TW" dirty="0">
                <a:latin typeface="Times New Roman" panose="02020603050405020304" pitchFamily="18" charset="0"/>
                <a:ea typeface="標楷體" panose="03000509000000000000" pitchFamily="65" charset="-120"/>
              </a:rPr>
              <a:t>Activity Table</a:t>
            </a:r>
            <a:r>
              <a:rPr lang="zh-TW" altLang="en-US" dirty="0">
                <a:latin typeface="Times New Roman" panose="02020603050405020304" pitchFamily="18" charset="0"/>
                <a:ea typeface="標楷體" panose="03000509000000000000" pitchFamily="65" charset="-120"/>
              </a:rPr>
              <a:t>已建立的活動進行排程。</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額外排程功能</a:t>
            </a:r>
            <a:endParaRPr lang="en-US" altLang="zh-TW" b="1" dirty="0">
              <a:latin typeface="Times New Roman" panose="02020603050405020304" pitchFamily="18" charset="0"/>
              <a:ea typeface="標楷體" panose="03000509000000000000" pitchFamily="65" charset="-120"/>
            </a:endParaRPr>
          </a:p>
          <a:p>
            <a:pPr marL="432000" indent="-285750">
              <a:lnSpc>
                <a:spcPct val="120000"/>
              </a:lnSpc>
              <a:spcAft>
                <a:spcPts val="300"/>
              </a:spcAft>
              <a:buFont typeface="Times New Roman" panose="02020603050405020304" pitchFamily="18" charset="0"/>
              <a:buChar char="-"/>
            </a:pPr>
            <a:r>
              <a:rPr lang="en-US" altLang="zh-TW" dirty="0" err="1">
                <a:latin typeface="Times New Roman" panose="02020603050405020304" pitchFamily="18" charset="0"/>
                <a:ea typeface="標楷體" panose="03000509000000000000" pitchFamily="65" charset="-120"/>
              </a:rPr>
              <a:t>runUIReHot</a:t>
            </a:r>
            <a:endParaRPr lang="en-US" altLang="zh-TW" dirty="0">
              <a:latin typeface="Times New Roman" panose="02020603050405020304" pitchFamily="18" charset="0"/>
              <a:ea typeface="標楷體" panose="03000509000000000000" pitchFamily="65" charset="-120"/>
            </a:endParaRPr>
          </a:p>
          <a:p>
            <a:pPr marL="432000" indent="-285750">
              <a:lnSpc>
                <a:spcPct val="120000"/>
              </a:lnSpc>
              <a:spcAft>
                <a:spcPts val="300"/>
              </a:spcAft>
              <a:buFont typeface="Times New Roman" panose="02020603050405020304" pitchFamily="18" charset="0"/>
              <a:buChar char="-"/>
            </a:pPr>
            <a:r>
              <a:rPr lang="en-US" altLang="zh-TW" dirty="0" err="1">
                <a:latin typeface="Times New Roman" panose="02020603050405020304" pitchFamily="18" charset="0"/>
                <a:ea typeface="標楷體" panose="03000509000000000000" pitchFamily="65" charset="-120"/>
              </a:rPr>
              <a:t>AddResourceChange</a:t>
            </a:r>
            <a:endParaRPr lang="en-US" altLang="zh-TW" dirty="0">
              <a:latin typeface="Times New Roman" panose="02020603050405020304" pitchFamily="18" charset="0"/>
              <a:ea typeface="標楷體" panose="03000509000000000000" pitchFamily="65" charset="-120"/>
            </a:endParaRPr>
          </a:p>
          <a:p>
            <a:pPr marL="432000" indent="-285750">
              <a:lnSpc>
                <a:spcPct val="120000"/>
              </a:lnSpc>
              <a:spcAft>
                <a:spcPts val="300"/>
              </a:spcAft>
              <a:buFont typeface="Times New Roman" panose="02020603050405020304" pitchFamily="18" charset="0"/>
              <a:buChar char="-"/>
            </a:pPr>
            <a:r>
              <a:rPr lang="en-US" altLang="zh-TW" dirty="0" err="1">
                <a:latin typeface="Times New Roman" panose="02020603050405020304" pitchFamily="18" charset="0"/>
                <a:ea typeface="標楷體" panose="03000509000000000000" pitchFamily="65" charset="-120"/>
              </a:rPr>
              <a:t>AdjustActivity</a:t>
            </a:r>
            <a:endParaRPr lang="en-US" altLang="zh-TW" dirty="0">
              <a:latin typeface="Times New Roman" panose="02020603050405020304" pitchFamily="18" charset="0"/>
              <a:ea typeface="標楷體" panose="03000509000000000000" pitchFamily="65" charset="-120"/>
            </a:endParaRPr>
          </a:p>
          <a:p>
            <a:pPr marL="432000" indent="-285750">
              <a:lnSpc>
                <a:spcPct val="120000"/>
              </a:lnSpc>
              <a:spcAft>
                <a:spcPts val="300"/>
              </a:spcAft>
              <a:buFont typeface="Times New Roman" panose="02020603050405020304" pitchFamily="18" charset="0"/>
              <a:buChar char="-"/>
            </a:pPr>
            <a:r>
              <a:rPr lang="en-US" altLang="zh-TW" dirty="0">
                <a:latin typeface="Times New Roman" panose="02020603050405020304" pitchFamily="18" charset="0"/>
                <a:ea typeface="標楷體" panose="03000509000000000000" pitchFamily="65" charset="-120"/>
              </a:rPr>
              <a:t>runUIReFilterHot1</a:t>
            </a:r>
          </a:p>
          <a:p>
            <a:pPr marL="432000" indent="-285750">
              <a:lnSpc>
                <a:spcPct val="120000"/>
              </a:lnSpc>
              <a:spcAft>
                <a:spcPts val="300"/>
              </a:spcAft>
              <a:buFont typeface="Times New Roman" panose="02020603050405020304" pitchFamily="18" charset="0"/>
              <a:buChar char="-"/>
            </a:pPr>
            <a:r>
              <a:rPr lang="en-US" altLang="zh-TW" dirty="0">
                <a:latin typeface="Times New Roman" panose="02020603050405020304" pitchFamily="18" charset="0"/>
                <a:ea typeface="標楷體" panose="03000509000000000000" pitchFamily="65" charset="-120"/>
              </a:rPr>
              <a:t>runUIReFilterHot2</a:t>
            </a:r>
            <a:endParaRPr lang="zh-TW" altLang="en-US" dirty="0">
              <a:latin typeface="Times New Roman" panose="02020603050405020304" pitchFamily="18" charset="0"/>
              <a:ea typeface="標楷體" panose="03000509000000000000" pitchFamily="65" charset="-120"/>
            </a:endParaRPr>
          </a:p>
        </p:txBody>
      </p:sp>
      <p:pic>
        <p:nvPicPr>
          <p:cNvPr id="3" name="圖片 2">
            <a:extLst>
              <a:ext uri="{FF2B5EF4-FFF2-40B4-BE49-F238E27FC236}">
                <a16:creationId xmlns:a16="http://schemas.microsoft.com/office/drawing/2014/main" id="{B20EF334-E611-FF20-F346-0A7C87B43EC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4765" y="40461"/>
            <a:ext cx="4267855" cy="5084498"/>
          </a:xfrm>
          <a:prstGeom prst="rect">
            <a:avLst/>
          </a:prstGeom>
          <a:noFill/>
        </p:spPr>
      </p:pic>
    </p:spTree>
    <p:extLst>
      <p:ext uri="{BB962C8B-B14F-4D97-AF65-F5344CB8AC3E}">
        <p14:creationId xmlns:p14="http://schemas.microsoft.com/office/powerpoint/2010/main" val="15769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99E4533-2058-1408-DEC2-AB39393B54EC}"/>
              </a:ext>
            </a:extLst>
          </p:cNvPr>
          <p:cNvGraphicFramePr>
            <a:graphicFrameLocks noGrp="1"/>
          </p:cNvGraphicFramePr>
          <p:nvPr>
            <p:extLst>
              <p:ext uri="{D42A27DB-BD31-4B8C-83A1-F6EECF244321}">
                <p14:modId xmlns:p14="http://schemas.microsoft.com/office/powerpoint/2010/main" val="949730503"/>
              </p:ext>
            </p:extLst>
          </p:nvPr>
        </p:nvGraphicFramePr>
        <p:xfrm>
          <a:off x="290322" y="1373159"/>
          <a:ext cx="8563355" cy="3466340"/>
        </p:xfrm>
        <a:graphic>
          <a:graphicData uri="http://schemas.openxmlformats.org/drawingml/2006/table">
            <a:tbl>
              <a:tblPr firstRow="1" bandRow="1">
                <a:tableStyleId>{8B193ECF-1327-48E1-8871-2513AA109082}</a:tableStyleId>
              </a:tblPr>
              <a:tblGrid>
                <a:gridCol w="685126">
                  <a:extLst>
                    <a:ext uri="{9D8B030D-6E8A-4147-A177-3AD203B41FA5}">
                      <a16:colId xmlns:a16="http://schemas.microsoft.com/office/drawing/2014/main" val="1651717783"/>
                    </a:ext>
                  </a:extLst>
                </a:gridCol>
                <a:gridCol w="3473048">
                  <a:extLst>
                    <a:ext uri="{9D8B030D-6E8A-4147-A177-3AD203B41FA5}">
                      <a16:colId xmlns:a16="http://schemas.microsoft.com/office/drawing/2014/main" val="1006212768"/>
                    </a:ext>
                  </a:extLst>
                </a:gridCol>
                <a:gridCol w="4405181">
                  <a:extLst>
                    <a:ext uri="{9D8B030D-6E8A-4147-A177-3AD203B41FA5}">
                      <a16:colId xmlns:a16="http://schemas.microsoft.com/office/drawing/2014/main" val="126351647"/>
                    </a:ext>
                  </a:extLst>
                </a:gridCol>
              </a:tblGrid>
              <a:tr h="370840">
                <a:tc>
                  <a:txBody>
                    <a:bodyPr/>
                    <a:lstStyle/>
                    <a:p>
                      <a:pPr algn="ctr">
                        <a:lnSpc>
                          <a:spcPct val="10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Type</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lumMod val="85000"/>
                      </a:schemeClr>
                    </a:solidFill>
                  </a:tcPr>
                </a:tc>
                <a:tc>
                  <a:txBody>
                    <a:bodyPr/>
                    <a:lstStyle/>
                    <a:p>
                      <a:pPr algn="ctr">
                        <a:lnSpc>
                          <a:spcPct val="100000"/>
                        </a:lnSpc>
                      </a:pP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類型解釋</a:t>
                      </a:r>
                    </a:p>
                  </a:txBody>
                  <a:tcPr anchor="ctr">
                    <a:solidFill>
                      <a:schemeClr val="bg1">
                        <a:lumMod val="85000"/>
                      </a:schemeClr>
                    </a:solidFill>
                  </a:tcPr>
                </a:tc>
                <a:tc>
                  <a:txBody>
                    <a:bodyPr/>
                    <a:lstStyle/>
                    <a:p>
                      <a:pPr algn="ctr">
                        <a:lnSpc>
                          <a:spcPct val="100000"/>
                        </a:lnSpc>
                      </a:pP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是否創建新的</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GAT</a:t>
                      </a: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solidFill>
                      <a:schemeClr val="bg1">
                        <a:lumMod val="85000"/>
                      </a:schemeClr>
                    </a:solidFill>
                  </a:tcPr>
                </a:tc>
                <a:extLst>
                  <a:ext uri="{0D108BD9-81ED-4DB2-BD59-A6C34878D82A}">
                    <a16:rowId xmlns:a16="http://schemas.microsoft.com/office/drawing/2014/main" val="2398894113"/>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秒並無</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或</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是，且此新創建的</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GAT</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活動開始時間將會在</a:t>
                      </a:r>
                      <a:r>
                        <a:rPr lang="en-US" altLang="zh-TW" sz="1400" kern="100" dirty="0" err="1">
                          <a:effectLst/>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前</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180</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（此時間可於</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config</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中的</a:t>
                      </a:r>
                      <a:r>
                        <a:rPr lang="en-US" altLang="zh-TW" sz="1400" kern="100" dirty="0" err="1">
                          <a:effectLst/>
                          <a:latin typeface="Times New Roman" panose="02020603050405020304" pitchFamily="18" charset="0"/>
                          <a:ea typeface="標楷體" panose="03000509000000000000" pitchFamily="65" charset="-120"/>
                          <a:cs typeface="Times New Roman" panose="02020603050405020304" pitchFamily="18" charset="0"/>
                        </a:rPr>
                        <a:t>gat_duration</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做調整）秒。</a:t>
                      </a:r>
                    </a:p>
                  </a:txBody>
                  <a:tcPr anchor="ctr"/>
                </a:tc>
                <a:extLst>
                  <a:ext uri="{0D108BD9-81ED-4DB2-BD59-A6C34878D82A}">
                    <a16:rowId xmlns:a16="http://schemas.microsoft.com/office/drawing/2014/main" val="3865457028"/>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秒</a:t>
                      </a:r>
                      <a:r>
                        <a:rPr lang="zh-TW" altLang="en-US"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存在</a:t>
                      </a:r>
                      <a:r>
                        <a:rPr lang="en-US" altLang="zh-TW"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GAT</a:t>
                      </a:r>
                      <a:r>
                        <a:rPr lang="zh-TW" altLang="en-US"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活動</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否。</a:t>
                      </a:r>
                    </a:p>
                  </a:txBody>
                  <a:tcPr anchor="ctr"/>
                </a:tc>
                <a:extLst>
                  <a:ext uri="{0D108BD9-81ED-4DB2-BD59-A6C34878D82A}">
                    <a16:rowId xmlns:a16="http://schemas.microsoft.com/office/drawing/2014/main" val="3566064121"/>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3</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秒</a:t>
                      </a:r>
                      <a:r>
                        <a:rPr lang="zh-TW" altLang="en-US"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存在由</a:t>
                      </a:r>
                      <a:r>
                        <a:rPr lang="en-US" altLang="zh-TW"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mission timeline</a:t>
                      </a:r>
                      <a:r>
                        <a:rPr lang="zh-TW" altLang="en-US"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產生的</a:t>
                      </a:r>
                      <a:r>
                        <a:rPr lang="en-US" altLang="zh-TW"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活動</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是，且此新創建的</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GAT</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活動之開始時間將會在該</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GOHOME</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活動結束時間後</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1</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秒開始。</a:t>
                      </a:r>
                    </a:p>
                  </a:txBody>
                  <a:tcPr anchor="ctr"/>
                </a:tc>
                <a:extLst>
                  <a:ext uri="{0D108BD9-81ED-4DB2-BD59-A6C34878D82A}">
                    <a16:rowId xmlns:a16="http://schemas.microsoft.com/office/drawing/2014/main" val="3466414041"/>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4</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秒存在</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活動以及</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mission timeline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產生的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否。</a:t>
                      </a:r>
                    </a:p>
                    <a:p>
                      <a:pPr>
                        <a:lnSpc>
                          <a:spcPct val="150000"/>
                        </a:lnSpc>
                      </a:pP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416149349"/>
                  </a:ext>
                </a:extLst>
              </a:tr>
            </a:tbl>
          </a:graphicData>
        </a:graphic>
      </p:graphicFrame>
      <p:sp>
        <p:nvSpPr>
          <p:cNvPr id="10" name="Google Shape;3042;p38">
            <a:extLst>
              <a:ext uri="{FF2B5EF4-FFF2-40B4-BE49-F238E27FC236}">
                <a16:creationId xmlns:a16="http://schemas.microsoft.com/office/drawing/2014/main" id="{C6DA40B4-6D45-7250-7797-CC52B65E6589}"/>
              </a:ext>
            </a:extLst>
          </p:cNvPr>
          <p:cNvSpPr/>
          <p:nvPr/>
        </p:nvSpPr>
        <p:spPr>
          <a:xfrm>
            <a:off x="0" y="1097802"/>
            <a:ext cx="26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5" y="576686"/>
            <a:ext cx="2850386"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GAT</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創建規則</a:t>
            </a:r>
          </a:p>
        </p:txBody>
      </p:sp>
      <p:sp>
        <p:nvSpPr>
          <p:cNvPr id="40" name="Google Shape;230;p30">
            <a:extLst>
              <a:ext uri="{FF2B5EF4-FFF2-40B4-BE49-F238E27FC236}">
                <a16:creationId xmlns:a16="http://schemas.microsoft.com/office/drawing/2014/main" id="{95B6215C-DEB3-ACC3-5452-A3C75ED6312C}"/>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4;p30">
            <a:hlinkClick r:id="" action="ppaction://hlinkshowjump?jump=firstslide"/>
            <a:extLst>
              <a:ext uri="{FF2B5EF4-FFF2-40B4-BE49-F238E27FC236}">
                <a16:creationId xmlns:a16="http://schemas.microsoft.com/office/drawing/2014/main" id="{55CEF812-554C-AD83-191B-DF8D49A6534C}"/>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Google Shape;234;p30">
            <a:hlinkClick r:id="" action="ppaction://hlinkshowjump?jump=firstslide"/>
            <a:extLst>
              <a:ext uri="{FF2B5EF4-FFF2-40B4-BE49-F238E27FC236}">
                <a16:creationId xmlns:a16="http://schemas.microsoft.com/office/drawing/2014/main" id="{B016E988-BF88-24B1-D9D3-49C6CEA6A255}"/>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3" name="矩形 42">
            <a:hlinkClick r:id="rId3" action="ppaction://hlinksldjump"/>
            <a:extLst>
              <a:ext uri="{FF2B5EF4-FFF2-40B4-BE49-F238E27FC236}">
                <a16:creationId xmlns:a16="http://schemas.microsoft.com/office/drawing/2014/main" id="{3FCE08FF-24AB-A092-83A3-3929E36C2AED}"/>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4" name="矩形 43">
            <a:hlinkClick r:id="rId4" action="ppaction://hlinksldjump"/>
            <a:extLst>
              <a:ext uri="{FF2B5EF4-FFF2-40B4-BE49-F238E27FC236}">
                <a16:creationId xmlns:a16="http://schemas.microsoft.com/office/drawing/2014/main" id="{A3A42C2E-C194-B719-E90C-1EC3F52ED724}"/>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Google Shape;234;p30">
            <a:hlinkClick r:id="" action="ppaction://hlinkshowjump?jump=firstslide"/>
            <a:extLst>
              <a:ext uri="{FF2B5EF4-FFF2-40B4-BE49-F238E27FC236}">
                <a16:creationId xmlns:a16="http://schemas.microsoft.com/office/drawing/2014/main" id="{9FA1FEE8-8FC9-B7B1-22DD-5FC445DF912C}"/>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6" name="矩形 45">
            <a:hlinkClick r:id="rId5" action="ppaction://hlinksldjump"/>
            <a:extLst>
              <a:ext uri="{FF2B5EF4-FFF2-40B4-BE49-F238E27FC236}">
                <a16:creationId xmlns:a16="http://schemas.microsoft.com/office/drawing/2014/main" id="{9901B491-E090-CFDE-1480-9D909E74D1D3}"/>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Google Shape;234;p30">
            <a:hlinkClick r:id="" action="ppaction://hlinkshowjump?jump=firstslide"/>
            <a:extLst>
              <a:ext uri="{FF2B5EF4-FFF2-40B4-BE49-F238E27FC236}">
                <a16:creationId xmlns:a16="http://schemas.microsoft.com/office/drawing/2014/main" id="{B69E249E-96AC-0AE2-88EA-3BD0F2CC6077}"/>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8" name="矩形 47">
            <a:hlinkClick r:id="rId6" action="ppaction://hlinksldjump"/>
            <a:extLst>
              <a:ext uri="{FF2B5EF4-FFF2-40B4-BE49-F238E27FC236}">
                <a16:creationId xmlns:a16="http://schemas.microsoft.com/office/drawing/2014/main" id="{03939132-9F5A-6CE7-5463-7C9FA8263632}"/>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Google Shape;234;p30">
            <a:hlinkClick r:id="" action="ppaction://hlinkshowjump?jump=firstslide"/>
            <a:extLst>
              <a:ext uri="{FF2B5EF4-FFF2-40B4-BE49-F238E27FC236}">
                <a16:creationId xmlns:a16="http://schemas.microsoft.com/office/drawing/2014/main" id="{7038B79C-9A7B-4841-A7BB-7689C465FF9C}"/>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0" name="矩形 49">
            <a:hlinkClick r:id="rId7" action="ppaction://hlinksldjump"/>
            <a:extLst>
              <a:ext uri="{FF2B5EF4-FFF2-40B4-BE49-F238E27FC236}">
                <a16:creationId xmlns:a16="http://schemas.microsoft.com/office/drawing/2014/main" id="{233B28C9-D3B2-0DF2-6A52-9C16FCBB8685}"/>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Google Shape;234;p30">
            <a:hlinkClick r:id="" action="ppaction://hlinkshowjump?jump=firstslide"/>
            <a:extLst>
              <a:ext uri="{FF2B5EF4-FFF2-40B4-BE49-F238E27FC236}">
                <a16:creationId xmlns:a16="http://schemas.microsoft.com/office/drawing/2014/main" id="{CAA80EB9-6C85-2FA5-E8D7-7D62B5D14048}"/>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2" name="矩形 51">
            <a:hlinkClick r:id="rId8" action="ppaction://hlinksldjump"/>
            <a:extLst>
              <a:ext uri="{FF2B5EF4-FFF2-40B4-BE49-F238E27FC236}">
                <a16:creationId xmlns:a16="http://schemas.microsoft.com/office/drawing/2014/main" id="{354F1EE3-24B9-CB0C-C746-DFAA9F7FF9AF}"/>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14008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99E4533-2058-1408-DEC2-AB39393B54EC}"/>
              </a:ext>
            </a:extLst>
          </p:cNvPr>
          <p:cNvGraphicFramePr>
            <a:graphicFrameLocks noGrp="1"/>
          </p:cNvGraphicFramePr>
          <p:nvPr>
            <p:extLst>
              <p:ext uri="{D42A27DB-BD31-4B8C-83A1-F6EECF244321}">
                <p14:modId xmlns:p14="http://schemas.microsoft.com/office/powerpoint/2010/main" val="3012289023"/>
              </p:ext>
            </p:extLst>
          </p:nvPr>
        </p:nvGraphicFramePr>
        <p:xfrm>
          <a:off x="290322" y="1381251"/>
          <a:ext cx="8563355" cy="3466340"/>
        </p:xfrm>
        <a:graphic>
          <a:graphicData uri="http://schemas.openxmlformats.org/drawingml/2006/table">
            <a:tbl>
              <a:tblPr firstRow="1" bandRow="1">
                <a:tableStyleId>{8B193ECF-1327-48E1-8871-2513AA109082}</a:tableStyleId>
              </a:tblPr>
              <a:tblGrid>
                <a:gridCol w="685126">
                  <a:extLst>
                    <a:ext uri="{9D8B030D-6E8A-4147-A177-3AD203B41FA5}">
                      <a16:colId xmlns:a16="http://schemas.microsoft.com/office/drawing/2014/main" val="1651717783"/>
                    </a:ext>
                  </a:extLst>
                </a:gridCol>
                <a:gridCol w="3936417">
                  <a:extLst>
                    <a:ext uri="{9D8B030D-6E8A-4147-A177-3AD203B41FA5}">
                      <a16:colId xmlns:a16="http://schemas.microsoft.com/office/drawing/2014/main" val="1006212768"/>
                    </a:ext>
                  </a:extLst>
                </a:gridCol>
                <a:gridCol w="3941812">
                  <a:extLst>
                    <a:ext uri="{9D8B030D-6E8A-4147-A177-3AD203B41FA5}">
                      <a16:colId xmlns:a16="http://schemas.microsoft.com/office/drawing/2014/main" val="126351647"/>
                    </a:ext>
                  </a:extLst>
                </a:gridCol>
              </a:tblGrid>
              <a:tr h="370840">
                <a:tc>
                  <a:txBody>
                    <a:bodyPr/>
                    <a:lstStyle/>
                    <a:p>
                      <a:pPr algn="ctr">
                        <a:lnSpc>
                          <a:spcPct val="10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Type</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solidFill>
                      <a:schemeClr val="bg1">
                        <a:lumMod val="85000"/>
                      </a:schemeClr>
                    </a:solidFill>
                  </a:tcPr>
                </a:tc>
                <a:tc>
                  <a:txBody>
                    <a:bodyPr/>
                    <a:lstStyle/>
                    <a:p>
                      <a:pPr algn="ctr">
                        <a:lnSpc>
                          <a:spcPct val="100000"/>
                        </a:lnSpc>
                      </a:pP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類型解釋</a:t>
                      </a:r>
                    </a:p>
                  </a:txBody>
                  <a:tcPr anchor="ctr">
                    <a:solidFill>
                      <a:schemeClr val="bg1">
                        <a:lumMod val="85000"/>
                      </a:schemeClr>
                    </a:solidFill>
                  </a:tcPr>
                </a:tc>
                <a:tc>
                  <a:txBody>
                    <a:bodyPr/>
                    <a:lstStyle/>
                    <a:p>
                      <a:pPr algn="ctr">
                        <a:lnSpc>
                          <a:spcPct val="100000"/>
                        </a:lnSpc>
                      </a:pP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是否創建新的</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solidFill>
                      <a:schemeClr val="bg1">
                        <a:lumMod val="85000"/>
                      </a:schemeClr>
                    </a:solidFill>
                  </a:tcPr>
                </a:tc>
                <a:extLst>
                  <a:ext uri="{0D108BD9-81ED-4DB2-BD59-A6C34878D82A}">
                    <a16:rowId xmlns:a16="http://schemas.microsoft.com/office/drawing/2014/main" val="2398894113"/>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5</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分鐘存在由系統創建的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否。</a:t>
                      </a:r>
                      <a:endPar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3865457028"/>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6</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a:t>
                      </a:r>
                      <a:r>
                        <a:rPr lang="zh-TW" altLang="en-US"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存在</a:t>
                      </a:r>
                      <a:r>
                        <a:rPr lang="en-US" altLang="zh-TW"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Attitude Maneuver</a:t>
                      </a:r>
                      <a:r>
                        <a:rPr lang="zh-TW" altLang="en-US"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及由系統創建的</a:t>
                      </a:r>
                      <a:r>
                        <a:rPr lang="en-US" altLang="zh-TW"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u="none"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活動</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否。</a:t>
                      </a:r>
                    </a:p>
                  </a:txBody>
                  <a:tcPr anchor="ctr"/>
                </a:tc>
                <a:extLst>
                  <a:ext uri="{0D108BD9-81ED-4DB2-BD59-A6C34878D82A}">
                    <a16:rowId xmlns:a16="http://schemas.microsoft.com/office/drawing/2014/main" val="3566064121"/>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a:t>
                      </a:r>
                      <a:r>
                        <a:rPr lang="zh-TW" altLang="en-US"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存在</a:t>
                      </a:r>
                      <a:r>
                        <a:rPr lang="en-US" altLang="zh-TW"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Attitude Maneuver</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是，且此新創建的</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活動之開始時間將會在該</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Attitude Maneuver</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開始往前推</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181</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（此時間可於</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config</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中的</a:t>
                      </a:r>
                      <a:r>
                        <a:rPr lang="en-US" altLang="zh-TW" sz="1400" kern="100" dirty="0" err="1">
                          <a:effectLst/>
                          <a:latin typeface="Times New Roman" panose="02020603050405020304" pitchFamily="18" charset="0"/>
                          <a:ea typeface="標楷體" panose="03000509000000000000" pitchFamily="65" charset="-120"/>
                          <a:cs typeface="Times New Roman" panose="02020603050405020304" pitchFamily="18" charset="0"/>
                        </a:rPr>
                        <a:t>gohome_duration</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做調整）秒。</a:t>
                      </a:r>
                    </a:p>
                  </a:txBody>
                  <a:tcPr anchor="ctr"/>
                </a:tc>
                <a:extLst>
                  <a:ext uri="{0D108BD9-81ED-4DB2-BD59-A6C34878D82A}">
                    <a16:rowId xmlns:a16="http://schemas.microsoft.com/office/drawing/2014/main" val="3466414041"/>
                  </a:ext>
                </a:extLst>
              </a:tr>
              <a:tr h="370840">
                <a:tc>
                  <a:txBody>
                    <a:bodyPr/>
                    <a:lstStyle/>
                    <a:p>
                      <a:pPr algn="ctr">
                        <a:lnSpc>
                          <a:spcPct val="150000"/>
                        </a:lnSpc>
                      </a:pP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8</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nSpc>
                          <a:spcPct val="150000"/>
                        </a:lnSpc>
                      </a:pP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Xbandrise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分鐘至</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後</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分鐘無</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Attitude Maneuver</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或系統創建的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活動。</a:t>
                      </a:r>
                    </a:p>
                  </a:txBody>
                  <a:tcPr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是，且此新創建的</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活動開始時間將會在</a:t>
                      </a:r>
                      <a:r>
                        <a:rPr lang="en-US" altLang="zh-TW" sz="1400" kern="100" dirty="0" err="1">
                          <a:effectLst/>
                          <a:latin typeface="Times New Roman" panose="02020603050405020304" pitchFamily="18" charset="0"/>
                          <a:ea typeface="標楷體" panose="03000509000000000000" pitchFamily="65" charset="-120"/>
                          <a:cs typeface="Times New Roman" panose="02020603050405020304" pitchFamily="18" charset="0"/>
                        </a:rPr>
                        <a:t>xbandfade</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後一秒。</a:t>
                      </a:r>
                    </a:p>
                  </a:txBody>
                  <a:tcPr anchor="ctr"/>
                </a:tc>
                <a:extLst>
                  <a:ext uri="{0D108BD9-81ED-4DB2-BD59-A6C34878D82A}">
                    <a16:rowId xmlns:a16="http://schemas.microsoft.com/office/drawing/2014/main" val="1416149349"/>
                  </a:ext>
                </a:extLst>
              </a:tr>
            </a:tbl>
          </a:graphicData>
        </a:graphic>
      </p:graphicFrame>
      <p:sp>
        <p:nvSpPr>
          <p:cNvPr id="10" name="Google Shape;3042;p38">
            <a:extLst>
              <a:ext uri="{FF2B5EF4-FFF2-40B4-BE49-F238E27FC236}">
                <a16:creationId xmlns:a16="http://schemas.microsoft.com/office/drawing/2014/main" id="{C6DA40B4-6D45-7250-7797-CC52B65E6589}"/>
              </a:ext>
            </a:extLst>
          </p:cNvPr>
          <p:cNvSpPr/>
          <p:nvPr/>
        </p:nvSpPr>
        <p:spPr>
          <a:xfrm>
            <a:off x="0" y="1097802"/>
            <a:ext cx="338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5" y="576686"/>
            <a:ext cx="3452812"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GOHOME</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創建規則</a:t>
            </a:r>
          </a:p>
        </p:txBody>
      </p:sp>
      <p:sp>
        <p:nvSpPr>
          <p:cNvPr id="3" name="Google Shape;230;p30">
            <a:extLst>
              <a:ext uri="{FF2B5EF4-FFF2-40B4-BE49-F238E27FC236}">
                <a16:creationId xmlns:a16="http://schemas.microsoft.com/office/drawing/2014/main" id="{D2E6304E-9994-AADF-AC5A-62037FB4658B}"/>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4;p30">
            <a:hlinkClick r:id="" action="ppaction://hlinkshowjump?jump=firstslide"/>
            <a:extLst>
              <a:ext uri="{FF2B5EF4-FFF2-40B4-BE49-F238E27FC236}">
                <a16:creationId xmlns:a16="http://schemas.microsoft.com/office/drawing/2014/main" id="{40C3CC6A-D507-B442-0106-2F28E8E386ED}"/>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Google Shape;234;p30">
            <a:hlinkClick r:id="" action="ppaction://hlinkshowjump?jump=firstslide"/>
            <a:extLst>
              <a:ext uri="{FF2B5EF4-FFF2-40B4-BE49-F238E27FC236}">
                <a16:creationId xmlns:a16="http://schemas.microsoft.com/office/drawing/2014/main" id="{A91D1465-1C3E-5350-D09D-BC1B9784E07A}"/>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hlinkClick r:id="rId3" action="ppaction://hlinksldjump"/>
            <a:extLst>
              <a:ext uri="{FF2B5EF4-FFF2-40B4-BE49-F238E27FC236}">
                <a16:creationId xmlns:a16="http://schemas.microsoft.com/office/drawing/2014/main" id="{6F7F10ED-8D1F-ABC6-F701-20E528C09FA5}"/>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矩形 7">
            <a:hlinkClick r:id="rId4" action="ppaction://hlinksldjump"/>
            <a:extLst>
              <a:ext uri="{FF2B5EF4-FFF2-40B4-BE49-F238E27FC236}">
                <a16:creationId xmlns:a16="http://schemas.microsoft.com/office/drawing/2014/main" id="{EF0A503B-3F5D-6A7B-38BD-04A14B678125}"/>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Google Shape;234;p30">
            <a:hlinkClick r:id="" action="ppaction://hlinkshowjump?jump=firstslide"/>
            <a:extLst>
              <a:ext uri="{FF2B5EF4-FFF2-40B4-BE49-F238E27FC236}">
                <a16:creationId xmlns:a16="http://schemas.microsoft.com/office/drawing/2014/main" id="{5203661B-DA01-4796-036F-6F0CACFCE13C}"/>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C04DD02C-48ED-1F13-E279-B8ACCE2D2079}"/>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0DC66FB6-9BF6-8267-A752-6E3BB45BB520}"/>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E7420963-B448-A905-9AE9-B36034461A0D}"/>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50CBE63A-6246-ADF5-FC4D-F337BA9DB5CF}"/>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631A922B-2B3D-D0C0-C670-222360861FCE}"/>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747340C8-1CEC-1AE9-3D97-802AFAD7B413}"/>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A64D0F57-0991-DE7F-5472-0AF046EDFB70}"/>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675220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414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434167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額外排程功能介紹（</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文字方塊 1">
            <a:extLst>
              <a:ext uri="{FF2B5EF4-FFF2-40B4-BE49-F238E27FC236}">
                <a16:creationId xmlns:a16="http://schemas.microsoft.com/office/drawing/2014/main" id="{0A9C669C-0805-6EF0-752A-9B6E5853EBE8}"/>
              </a:ext>
            </a:extLst>
          </p:cNvPr>
          <p:cNvSpPr txBox="1"/>
          <p:nvPr/>
        </p:nvSpPr>
        <p:spPr>
          <a:xfrm>
            <a:off x="34885" y="1376140"/>
            <a:ext cx="1336715" cy="338554"/>
          </a:xfrm>
          <a:prstGeom prst="rect">
            <a:avLst/>
          </a:prstGeom>
          <a:solidFill>
            <a:schemeClr val="tx2">
              <a:lumMod val="40000"/>
              <a:lumOff val="60000"/>
            </a:schemeClr>
          </a:solidFill>
        </p:spPr>
        <p:txBody>
          <a:bodyPr wrap="square" rtlCol="0">
            <a:spAutoFit/>
          </a:bodyPr>
          <a:lstStyle/>
          <a:p>
            <a:pPr algn="ctr"/>
            <a:r>
              <a:rPr lang="en-US" altLang="zh-TW" sz="1600" b="1" dirty="0" err="1">
                <a:latin typeface="Times New Roman" panose="02020603050405020304" pitchFamily="18" charset="0"/>
                <a:cs typeface="Times New Roman" panose="02020603050405020304" pitchFamily="18" charset="0"/>
              </a:rPr>
              <a:t>runUIReHot</a:t>
            </a:r>
            <a:endParaRPr lang="zh-TW" altLang="en-US" sz="1600" b="1"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717B52B-762D-9F42-080A-D76EC40082C0}"/>
              </a:ext>
            </a:extLst>
          </p:cNvPr>
          <p:cNvSpPr txBox="1"/>
          <p:nvPr/>
        </p:nvSpPr>
        <p:spPr>
          <a:xfrm>
            <a:off x="1511694" y="1251779"/>
            <a:ext cx="6370519" cy="587277"/>
          </a:xfrm>
          <a:prstGeom prst="rect">
            <a:avLst/>
          </a:prstGeom>
          <a:noFill/>
        </p:spPr>
        <p:txBody>
          <a:bodyPr wrap="square">
            <a:spAutoFit/>
          </a:bodyPr>
          <a:lstStyle/>
          <a:p>
            <a:pPr>
              <a:lnSpc>
                <a:spcPct val="120000"/>
              </a:lnSpc>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針對</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無法排入的活動</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，經過使用者的調整後，嘗試進行</a:t>
            </a:r>
            <a:r>
              <a:rPr lang="en-US" altLang="zh-TW" sz="1400" kern="100" dirty="0">
                <a:effectLst/>
                <a:latin typeface="Times New Roman" panose="02020603050405020304" pitchFamily="18" charset="0"/>
                <a:ea typeface="標楷體" panose="03000509000000000000" pitchFamily="65" charset="-120"/>
              </a:rPr>
              <a:t>hot scheduling</a:t>
            </a:r>
            <a:r>
              <a:rPr lang="zh-TW" altLang="en-US" sz="1400" kern="100" dirty="0">
                <a:effectLst/>
                <a:latin typeface="Times New Roman" panose="02020603050405020304" pitchFamily="18" charset="0"/>
                <a:ea typeface="標楷體" panose="03000509000000000000" pitchFamily="65" charset="-120"/>
              </a:rPr>
              <a:t>，</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看是否能在不影響已排程活動的前提下，將無法排入的活動安排進排程中</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graphicFrame>
        <p:nvGraphicFramePr>
          <p:cNvPr id="6" name="表格 5">
            <a:extLst>
              <a:ext uri="{FF2B5EF4-FFF2-40B4-BE49-F238E27FC236}">
                <a16:creationId xmlns:a16="http://schemas.microsoft.com/office/drawing/2014/main" id="{536ADCA4-5759-B127-EF7E-380BD16EC295}"/>
              </a:ext>
            </a:extLst>
          </p:cNvPr>
          <p:cNvGraphicFramePr>
            <a:graphicFrameLocks noGrp="1"/>
          </p:cNvGraphicFramePr>
          <p:nvPr>
            <p:extLst>
              <p:ext uri="{D42A27DB-BD31-4B8C-83A1-F6EECF244321}">
                <p14:modId xmlns:p14="http://schemas.microsoft.com/office/powerpoint/2010/main" val="3194554170"/>
              </p:ext>
            </p:extLst>
          </p:nvPr>
        </p:nvGraphicFramePr>
        <p:xfrm>
          <a:off x="6116522" y="2478653"/>
          <a:ext cx="2808993" cy="2306320"/>
        </p:xfrm>
        <a:graphic>
          <a:graphicData uri="http://schemas.openxmlformats.org/drawingml/2006/table">
            <a:tbl>
              <a:tblPr firstRow="1" firstCol="1" bandRow="1">
                <a:tableStyleId>{8B193ECF-1327-48E1-8871-2513AA109082}</a:tableStyleId>
              </a:tblPr>
              <a:tblGrid>
                <a:gridCol w="939733">
                  <a:extLst>
                    <a:ext uri="{9D8B030D-6E8A-4147-A177-3AD203B41FA5}">
                      <a16:colId xmlns:a16="http://schemas.microsoft.com/office/drawing/2014/main" val="2677249552"/>
                    </a:ext>
                  </a:extLst>
                </a:gridCol>
                <a:gridCol w="809203">
                  <a:extLst>
                    <a:ext uri="{9D8B030D-6E8A-4147-A177-3AD203B41FA5}">
                      <a16:colId xmlns:a16="http://schemas.microsoft.com/office/drawing/2014/main" val="2315729954"/>
                    </a:ext>
                  </a:extLst>
                </a:gridCol>
                <a:gridCol w="1060057">
                  <a:extLst>
                    <a:ext uri="{9D8B030D-6E8A-4147-A177-3AD203B41FA5}">
                      <a16:colId xmlns:a16="http://schemas.microsoft.com/office/drawing/2014/main" val="3112106543"/>
                    </a:ext>
                  </a:extLst>
                </a:gridCol>
              </a:tblGrid>
              <a:tr h="288290">
                <a:tc>
                  <a:txBody>
                    <a:bodyPr/>
                    <a:lstStyle/>
                    <a:p>
                      <a:pPr algn="ctr"/>
                      <a:r>
                        <a:rPr lang="en-US" sz="1200" b="1" kern="100" dirty="0">
                          <a:effectLst/>
                          <a:latin typeface="Times New Roman" panose="02020603050405020304" pitchFamily="18" charset="0"/>
                          <a:cs typeface="Times New Roman" panose="02020603050405020304" pitchFamily="18" charset="0"/>
                        </a:rPr>
                        <a:t>id</a:t>
                      </a:r>
                      <a:endParaRPr lang="zh-TW" sz="12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200" b="1" kern="100" dirty="0" err="1">
                          <a:effectLst/>
                          <a:latin typeface="Times New Roman" panose="02020603050405020304" pitchFamily="18" charset="0"/>
                          <a:cs typeface="Times New Roman" panose="02020603050405020304" pitchFamily="18" charset="0"/>
                        </a:rPr>
                        <a:t>sessionid</a:t>
                      </a:r>
                      <a:endParaRPr lang="zh-TW" sz="12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200" b="1" kern="100" dirty="0">
                          <a:effectLst/>
                          <a:latin typeface="Times New Roman" panose="02020603050405020304" pitchFamily="18" charset="0"/>
                          <a:cs typeface="Times New Roman" panose="02020603050405020304" pitchFamily="18" charset="0"/>
                        </a:rPr>
                        <a:t>scheduled</a:t>
                      </a:r>
                      <a:endParaRPr lang="zh-TW" sz="12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extLst>
                  <a:ext uri="{0D108BD9-81ED-4DB2-BD59-A6C34878D82A}">
                    <a16:rowId xmlns:a16="http://schemas.microsoft.com/office/drawing/2014/main" val="2369965629"/>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12326</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4220556356"/>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12327</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687272571"/>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12328</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885087344"/>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12329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120295840"/>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12330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dirty="0">
                          <a:effectLst/>
                          <a:latin typeface="Times New Roman" panose="02020603050405020304" pitchFamily="18" charset="0"/>
                          <a:cs typeface="Times New Roman" panose="02020603050405020304" pitchFamily="18" charset="0"/>
                        </a:rPr>
                        <a:t>0</a:t>
                      </a:r>
                      <a:endParaRPr lang="zh-TW" sz="12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282092066"/>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12331</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989</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a:effectLst/>
                          <a:latin typeface="Times New Roman" panose="02020603050405020304" pitchFamily="18" charset="0"/>
                          <a:cs typeface="Times New Roman" panose="02020603050405020304" pitchFamily="18" charset="0"/>
                        </a:rPr>
                        <a:t>0</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464190253"/>
                  </a:ext>
                </a:extLst>
              </a:tr>
              <a:tr h="288290">
                <a:tc>
                  <a:txBody>
                    <a:bodyPr/>
                    <a:lstStyle/>
                    <a:p>
                      <a:pPr algn="ctr"/>
                      <a:r>
                        <a:rPr lang="en-US" sz="1200" kern="100">
                          <a:effectLst/>
                          <a:latin typeface="Times New Roman" panose="02020603050405020304" pitchFamily="18" charset="0"/>
                          <a:cs typeface="Times New Roman" panose="02020603050405020304" pitchFamily="18" charset="0"/>
                        </a:rPr>
                        <a:t>12332</a:t>
                      </a:r>
                      <a:endParaRPr lang="zh-TW" sz="12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dirty="0">
                          <a:effectLst/>
                          <a:latin typeface="Times New Roman" panose="02020603050405020304" pitchFamily="18" charset="0"/>
                          <a:cs typeface="Times New Roman" panose="02020603050405020304" pitchFamily="18" charset="0"/>
                        </a:rPr>
                        <a:t>989</a:t>
                      </a:r>
                      <a:endParaRPr lang="zh-TW" sz="12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200" kern="100" dirty="0">
                          <a:effectLst/>
                          <a:latin typeface="Times New Roman" panose="02020603050405020304" pitchFamily="18" charset="0"/>
                          <a:cs typeface="Times New Roman" panose="02020603050405020304" pitchFamily="18" charset="0"/>
                        </a:rPr>
                        <a:t>0</a:t>
                      </a:r>
                      <a:endParaRPr lang="zh-TW" sz="12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588017592"/>
                  </a:ext>
                </a:extLst>
              </a:tr>
            </a:tbl>
          </a:graphicData>
        </a:graphic>
      </p:graphicFrame>
      <p:graphicFrame>
        <p:nvGraphicFramePr>
          <p:cNvPr id="9" name="表格 8">
            <a:extLst>
              <a:ext uri="{FF2B5EF4-FFF2-40B4-BE49-F238E27FC236}">
                <a16:creationId xmlns:a16="http://schemas.microsoft.com/office/drawing/2014/main" id="{A28DD3DF-F81C-3C43-2784-C1A640DE56BE}"/>
              </a:ext>
            </a:extLst>
          </p:cNvPr>
          <p:cNvGraphicFramePr>
            <a:graphicFrameLocks noGrp="1"/>
          </p:cNvGraphicFramePr>
          <p:nvPr>
            <p:extLst>
              <p:ext uri="{D42A27DB-BD31-4B8C-83A1-F6EECF244321}">
                <p14:modId xmlns:p14="http://schemas.microsoft.com/office/powerpoint/2010/main" val="1761243648"/>
              </p:ext>
            </p:extLst>
          </p:nvPr>
        </p:nvGraphicFramePr>
        <p:xfrm>
          <a:off x="97700" y="2009315"/>
          <a:ext cx="5786670" cy="2838983"/>
        </p:xfrm>
        <a:graphic>
          <a:graphicData uri="http://schemas.openxmlformats.org/drawingml/2006/table">
            <a:tbl>
              <a:tblPr firstRow="1" bandRow="1">
                <a:tableStyleId>{8B193ECF-1327-48E1-8871-2513AA109082}</a:tableStyleId>
              </a:tblPr>
              <a:tblGrid>
                <a:gridCol w="1280608">
                  <a:extLst>
                    <a:ext uri="{9D8B030D-6E8A-4147-A177-3AD203B41FA5}">
                      <a16:colId xmlns:a16="http://schemas.microsoft.com/office/drawing/2014/main" val="1562334339"/>
                    </a:ext>
                  </a:extLst>
                </a:gridCol>
                <a:gridCol w="4506062">
                  <a:extLst>
                    <a:ext uri="{9D8B030D-6E8A-4147-A177-3AD203B41FA5}">
                      <a16:colId xmlns:a16="http://schemas.microsoft.com/office/drawing/2014/main" val="2945574253"/>
                    </a:ext>
                  </a:extLst>
                </a:gridCol>
              </a:tblGrid>
              <a:tr h="370840">
                <a:tc>
                  <a:txBody>
                    <a:bodyPr/>
                    <a:lstStyle/>
                    <a:p>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傳入參數</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851559"/>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session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系統要考慮的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session</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434976"/>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station name</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指定未排入活動需安排到的地面站名稱。</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5837939"/>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activity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本次考慮的未排入活動。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5316275"/>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contact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指定未排入活動需安排到的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contact id</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4220"/>
                  </a:ext>
                </a:extLst>
              </a:tr>
              <a:tr h="613943">
                <a:tc>
                  <a:txBody>
                    <a:bodyPr/>
                    <a:lstStyle/>
                    <a:p>
                      <a:pPr marL="0" indent="0">
                        <a:buFont typeface="Arial" panose="020B0604020202020204" pitchFamily="34" charset="0"/>
                        <a:buNone/>
                      </a:pPr>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範例</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481874"/>
                  </a:ext>
                </a:extLst>
              </a:tr>
              <a:tr h="370840">
                <a:tc gridSpan="2">
                  <a:txBody>
                    <a:bodyPr/>
                    <a:lstStyle/>
                    <a:p>
                      <a:pPr marL="0" indent="0">
                        <a:buFont typeface="Arial" panose="020B0604020202020204" pitchFamily="34" charset="0"/>
                        <a:buNone/>
                      </a:pPr>
                      <a:r>
                        <a:rPr lang="en-US" altLang="zh-TW" sz="1300" kern="100" dirty="0" err="1">
                          <a:effectLst/>
                          <a:latin typeface="Times New Roman" panose="02020603050405020304" pitchFamily="18" charset="0"/>
                          <a:ea typeface="標楷體" panose="03000509000000000000" pitchFamily="65" charset="-120"/>
                        </a:rPr>
                        <a:t>runUIReHot</a:t>
                      </a:r>
                      <a:r>
                        <a:rPr lang="en-US" altLang="zh-TW" sz="1300" kern="100" dirty="0">
                          <a:effectLst/>
                          <a:latin typeface="Times New Roman" panose="02020603050405020304" pitchFamily="18" charset="0"/>
                          <a:ea typeface="標楷體" panose="03000509000000000000" pitchFamily="65" charset="-120"/>
                        </a:rPr>
                        <a:t>(989, </a:t>
                      </a:r>
                      <a:r>
                        <a:rPr lang="en-US" altLang="zh-TW" sz="1300" kern="100" dirty="0">
                          <a:effectLst/>
                          <a:highlight>
                            <a:srgbClr val="FFFF00"/>
                          </a:highlight>
                          <a:latin typeface="Times New Roman" panose="02020603050405020304" pitchFamily="18" charset="0"/>
                          <a:ea typeface="標楷體" panose="03000509000000000000" pitchFamily="65" charset="-120"/>
                        </a:rPr>
                        <a:t>“ANY”</a:t>
                      </a:r>
                      <a:r>
                        <a:rPr lang="en-US" altLang="zh-TW" sz="1300" kern="100" dirty="0">
                          <a:effectLst/>
                          <a:latin typeface="Times New Roman" panose="02020603050405020304" pitchFamily="18" charset="0"/>
                          <a:ea typeface="標楷體" panose="03000509000000000000" pitchFamily="65" charset="-120"/>
                        </a:rPr>
                        <a:t>, [12326, 12327, 12328, 12329, 12330, 12331, 12332], </a:t>
                      </a:r>
                      <a:r>
                        <a:rPr lang="en-US" altLang="zh-TW" sz="1300" kern="100" dirty="0">
                          <a:effectLst/>
                          <a:highlight>
                            <a:srgbClr val="FFFF00"/>
                          </a:highlight>
                          <a:latin typeface="Times New Roman" panose="02020603050405020304" pitchFamily="18" charset="0"/>
                          <a:ea typeface="標楷體" panose="03000509000000000000" pitchFamily="65" charset="-120"/>
                        </a:rPr>
                        <a:t>-1</a:t>
                      </a:r>
                      <a:r>
                        <a:rPr lang="en-US" altLang="zh-TW" sz="1300" kern="100" dirty="0">
                          <a:effectLst/>
                          <a:latin typeface="Times New Roman" panose="02020603050405020304" pitchFamily="18" charset="0"/>
                          <a:ea typeface="標楷體" panose="03000509000000000000" pitchFamily="65" charset="-120"/>
                        </a:rPr>
                        <a:t>)</a:t>
                      </a:r>
                      <a:endPar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558817"/>
                  </a:ext>
                </a:extLst>
              </a:tr>
            </a:tbl>
          </a:graphicData>
        </a:graphic>
      </p:graphicFrame>
      <p:sp>
        <p:nvSpPr>
          <p:cNvPr id="25" name="Google Shape;230;p30">
            <a:extLst>
              <a:ext uri="{FF2B5EF4-FFF2-40B4-BE49-F238E27FC236}">
                <a16:creationId xmlns:a16="http://schemas.microsoft.com/office/drawing/2014/main" id="{B2650D8D-909B-B673-D139-76433314B984}"/>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4;p30">
            <a:hlinkClick r:id="" action="ppaction://hlinkshowjump?jump=firstslide"/>
            <a:extLst>
              <a:ext uri="{FF2B5EF4-FFF2-40B4-BE49-F238E27FC236}">
                <a16:creationId xmlns:a16="http://schemas.microsoft.com/office/drawing/2014/main" id="{9CAE4F8E-773A-5F5C-008B-8FF0D65437A5}"/>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Google Shape;234;p30">
            <a:hlinkClick r:id="" action="ppaction://hlinkshowjump?jump=firstslide"/>
            <a:extLst>
              <a:ext uri="{FF2B5EF4-FFF2-40B4-BE49-F238E27FC236}">
                <a16:creationId xmlns:a16="http://schemas.microsoft.com/office/drawing/2014/main" id="{A3D9AE94-80D6-9D47-79FC-24A860CBAD3B}"/>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3" action="ppaction://hlinksldjump"/>
            <a:extLst>
              <a:ext uri="{FF2B5EF4-FFF2-40B4-BE49-F238E27FC236}">
                <a16:creationId xmlns:a16="http://schemas.microsoft.com/office/drawing/2014/main" id="{817C2697-E799-A167-72B0-AE770C6F88DB}"/>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矩形 28">
            <a:hlinkClick r:id="rId4" action="ppaction://hlinksldjump"/>
            <a:extLst>
              <a:ext uri="{FF2B5EF4-FFF2-40B4-BE49-F238E27FC236}">
                <a16:creationId xmlns:a16="http://schemas.microsoft.com/office/drawing/2014/main" id="{B18D2AE0-94D1-DB4C-041C-2DB496200AAD}"/>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Google Shape;234;p30">
            <a:hlinkClick r:id="" action="ppaction://hlinkshowjump?jump=firstslide"/>
            <a:extLst>
              <a:ext uri="{FF2B5EF4-FFF2-40B4-BE49-F238E27FC236}">
                <a16:creationId xmlns:a16="http://schemas.microsoft.com/office/drawing/2014/main" id="{76CF4543-0B80-4153-124B-DCE3697B8BDB}"/>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5" action="ppaction://hlinksldjump"/>
            <a:extLst>
              <a:ext uri="{FF2B5EF4-FFF2-40B4-BE49-F238E27FC236}">
                <a16:creationId xmlns:a16="http://schemas.microsoft.com/office/drawing/2014/main" id="{5165D1EF-ACA6-396C-AAE9-8E46A871B331}"/>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3EC48CA7-FEE1-CA83-FF6A-4166C14E563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6" action="ppaction://hlinksldjump"/>
            <a:extLst>
              <a:ext uri="{FF2B5EF4-FFF2-40B4-BE49-F238E27FC236}">
                <a16:creationId xmlns:a16="http://schemas.microsoft.com/office/drawing/2014/main" id="{9B95494A-B832-29DD-CC3C-3F4B4341B453}"/>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Google Shape;234;p30">
            <a:hlinkClick r:id="" action="ppaction://hlinkshowjump?jump=firstslide"/>
            <a:extLst>
              <a:ext uri="{FF2B5EF4-FFF2-40B4-BE49-F238E27FC236}">
                <a16:creationId xmlns:a16="http://schemas.microsoft.com/office/drawing/2014/main" id="{5F441CC7-CAC6-7DC6-B5B6-8485612AFDB4}"/>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矩形 36">
            <a:hlinkClick r:id="rId7" action="ppaction://hlinksldjump"/>
            <a:extLst>
              <a:ext uri="{FF2B5EF4-FFF2-40B4-BE49-F238E27FC236}">
                <a16:creationId xmlns:a16="http://schemas.microsoft.com/office/drawing/2014/main" id="{BBC64B9A-8954-8899-03CD-9E257E59AF06}"/>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 name="Google Shape;234;p30">
            <a:hlinkClick r:id="" action="ppaction://hlinkshowjump?jump=firstslide"/>
            <a:extLst>
              <a:ext uri="{FF2B5EF4-FFF2-40B4-BE49-F238E27FC236}">
                <a16:creationId xmlns:a16="http://schemas.microsoft.com/office/drawing/2014/main" id="{444097D9-7321-61C2-DE4C-156F9DF14785}"/>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矩形 38">
            <a:hlinkClick r:id="rId8" action="ppaction://hlinksldjump"/>
            <a:extLst>
              <a:ext uri="{FF2B5EF4-FFF2-40B4-BE49-F238E27FC236}">
                <a16:creationId xmlns:a16="http://schemas.microsoft.com/office/drawing/2014/main" id="{24C533CE-C755-A3BA-DCA2-9EAE82D27E54}"/>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713881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414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434167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額外排程功能介紹（</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文字方塊 1">
            <a:extLst>
              <a:ext uri="{FF2B5EF4-FFF2-40B4-BE49-F238E27FC236}">
                <a16:creationId xmlns:a16="http://schemas.microsoft.com/office/drawing/2014/main" id="{0A9C669C-0805-6EF0-752A-9B6E5853EBE8}"/>
              </a:ext>
            </a:extLst>
          </p:cNvPr>
          <p:cNvSpPr txBox="1"/>
          <p:nvPr/>
        </p:nvSpPr>
        <p:spPr>
          <a:xfrm>
            <a:off x="34885" y="1376140"/>
            <a:ext cx="2044768" cy="338554"/>
          </a:xfrm>
          <a:prstGeom prst="rect">
            <a:avLst/>
          </a:prstGeom>
          <a:solidFill>
            <a:schemeClr val="tx2">
              <a:lumMod val="40000"/>
              <a:lumOff val="60000"/>
            </a:schemeClr>
          </a:solidFill>
        </p:spPr>
        <p:txBody>
          <a:bodyPr wrap="square" rtlCol="0">
            <a:spAutoFit/>
          </a:bodyPr>
          <a:lstStyle/>
          <a:p>
            <a:pPr algn="ctr"/>
            <a:r>
              <a:rPr lang="en-US" altLang="zh-TW" sz="1600" b="1" dirty="0" err="1">
                <a:latin typeface="Times New Roman" panose="02020603050405020304" pitchFamily="18" charset="0"/>
                <a:cs typeface="Times New Roman" panose="02020603050405020304" pitchFamily="18" charset="0"/>
              </a:rPr>
              <a:t>addResourceChange</a:t>
            </a:r>
            <a:endParaRPr lang="zh-TW" altLang="en-US" sz="1600" b="1"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A28DD3DF-F81C-3C43-2784-C1A640DE56BE}"/>
              </a:ext>
            </a:extLst>
          </p:cNvPr>
          <p:cNvGraphicFramePr>
            <a:graphicFrameLocks noGrp="1"/>
          </p:cNvGraphicFramePr>
          <p:nvPr>
            <p:extLst>
              <p:ext uri="{D42A27DB-BD31-4B8C-83A1-F6EECF244321}">
                <p14:modId xmlns:p14="http://schemas.microsoft.com/office/powerpoint/2010/main" val="3816953095"/>
              </p:ext>
            </p:extLst>
          </p:nvPr>
        </p:nvGraphicFramePr>
        <p:xfrm>
          <a:off x="97700" y="2009315"/>
          <a:ext cx="5786670" cy="2634120"/>
        </p:xfrm>
        <a:graphic>
          <a:graphicData uri="http://schemas.openxmlformats.org/drawingml/2006/table">
            <a:tbl>
              <a:tblPr firstRow="1" bandRow="1">
                <a:tableStyleId>{8B193ECF-1327-48E1-8871-2513AA109082}</a:tableStyleId>
              </a:tblPr>
              <a:tblGrid>
                <a:gridCol w="1280608">
                  <a:extLst>
                    <a:ext uri="{9D8B030D-6E8A-4147-A177-3AD203B41FA5}">
                      <a16:colId xmlns:a16="http://schemas.microsoft.com/office/drawing/2014/main" val="1562334339"/>
                    </a:ext>
                  </a:extLst>
                </a:gridCol>
                <a:gridCol w="4506062">
                  <a:extLst>
                    <a:ext uri="{9D8B030D-6E8A-4147-A177-3AD203B41FA5}">
                      <a16:colId xmlns:a16="http://schemas.microsoft.com/office/drawing/2014/main" val="2945574253"/>
                    </a:ext>
                  </a:extLst>
                </a:gridCol>
              </a:tblGrid>
              <a:tr h="370840">
                <a:tc>
                  <a:txBody>
                    <a:bodyPr/>
                    <a:lstStyle/>
                    <a:p>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傳入參數</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851559"/>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session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系統要考慮的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session</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434976"/>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activity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本次要移動的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RSI</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Delete</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5316275"/>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move date</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使用者希望本活動移動到的時間。</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4220"/>
                  </a:ext>
                </a:extLst>
              </a:tr>
              <a:tr h="779920">
                <a:tc>
                  <a:txBody>
                    <a:bodyPr/>
                    <a:lstStyle/>
                    <a:p>
                      <a:pPr marL="0" indent="0">
                        <a:buFont typeface="Arial" panose="020B0604020202020204" pitchFamily="34" charset="0"/>
                        <a:buNone/>
                      </a:pPr>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範例</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481874"/>
                  </a:ext>
                </a:extLst>
              </a:tr>
              <a:tr h="370840">
                <a:tc gridSpan="2">
                  <a:txBody>
                    <a:bodyPr/>
                    <a:lstStyle/>
                    <a:p>
                      <a:pPr marL="0" indent="0">
                        <a:buFont typeface="Arial" panose="020B0604020202020204" pitchFamily="34" charset="0"/>
                        <a:buNone/>
                      </a:pPr>
                      <a:r>
                        <a:rPr lang="en-US" altLang="zh-TW" sz="1300" b="0" u="none" dirty="0" err="1">
                          <a:latin typeface="Times New Roman" panose="02020603050405020304" pitchFamily="18" charset="0"/>
                          <a:ea typeface="標楷體" panose="03000509000000000000" pitchFamily="65" charset="-120"/>
                          <a:cs typeface="Times New Roman" panose="02020603050405020304" pitchFamily="18" charset="0"/>
                        </a:rPr>
                        <a:t>addResourceChange</a:t>
                      </a:r>
                      <a:r>
                        <a:rPr lang="en-US" altLang="zh-TW" sz="1300" b="0" u="none" dirty="0">
                          <a:latin typeface="Times New Roman" panose="02020603050405020304" pitchFamily="18" charset="0"/>
                          <a:ea typeface="標楷體" panose="03000509000000000000" pitchFamily="65" charset="-120"/>
                          <a:cs typeface="Times New Roman" panose="02020603050405020304" pitchFamily="18" charset="0"/>
                        </a:rPr>
                        <a:t>(989, 11089, 2025-11-01 08:21:32)</a:t>
                      </a:r>
                      <a:endParaRPr lang="zh-TW" altLang="en-US" sz="1300" b="0" u="none"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558817"/>
                  </a:ext>
                </a:extLst>
              </a:tr>
            </a:tbl>
          </a:graphicData>
        </a:graphic>
      </p:graphicFrame>
      <p:sp>
        <p:nvSpPr>
          <p:cNvPr id="5" name="文字方塊 4">
            <a:extLst>
              <a:ext uri="{FF2B5EF4-FFF2-40B4-BE49-F238E27FC236}">
                <a16:creationId xmlns:a16="http://schemas.microsoft.com/office/drawing/2014/main" id="{674BF283-6555-0FDA-3543-5DEC22D63706}"/>
              </a:ext>
            </a:extLst>
          </p:cNvPr>
          <p:cNvSpPr txBox="1"/>
          <p:nvPr/>
        </p:nvSpPr>
        <p:spPr>
          <a:xfrm>
            <a:off x="2124769" y="1251395"/>
            <a:ext cx="6800746" cy="587277"/>
          </a:xfrm>
          <a:prstGeom prst="rect">
            <a:avLst/>
          </a:prstGeom>
          <a:noFill/>
        </p:spPr>
        <p:txBody>
          <a:bodyPr wrap="square">
            <a:spAutoFit/>
          </a:bodyPr>
          <a:lstStyle/>
          <a:p>
            <a:pPr>
              <a:lnSpc>
                <a:spcPct val="120000"/>
              </a:lnSpc>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嘗試在不影響原先已排程的活動前提下，進行</a:t>
            </a:r>
            <a:r>
              <a:rPr lang="en-US" altLang="zh-TW" sz="1400" kern="100" dirty="0">
                <a:effectLst/>
                <a:latin typeface="Times New Roman" panose="02020603050405020304" pitchFamily="18" charset="0"/>
                <a:ea typeface="標楷體" panose="03000509000000000000" pitchFamily="65" charset="-120"/>
              </a:rPr>
              <a:t>hot scheduling</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移動已排入的</a:t>
            </a:r>
            <a:r>
              <a:rPr lang="en-US" altLang="zh-TW" sz="1400" u="sng" kern="100" dirty="0">
                <a:solidFill>
                  <a:srgbClr val="C00000"/>
                </a:solidFill>
                <a:effectLst/>
                <a:latin typeface="Times New Roman" panose="02020603050405020304" pitchFamily="18" charset="0"/>
                <a:ea typeface="標楷體" panose="03000509000000000000" pitchFamily="65" charset="-120"/>
              </a:rPr>
              <a:t>RSI Delete</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的位置</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，若系統發現無法滿足使用者需求，則不進行調整。</a:t>
            </a:r>
            <a:endParaRPr lang="zh-TW" altLang="en-US" dirty="0"/>
          </a:p>
        </p:txBody>
      </p:sp>
      <p:graphicFrame>
        <p:nvGraphicFramePr>
          <p:cNvPr id="7" name="表格 6">
            <a:extLst>
              <a:ext uri="{FF2B5EF4-FFF2-40B4-BE49-F238E27FC236}">
                <a16:creationId xmlns:a16="http://schemas.microsoft.com/office/drawing/2014/main" id="{8FF929D6-A0D4-8BA0-91B1-D168CA5D632A}"/>
              </a:ext>
            </a:extLst>
          </p:cNvPr>
          <p:cNvGraphicFramePr>
            <a:graphicFrameLocks noGrp="1"/>
          </p:cNvGraphicFramePr>
          <p:nvPr>
            <p:extLst>
              <p:ext uri="{D42A27DB-BD31-4B8C-83A1-F6EECF244321}">
                <p14:modId xmlns:p14="http://schemas.microsoft.com/office/powerpoint/2010/main" val="423123916"/>
              </p:ext>
            </p:extLst>
          </p:nvPr>
        </p:nvGraphicFramePr>
        <p:xfrm>
          <a:off x="3921509" y="2667359"/>
          <a:ext cx="5124791" cy="1440000"/>
        </p:xfrm>
        <a:graphic>
          <a:graphicData uri="http://schemas.openxmlformats.org/drawingml/2006/table">
            <a:tbl>
              <a:tblPr firstRow="1" firstCol="1" bandRow="1">
                <a:tableStyleId>{8B193ECF-1327-48E1-8871-2513AA109082}</a:tableStyleId>
              </a:tblPr>
              <a:tblGrid>
                <a:gridCol w="552791">
                  <a:extLst>
                    <a:ext uri="{9D8B030D-6E8A-4147-A177-3AD203B41FA5}">
                      <a16:colId xmlns:a16="http://schemas.microsoft.com/office/drawing/2014/main" val="1141164171"/>
                    </a:ext>
                  </a:extLst>
                </a:gridCol>
                <a:gridCol w="906308">
                  <a:extLst>
                    <a:ext uri="{9D8B030D-6E8A-4147-A177-3AD203B41FA5}">
                      <a16:colId xmlns:a16="http://schemas.microsoft.com/office/drawing/2014/main" val="2281130814"/>
                    </a:ext>
                  </a:extLst>
                </a:gridCol>
                <a:gridCol w="1780248">
                  <a:extLst>
                    <a:ext uri="{9D8B030D-6E8A-4147-A177-3AD203B41FA5}">
                      <a16:colId xmlns:a16="http://schemas.microsoft.com/office/drawing/2014/main" val="1070386142"/>
                    </a:ext>
                  </a:extLst>
                </a:gridCol>
                <a:gridCol w="995320">
                  <a:extLst>
                    <a:ext uri="{9D8B030D-6E8A-4147-A177-3AD203B41FA5}">
                      <a16:colId xmlns:a16="http://schemas.microsoft.com/office/drawing/2014/main" val="3107166354"/>
                    </a:ext>
                  </a:extLst>
                </a:gridCol>
                <a:gridCol w="890124">
                  <a:extLst>
                    <a:ext uri="{9D8B030D-6E8A-4147-A177-3AD203B41FA5}">
                      <a16:colId xmlns:a16="http://schemas.microsoft.com/office/drawing/2014/main" val="349608248"/>
                    </a:ext>
                  </a:extLst>
                </a:gridCol>
              </a:tblGrid>
              <a:tr h="288000">
                <a:tc>
                  <a:txBody>
                    <a:bodyPr/>
                    <a:lstStyle/>
                    <a:p>
                      <a:pPr algn="ctr"/>
                      <a:r>
                        <a:rPr lang="en-US" sz="1300" b="1" kern="100" dirty="0">
                          <a:effectLst/>
                          <a:latin typeface="Times New Roman" panose="02020603050405020304" pitchFamily="18" charset="0"/>
                          <a:ea typeface="標楷體" panose="03000509000000000000" pitchFamily="65" charset="-120"/>
                          <a:cs typeface="Times New Roman" panose="02020603050405020304" pitchFamily="18" charset="0"/>
                        </a:rPr>
                        <a:t>id</a:t>
                      </a:r>
                      <a:endPar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300" b="1" kern="100" dirty="0" err="1">
                          <a:effectLst/>
                          <a:latin typeface="Times New Roman" panose="02020603050405020304" pitchFamily="18" charset="0"/>
                          <a:ea typeface="標楷體" panose="03000509000000000000" pitchFamily="65" charset="-120"/>
                          <a:cs typeface="Times New Roman" panose="02020603050405020304" pitchFamily="18" charset="0"/>
                        </a:rPr>
                        <a:t>sessionid</a:t>
                      </a:r>
                      <a:endPar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300" b="1" kern="100" dirty="0" err="1">
                          <a:effectLst/>
                          <a:latin typeface="Times New Roman" panose="02020603050405020304" pitchFamily="18" charset="0"/>
                          <a:ea typeface="標楷體" panose="03000509000000000000" pitchFamily="65" charset="-120"/>
                          <a:cs typeface="Times New Roman" panose="02020603050405020304" pitchFamily="18" charset="0"/>
                        </a:rPr>
                        <a:t>starttime</a:t>
                      </a:r>
                      <a:endPar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300" b="1" kern="100" dirty="0">
                          <a:effectLst/>
                          <a:latin typeface="Times New Roman" panose="02020603050405020304" pitchFamily="18" charset="0"/>
                          <a:ea typeface="標楷體" panose="03000509000000000000" pitchFamily="65" charset="-120"/>
                          <a:cs typeface="Times New Roman" panose="02020603050405020304" pitchFamily="18" charset="0"/>
                        </a:rPr>
                        <a:t>scheduled</a:t>
                      </a:r>
                      <a:endPar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300" b="1" kern="100" dirty="0">
                          <a:effectLst/>
                          <a:latin typeface="Times New Roman" panose="02020603050405020304" pitchFamily="18" charset="0"/>
                          <a:ea typeface="標楷體" panose="03000509000000000000" pitchFamily="65" charset="-120"/>
                          <a:cs typeface="Times New Roman" panose="02020603050405020304" pitchFamily="18" charset="0"/>
                        </a:rPr>
                        <a:t>name</a:t>
                      </a:r>
                      <a:endPar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24828291"/>
                  </a:ext>
                </a:extLst>
              </a:tr>
              <a:tr h="288000">
                <a:tc gridSpan="5">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調整前</a:t>
                      </a:r>
                    </a:p>
                  </a:txBody>
                  <a:tcPr marL="68580" marR="68580" marT="0" marB="0" anchor="ctr">
                    <a:lnT w="19050" cap="flat" cmpd="sng" algn="ctr">
                      <a:solidFill>
                        <a:schemeClr val="tx1"/>
                      </a:solidFill>
                      <a:prstDash val="solid"/>
                      <a:round/>
                      <a:headEnd type="none" w="med" len="med"/>
                      <a:tailEnd type="none" w="med" len="med"/>
                    </a:lnT>
                    <a:solidFill>
                      <a:schemeClr val="bg1">
                        <a:lumMod val="95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3782272878"/>
                  </a:ext>
                </a:extLst>
              </a:tr>
              <a:tr h="288000">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11089</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tcP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989</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tcP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2025-11-01 01:15:15</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tcP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tcP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DELETE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8117286"/>
                  </a:ext>
                </a:extLst>
              </a:tr>
              <a:tr h="288000">
                <a:tc gridSpan="5">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調整後</a:t>
                      </a:r>
                    </a:p>
                  </a:txBody>
                  <a:tcPr marL="68580" marR="68580" marT="0" marB="0" anchor="ctr">
                    <a:lnT w="19050" cap="flat" cmpd="sng" algn="ctr">
                      <a:solidFill>
                        <a:schemeClr val="tx1"/>
                      </a:solidFill>
                      <a:prstDash val="solid"/>
                      <a:round/>
                      <a:headEnd type="none" w="med" len="med"/>
                      <a:tailEnd type="none" w="med" len="med"/>
                    </a:lnT>
                    <a:solidFill>
                      <a:schemeClr val="bg1">
                        <a:lumMod val="95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55610362"/>
                  </a:ext>
                </a:extLst>
              </a:tr>
              <a:tr h="288000">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11089</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989</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2025-11-01 08:21:32</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DELETE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783759183"/>
                  </a:ext>
                </a:extLst>
              </a:tr>
            </a:tbl>
          </a:graphicData>
        </a:graphic>
      </p:graphicFrame>
      <p:sp>
        <p:nvSpPr>
          <p:cNvPr id="26" name="Google Shape;230;p30">
            <a:extLst>
              <a:ext uri="{FF2B5EF4-FFF2-40B4-BE49-F238E27FC236}">
                <a16:creationId xmlns:a16="http://schemas.microsoft.com/office/drawing/2014/main" id="{6E4A8070-4E97-A5F1-8DF2-74B5AF68396D}"/>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4;p30">
            <a:hlinkClick r:id="" action="ppaction://hlinkshowjump?jump=firstslide"/>
            <a:extLst>
              <a:ext uri="{FF2B5EF4-FFF2-40B4-BE49-F238E27FC236}">
                <a16:creationId xmlns:a16="http://schemas.microsoft.com/office/drawing/2014/main" id="{DA2D9C5B-4B05-95B0-B03D-1DAA99483D17}"/>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Google Shape;234;p30">
            <a:hlinkClick r:id="" action="ppaction://hlinkshowjump?jump=firstslide"/>
            <a:extLst>
              <a:ext uri="{FF2B5EF4-FFF2-40B4-BE49-F238E27FC236}">
                <a16:creationId xmlns:a16="http://schemas.microsoft.com/office/drawing/2014/main" id="{DE2A85EB-E40B-8F5D-D524-F731FCCFA964}"/>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3" action="ppaction://hlinksldjump"/>
            <a:extLst>
              <a:ext uri="{FF2B5EF4-FFF2-40B4-BE49-F238E27FC236}">
                <a16:creationId xmlns:a16="http://schemas.microsoft.com/office/drawing/2014/main" id="{65F618AA-5922-84CE-BA5D-4576EAC8D0DB}"/>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矩形 29">
            <a:hlinkClick r:id="rId4" action="ppaction://hlinksldjump"/>
            <a:extLst>
              <a:ext uri="{FF2B5EF4-FFF2-40B4-BE49-F238E27FC236}">
                <a16:creationId xmlns:a16="http://schemas.microsoft.com/office/drawing/2014/main" id="{1555D9D9-DDC3-2264-7A86-5466763BA2A8}"/>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Google Shape;234;p30">
            <a:hlinkClick r:id="" action="ppaction://hlinkshowjump?jump=firstslide"/>
            <a:extLst>
              <a:ext uri="{FF2B5EF4-FFF2-40B4-BE49-F238E27FC236}">
                <a16:creationId xmlns:a16="http://schemas.microsoft.com/office/drawing/2014/main" id="{64CAA872-7FED-8584-24F7-24124B7F9580}"/>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5" action="ppaction://hlinksldjump"/>
            <a:extLst>
              <a:ext uri="{FF2B5EF4-FFF2-40B4-BE49-F238E27FC236}">
                <a16:creationId xmlns:a16="http://schemas.microsoft.com/office/drawing/2014/main" id="{B2F813EA-CC70-002C-1FE8-3E4EC5EDE61A}"/>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55A49A2C-C511-88F1-C35D-75E3E987F517}"/>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6" action="ppaction://hlinksldjump"/>
            <a:extLst>
              <a:ext uri="{FF2B5EF4-FFF2-40B4-BE49-F238E27FC236}">
                <a16:creationId xmlns:a16="http://schemas.microsoft.com/office/drawing/2014/main" id="{2013856A-B5AD-AFAA-2D53-B5B3773FDEA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B254F5DF-0375-B375-B52A-B4869C839A56}"/>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7" action="ppaction://hlinksldjump"/>
            <a:extLst>
              <a:ext uri="{FF2B5EF4-FFF2-40B4-BE49-F238E27FC236}">
                <a16:creationId xmlns:a16="http://schemas.microsoft.com/office/drawing/2014/main" id="{1AFF2F7C-548E-8376-8E21-226D2FC5F723}"/>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Google Shape;234;p30">
            <a:hlinkClick r:id="" action="ppaction://hlinkshowjump?jump=firstslide"/>
            <a:extLst>
              <a:ext uri="{FF2B5EF4-FFF2-40B4-BE49-F238E27FC236}">
                <a16:creationId xmlns:a16="http://schemas.microsoft.com/office/drawing/2014/main" id="{5C8BCD0A-F1B5-DEBC-3A57-E59842B5DD7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hlinkClick r:id="rId8" action="ppaction://hlinksldjump"/>
            <a:extLst>
              <a:ext uri="{FF2B5EF4-FFF2-40B4-BE49-F238E27FC236}">
                <a16:creationId xmlns:a16="http://schemas.microsoft.com/office/drawing/2014/main" id="{E1D5CA44-398A-FB05-8A62-895ED33DD43B}"/>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262711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414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434167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額外排程功能介紹（</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3/5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文字方塊 1">
            <a:extLst>
              <a:ext uri="{FF2B5EF4-FFF2-40B4-BE49-F238E27FC236}">
                <a16:creationId xmlns:a16="http://schemas.microsoft.com/office/drawing/2014/main" id="{0A9C669C-0805-6EF0-752A-9B6E5853EBE8}"/>
              </a:ext>
            </a:extLst>
          </p:cNvPr>
          <p:cNvSpPr txBox="1"/>
          <p:nvPr/>
        </p:nvSpPr>
        <p:spPr>
          <a:xfrm>
            <a:off x="34885" y="1376140"/>
            <a:ext cx="1445535" cy="338554"/>
          </a:xfrm>
          <a:prstGeom prst="rect">
            <a:avLst/>
          </a:prstGeom>
          <a:solidFill>
            <a:schemeClr val="tx2">
              <a:lumMod val="40000"/>
              <a:lumOff val="60000"/>
            </a:schemeClr>
          </a:solidFill>
        </p:spPr>
        <p:txBody>
          <a:bodyPr wrap="square" rtlCol="0">
            <a:spAutoFit/>
          </a:bodyPr>
          <a:lstStyle/>
          <a:p>
            <a:pPr algn="ctr"/>
            <a:r>
              <a:rPr lang="en-US" altLang="zh-TW" sz="1600" b="1" dirty="0" err="1">
                <a:latin typeface="Times New Roman" panose="02020603050405020304" pitchFamily="18" charset="0"/>
                <a:cs typeface="Times New Roman" panose="02020603050405020304" pitchFamily="18" charset="0"/>
              </a:rPr>
              <a:t>adjustActivity</a:t>
            </a:r>
            <a:endParaRPr lang="zh-TW" altLang="en-US" sz="1600" b="1"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A28DD3DF-F81C-3C43-2784-C1A640DE56BE}"/>
              </a:ext>
            </a:extLst>
          </p:cNvPr>
          <p:cNvGraphicFramePr>
            <a:graphicFrameLocks noGrp="1"/>
          </p:cNvGraphicFramePr>
          <p:nvPr>
            <p:extLst>
              <p:ext uri="{D42A27DB-BD31-4B8C-83A1-F6EECF244321}">
                <p14:modId xmlns:p14="http://schemas.microsoft.com/office/powerpoint/2010/main" val="3989596747"/>
              </p:ext>
            </p:extLst>
          </p:nvPr>
        </p:nvGraphicFramePr>
        <p:xfrm>
          <a:off x="97700" y="2009315"/>
          <a:ext cx="5786670" cy="2723132"/>
        </p:xfrm>
        <a:graphic>
          <a:graphicData uri="http://schemas.openxmlformats.org/drawingml/2006/table">
            <a:tbl>
              <a:tblPr firstRow="1" bandRow="1">
                <a:tableStyleId>{8B193ECF-1327-48E1-8871-2513AA109082}</a:tableStyleId>
              </a:tblPr>
              <a:tblGrid>
                <a:gridCol w="1280608">
                  <a:extLst>
                    <a:ext uri="{9D8B030D-6E8A-4147-A177-3AD203B41FA5}">
                      <a16:colId xmlns:a16="http://schemas.microsoft.com/office/drawing/2014/main" val="1562334339"/>
                    </a:ext>
                  </a:extLst>
                </a:gridCol>
                <a:gridCol w="4506062">
                  <a:extLst>
                    <a:ext uri="{9D8B030D-6E8A-4147-A177-3AD203B41FA5}">
                      <a16:colId xmlns:a16="http://schemas.microsoft.com/office/drawing/2014/main" val="2945574253"/>
                    </a:ext>
                  </a:extLst>
                </a:gridCol>
              </a:tblGrid>
              <a:tr h="370840">
                <a:tc>
                  <a:txBody>
                    <a:bodyPr/>
                    <a:lstStyle/>
                    <a:p>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傳入參數</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851559"/>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session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系統要考慮的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session</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434976"/>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contact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指定活動需調整到的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contact id</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5316275"/>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activity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本次要調整的活動。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4220"/>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adjust date</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希望本次調整的活動皆移至本時間之後。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8221390"/>
                  </a:ext>
                </a:extLst>
              </a:tr>
              <a:tr h="498092">
                <a:tc>
                  <a:txBody>
                    <a:bodyPr/>
                    <a:lstStyle/>
                    <a:p>
                      <a:pPr marL="0" indent="0">
                        <a:buFont typeface="Arial" panose="020B0604020202020204" pitchFamily="34" charset="0"/>
                        <a:buNone/>
                      </a:pPr>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範例</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481874"/>
                  </a:ext>
                </a:extLst>
              </a:tr>
              <a:tr h="370840">
                <a:tc gridSpan="2">
                  <a:txBody>
                    <a:bodyPr/>
                    <a:lstStyle/>
                    <a:p>
                      <a:pPr marL="0" indent="0">
                        <a:buFont typeface="Arial" panose="020B0604020202020204" pitchFamily="34" charset="0"/>
                        <a:buNone/>
                      </a:pPr>
                      <a:r>
                        <a:rPr lang="en-US" altLang="zh-TW" sz="1300" b="0" u="none" dirty="0" err="1">
                          <a:latin typeface="Times New Roman" panose="02020603050405020304" pitchFamily="18" charset="0"/>
                          <a:ea typeface="標楷體" panose="03000509000000000000" pitchFamily="65" charset="-120"/>
                          <a:cs typeface="Times New Roman" panose="02020603050405020304" pitchFamily="18" charset="0"/>
                        </a:rPr>
                        <a:t>adjustActivity</a:t>
                      </a:r>
                      <a:r>
                        <a:rPr lang="en-US" altLang="zh-TW" sz="1300" b="0" u="none" dirty="0">
                          <a:latin typeface="Times New Roman" panose="02020603050405020304" pitchFamily="18" charset="0"/>
                          <a:ea typeface="標楷體" panose="03000509000000000000" pitchFamily="65" charset="-120"/>
                          <a:cs typeface="Times New Roman" panose="02020603050405020304" pitchFamily="18" charset="0"/>
                        </a:rPr>
                        <a:t>(989, 77335, [470922, 470923, 470924], 2025-11-01 10:28:33)</a:t>
                      </a:r>
                      <a:endParaRPr lang="zh-TW" altLang="en-US" sz="1300" b="0" u="none"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558817"/>
                  </a:ext>
                </a:extLst>
              </a:tr>
            </a:tbl>
          </a:graphicData>
        </a:graphic>
      </p:graphicFrame>
      <p:sp>
        <p:nvSpPr>
          <p:cNvPr id="4" name="文字方塊 3">
            <a:extLst>
              <a:ext uri="{FF2B5EF4-FFF2-40B4-BE49-F238E27FC236}">
                <a16:creationId xmlns:a16="http://schemas.microsoft.com/office/drawing/2014/main" id="{82A4CDDF-B07F-CEAB-76AC-969540588AA6}"/>
              </a:ext>
            </a:extLst>
          </p:cNvPr>
          <p:cNvSpPr txBox="1"/>
          <p:nvPr/>
        </p:nvSpPr>
        <p:spPr>
          <a:xfrm>
            <a:off x="1512788" y="1284304"/>
            <a:ext cx="7498987" cy="523220"/>
          </a:xfrm>
          <a:prstGeom prst="rect">
            <a:avLst/>
          </a:prstGeom>
          <a:noFill/>
        </p:spPr>
        <p:txBody>
          <a:bodyPr wrap="square">
            <a:spAutoFit/>
          </a:bodyPr>
          <a:lstStyle/>
          <a:p>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針對</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已排程的活動調整執行時間</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，在不影響其他已排程活動的前提下，嘗試進行</a:t>
            </a:r>
            <a:r>
              <a:rPr lang="en-US" altLang="zh-TW" sz="1400" kern="100" dirty="0">
                <a:effectLst/>
                <a:latin typeface="Times New Roman" panose="02020603050405020304" pitchFamily="18" charset="0"/>
                <a:ea typeface="標楷體" panose="03000509000000000000" pitchFamily="65" charset="-120"/>
              </a:rPr>
              <a:t>hot scheduling</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，看是否能依照使用者需求進行調整，若系統發現無法滿足使用者需求，則不做調整。</a:t>
            </a:r>
            <a:endParaRPr lang="zh-TW" altLang="en-US" dirty="0"/>
          </a:p>
        </p:txBody>
      </p:sp>
      <p:graphicFrame>
        <p:nvGraphicFramePr>
          <p:cNvPr id="6" name="表格 5">
            <a:extLst>
              <a:ext uri="{FF2B5EF4-FFF2-40B4-BE49-F238E27FC236}">
                <a16:creationId xmlns:a16="http://schemas.microsoft.com/office/drawing/2014/main" id="{873DD063-DDD3-F63B-3184-46598971476C}"/>
              </a:ext>
            </a:extLst>
          </p:cNvPr>
          <p:cNvGraphicFramePr>
            <a:graphicFrameLocks noGrp="1"/>
          </p:cNvGraphicFramePr>
          <p:nvPr>
            <p:extLst>
              <p:ext uri="{D42A27DB-BD31-4B8C-83A1-F6EECF244321}">
                <p14:modId xmlns:p14="http://schemas.microsoft.com/office/powerpoint/2010/main" val="29480586"/>
              </p:ext>
            </p:extLst>
          </p:nvPr>
        </p:nvGraphicFramePr>
        <p:xfrm>
          <a:off x="4768989" y="3084418"/>
          <a:ext cx="4148434" cy="1152000"/>
        </p:xfrm>
        <a:graphic>
          <a:graphicData uri="http://schemas.openxmlformats.org/drawingml/2006/table">
            <a:tbl>
              <a:tblPr firstRow="1" firstCol="1" bandRow="1">
                <a:tableStyleId>{8B193ECF-1327-48E1-8871-2513AA109082}</a:tableStyleId>
              </a:tblPr>
              <a:tblGrid>
                <a:gridCol w="741687">
                  <a:extLst>
                    <a:ext uri="{9D8B030D-6E8A-4147-A177-3AD203B41FA5}">
                      <a16:colId xmlns:a16="http://schemas.microsoft.com/office/drawing/2014/main" val="3371276322"/>
                    </a:ext>
                  </a:extLst>
                </a:gridCol>
                <a:gridCol w="849664">
                  <a:extLst>
                    <a:ext uri="{9D8B030D-6E8A-4147-A177-3AD203B41FA5}">
                      <a16:colId xmlns:a16="http://schemas.microsoft.com/office/drawing/2014/main" val="4163691912"/>
                    </a:ext>
                  </a:extLst>
                </a:gridCol>
                <a:gridCol w="1602223">
                  <a:extLst>
                    <a:ext uri="{9D8B030D-6E8A-4147-A177-3AD203B41FA5}">
                      <a16:colId xmlns:a16="http://schemas.microsoft.com/office/drawing/2014/main" val="4266069982"/>
                    </a:ext>
                  </a:extLst>
                </a:gridCol>
                <a:gridCol w="954860">
                  <a:extLst>
                    <a:ext uri="{9D8B030D-6E8A-4147-A177-3AD203B41FA5}">
                      <a16:colId xmlns:a16="http://schemas.microsoft.com/office/drawing/2014/main" val="2027641482"/>
                    </a:ext>
                  </a:extLst>
                </a:gridCol>
              </a:tblGrid>
              <a:tr h="288000">
                <a:tc>
                  <a:txBody>
                    <a:bodyPr/>
                    <a:lstStyle/>
                    <a:p>
                      <a:pPr algn="ctr"/>
                      <a:r>
                        <a:rPr lang="en-US" sz="1300" b="1" kern="100" dirty="0">
                          <a:effectLst/>
                          <a:latin typeface="Times New Roman" panose="02020603050405020304" pitchFamily="18" charset="0"/>
                          <a:cs typeface="Times New Roman" panose="02020603050405020304" pitchFamily="18" charset="0"/>
                        </a:rPr>
                        <a:t>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err="1">
                          <a:effectLst/>
                          <a:latin typeface="Times New Roman" panose="02020603050405020304" pitchFamily="18" charset="0"/>
                          <a:cs typeface="Times New Roman" panose="02020603050405020304" pitchFamily="18" charset="0"/>
                        </a:rPr>
                        <a:t>sessionid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err="1">
                          <a:effectLst/>
                          <a:latin typeface="Times New Roman" panose="02020603050405020304" pitchFamily="18" charset="0"/>
                          <a:cs typeface="Times New Roman" panose="02020603050405020304" pitchFamily="18" charset="0"/>
                        </a:rPr>
                        <a:t>starttime</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a:effectLst/>
                          <a:latin typeface="Times New Roman" panose="02020603050405020304" pitchFamily="18" charset="0"/>
                          <a:cs typeface="Times New Roman" panose="02020603050405020304" pitchFamily="18" charset="0"/>
                        </a:rPr>
                        <a:t>scheduled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extLst>
                  <a:ext uri="{0D108BD9-81ED-4DB2-BD59-A6C34878D82A}">
                    <a16:rowId xmlns:a16="http://schemas.microsoft.com/office/drawing/2014/main" val="1657157274"/>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470922</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2025-11-01 02:36:13</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1</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4152642410"/>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470923</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2025-11-01 02:37:26</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1</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799705364"/>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470924</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2025-11-01 02:37:52</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1</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29541569"/>
                  </a:ext>
                </a:extLst>
              </a:tr>
            </a:tbl>
          </a:graphicData>
        </a:graphic>
      </p:graphicFrame>
      <p:sp>
        <p:nvSpPr>
          <p:cNvPr id="8" name="Google Shape;230;p30">
            <a:extLst>
              <a:ext uri="{FF2B5EF4-FFF2-40B4-BE49-F238E27FC236}">
                <a16:creationId xmlns:a16="http://schemas.microsoft.com/office/drawing/2014/main" id="{2E5634D9-34E0-71C0-8041-E0F51A332879}"/>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4;p30">
            <a:hlinkClick r:id="" action="ppaction://hlinkshowjump?jump=firstslide"/>
            <a:extLst>
              <a:ext uri="{FF2B5EF4-FFF2-40B4-BE49-F238E27FC236}">
                <a16:creationId xmlns:a16="http://schemas.microsoft.com/office/drawing/2014/main" id="{DEE3EDAA-BF64-1861-CFCC-7D44041AB3A4}"/>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Google Shape;234;p30">
            <a:hlinkClick r:id="" action="ppaction://hlinkshowjump?jump=firstslide"/>
            <a:extLst>
              <a:ext uri="{FF2B5EF4-FFF2-40B4-BE49-F238E27FC236}">
                <a16:creationId xmlns:a16="http://schemas.microsoft.com/office/drawing/2014/main" id="{EE062995-7A39-F50B-89B5-91E35328CAFD}"/>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3" action="ppaction://hlinksldjump"/>
            <a:extLst>
              <a:ext uri="{FF2B5EF4-FFF2-40B4-BE49-F238E27FC236}">
                <a16:creationId xmlns:a16="http://schemas.microsoft.com/office/drawing/2014/main" id="{776CE526-4D8A-1FC8-DDE9-D73D1C080343}"/>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hlinkClick r:id="rId4" action="ppaction://hlinksldjump"/>
            <a:extLst>
              <a:ext uri="{FF2B5EF4-FFF2-40B4-BE49-F238E27FC236}">
                <a16:creationId xmlns:a16="http://schemas.microsoft.com/office/drawing/2014/main" id="{541A1C5D-BA5A-B10A-D879-7CC3E84FE027}"/>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Google Shape;234;p30">
            <a:hlinkClick r:id="" action="ppaction://hlinkshowjump?jump=firstslide"/>
            <a:extLst>
              <a:ext uri="{FF2B5EF4-FFF2-40B4-BE49-F238E27FC236}">
                <a16:creationId xmlns:a16="http://schemas.microsoft.com/office/drawing/2014/main" id="{DF43A0F6-A535-00DC-0A84-042BFADB6ABB}"/>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5" action="ppaction://hlinksldjump"/>
            <a:extLst>
              <a:ext uri="{FF2B5EF4-FFF2-40B4-BE49-F238E27FC236}">
                <a16:creationId xmlns:a16="http://schemas.microsoft.com/office/drawing/2014/main" id="{CD993B5A-654A-5169-7284-3212223B3C63}"/>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C1764A3F-E6AE-A62F-E06F-B95017C1836C}"/>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6" action="ppaction://hlinksldjump"/>
            <a:extLst>
              <a:ext uri="{FF2B5EF4-FFF2-40B4-BE49-F238E27FC236}">
                <a16:creationId xmlns:a16="http://schemas.microsoft.com/office/drawing/2014/main" id="{D33B11B2-B20F-815D-CE19-019786D90E95}"/>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E1F19BD7-99C0-D5A1-F315-7A9BBDB63D0A}"/>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7" action="ppaction://hlinksldjump"/>
            <a:extLst>
              <a:ext uri="{FF2B5EF4-FFF2-40B4-BE49-F238E27FC236}">
                <a16:creationId xmlns:a16="http://schemas.microsoft.com/office/drawing/2014/main" id="{AB701C2A-D666-08ED-8498-2D1F7B709307}"/>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169D0F61-2DFE-E858-E53E-43CE5D219C5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8" action="ppaction://hlinksldjump"/>
            <a:extLst>
              <a:ext uri="{FF2B5EF4-FFF2-40B4-BE49-F238E27FC236}">
                <a16:creationId xmlns:a16="http://schemas.microsoft.com/office/drawing/2014/main" id="{8343F14F-4CC1-37F8-1F1E-6C5A359CAE86}"/>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98529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414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434167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額外排程功能介紹（</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4/5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文字方塊 1">
            <a:extLst>
              <a:ext uri="{FF2B5EF4-FFF2-40B4-BE49-F238E27FC236}">
                <a16:creationId xmlns:a16="http://schemas.microsoft.com/office/drawing/2014/main" id="{0A9C669C-0805-6EF0-752A-9B6E5853EBE8}"/>
              </a:ext>
            </a:extLst>
          </p:cNvPr>
          <p:cNvSpPr txBox="1"/>
          <p:nvPr/>
        </p:nvSpPr>
        <p:spPr>
          <a:xfrm>
            <a:off x="34885" y="1376140"/>
            <a:ext cx="1988124" cy="338554"/>
          </a:xfrm>
          <a:prstGeom prst="rect">
            <a:avLst/>
          </a:prstGeom>
          <a:solidFill>
            <a:schemeClr val="tx2">
              <a:lumMod val="40000"/>
              <a:lumOff val="60000"/>
            </a:schemeClr>
          </a:solidFill>
        </p:spPr>
        <p:txBody>
          <a:bodyPr wrap="square" rtlCol="0">
            <a:spAutoFit/>
          </a:bodyPr>
          <a:lstStyle/>
          <a:p>
            <a:pPr algn="ctr"/>
            <a:r>
              <a:rPr lang="en-US" altLang="zh-TW" sz="1600" b="1" dirty="0">
                <a:latin typeface="Times New Roman" panose="02020603050405020304" pitchFamily="18" charset="0"/>
                <a:cs typeface="Times New Roman" panose="02020603050405020304" pitchFamily="18" charset="0"/>
              </a:rPr>
              <a:t>runUIReFilterHot1</a:t>
            </a:r>
            <a:endParaRPr lang="zh-TW" altLang="en-US" sz="1600" b="1"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A28DD3DF-F81C-3C43-2784-C1A640DE56BE}"/>
              </a:ext>
            </a:extLst>
          </p:cNvPr>
          <p:cNvGraphicFramePr>
            <a:graphicFrameLocks noGrp="1"/>
          </p:cNvGraphicFramePr>
          <p:nvPr>
            <p:extLst>
              <p:ext uri="{D42A27DB-BD31-4B8C-83A1-F6EECF244321}">
                <p14:modId xmlns:p14="http://schemas.microsoft.com/office/powerpoint/2010/main" val="4038511037"/>
              </p:ext>
            </p:extLst>
          </p:nvPr>
        </p:nvGraphicFramePr>
        <p:xfrm>
          <a:off x="97700" y="2009315"/>
          <a:ext cx="5947050" cy="2723132"/>
        </p:xfrm>
        <a:graphic>
          <a:graphicData uri="http://schemas.openxmlformats.org/drawingml/2006/table">
            <a:tbl>
              <a:tblPr firstRow="1" bandRow="1">
                <a:tableStyleId>{8B193ECF-1327-48E1-8871-2513AA109082}</a:tableStyleId>
              </a:tblPr>
              <a:tblGrid>
                <a:gridCol w="1280608">
                  <a:extLst>
                    <a:ext uri="{9D8B030D-6E8A-4147-A177-3AD203B41FA5}">
                      <a16:colId xmlns:a16="http://schemas.microsoft.com/office/drawing/2014/main" val="1562334339"/>
                    </a:ext>
                  </a:extLst>
                </a:gridCol>
                <a:gridCol w="4666442">
                  <a:extLst>
                    <a:ext uri="{9D8B030D-6E8A-4147-A177-3AD203B41FA5}">
                      <a16:colId xmlns:a16="http://schemas.microsoft.com/office/drawing/2014/main" val="2945574253"/>
                    </a:ext>
                  </a:extLst>
                </a:gridCol>
              </a:tblGrid>
              <a:tr h="370840">
                <a:tc>
                  <a:txBody>
                    <a:bodyPr/>
                    <a:lstStyle/>
                    <a:p>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傳入參數</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851559"/>
                  </a:ext>
                </a:extLst>
              </a:tr>
              <a:tr h="370840">
                <a:tc>
                  <a:txBody>
                    <a:bodyPr/>
                    <a:lstStyle/>
                    <a:p>
                      <a:pPr marL="0" indent="-108000">
                        <a:buFont typeface="Arial" panose="020B0604020202020204" pitchFamily="34" charset="0"/>
                        <a:buChar char="•"/>
                      </a:pPr>
                      <a:r>
                        <a:rPr lang="en-US" altLang="zh-TW" sz="1300" b="1"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start time</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本次要調整的活動開始時間需在此時間之後。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434976"/>
                  </a:ext>
                </a:extLst>
              </a:tr>
              <a:tr h="370840">
                <a:tc>
                  <a:txBody>
                    <a:bodyPr/>
                    <a:lstStyle/>
                    <a:p>
                      <a:pPr marL="0" indent="-108000">
                        <a:buFont typeface="Arial" panose="020B0604020202020204" pitchFamily="34" charset="0"/>
                        <a:buChar char="•"/>
                      </a:pPr>
                      <a:r>
                        <a:rPr lang="en-US" altLang="zh-TW" sz="1300" b="1"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end time</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本次要調整的活動結束時間需在此時間之前。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5316275"/>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site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指定活動可被安排至哪些</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site id</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4220"/>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activity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本次考慮的未排入活動。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8221390"/>
                  </a:ext>
                </a:extLst>
              </a:tr>
              <a:tr h="498092">
                <a:tc>
                  <a:txBody>
                    <a:bodyPr/>
                    <a:lstStyle/>
                    <a:p>
                      <a:pPr marL="0" indent="0">
                        <a:buFont typeface="Arial" panose="020B0604020202020204" pitchFamily="34" charset="0"/>
                        <a:buNone/>
                      </a:pPr>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範例</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481874"/>
                  </a:ext>
                </a:extLst>
              </a:tr>
              <a:tr h="370840">
                <a:tc gridSpan="2">
                  <a:txBody>
                    <a:bodyPr/>
                    <a:lstStyle/>
                    <a:p>
                      <a:pPr marL="0" indent="0">
                        <a:buFont typeface="Arial" panose="020B0604020202020204" pitchFamily="34" charset="0"/>
                        <a:buNone/>
                      </a:pPr>
                      <a:r>
                        <a:rPr lang="en-US" altLang="zh-TW" sz="1300" b="0" u="none" dirty="0" err="1">
                          <a:latin typeface="Times New Roman" panose="02020603050405020304" pitchFamily="18" charset="0"/>
                          <a:ea typeface="標楷體" panose="03000509000000000000" pitchFamily="65" charset="-120"/>
                          <a:cs typeface="Times New Roman" panose="02020603050405020304" pitchFamily="18" charset="0"/>
                        </a:rPr>
                        <a:t>runUIReFilterHot</a:t>
                      </a:r>
                      <a:r>
                        <a:rPr lang="en-US" altLang="zh-TW" sz="1300" b="0" u="none" dirty="0">
                          <a:latin typeface="Times New Roman" panose="02020603050405020304" pitchFamily="18" charset="0"/>
                          <a:ea typeface="標楷體" panose="03000509000000000000" pitchFamily="65" charset="-120"/>
                          <a:cs typeface="Times New Roman" panose="02020603050405020304" pitchFamily="18" charset="0"/>
                        </a:rPr>
                        <a:t>(2025-11-01 09:27:32, 2025-11-01 15:31:28, [154], [12345, 12346])</a:t>
                      </a:r>
                      <a:endParaRPr lang="zh-TW" altLang="en-US" sz="1300" b="0" u="none"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558817"/>
                  </a:ext>
                </a:extLst>
              </a:tr>
            </a:tbl>
          </a:graphicData>
        </a:graphic>
      </p:graphicFrame>
      <p:sp>
        <p:nvSpPr>
          <p:cNvPr id="5" name="文字方塊 4">
            <a:extLst>
              <a:ext uri="{FF2B5EF4-FFF2-40B4-BE49-F238E27FC236}">
                <a16:creationId xmlns:a16="http://schemas.microsoft.com/office/drawing/2014/main" id="{70797905-FBC0-EC51-A85F-53121B1175EC}"/>
              </a:ext>
            </a:extLst>
          </p:cNvPr>
          <p:cNvSpPr txBox="1"/>
          <p:nvPr/>
        </p:nvSpPr>
        <p:spPr>
          <a:xfrm>
            <a:off x="2070000" y="1254269"/>
            <a:ext cx="6583647" cy="587277"/>
          </a:xfrm>
          <a:prstGeom prst="rect">
            <a:avLst/>
          </a:prstGeom>
          <a:noFill/>
        </p:spPr>
        <p:txBody>
          <a:bodyPr wrap="square">
            <a:spAutoFit/>
          </a:bodyPr>
          <a:lstStyle/>
          <a:p>
            <a:pPr>
              <a:lnSpc>
                <a:spcPct val="120000"/>
              </a:lnSpc>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針對</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未排程的活動</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，嘗試在不影響其他已排程活動的前提下，進行</a:t>
            </a:r>
            <a:r>
              <a:rPr lang="en-US" altLang="zh-TW" sz="1400" kern="100" dirty="0">
                <a:effectLst/>
                <a:latin typeface="Times New Roman" panose="02020603050405020304" pitchFamily="18" charset="0"/>
                <a:ea typeface="標楷體" panose="03000509000000000000" pitchFamily="65" charset="-120"/>
              </a:rPr>
              <a:t>hot scheduling</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看是否能被排入。</a:t>
            </a:r>
            <a:endParaRPr lang="zh-TW" altLang="en-US" dirty="0"/>
          </a:p>
        </p:txBody>
      </p:sp>
      <p:graphicFrame>
        <p:nvGraphicFramePr>
          <p:cNvPr id="7" name="表格 6">
            <a:extLst>
              <a:ext uri="{FF2B5EF4-FFF2-40B4-BE49-F238E27FC236}">
                <a16:creationId xmlns:a16="http://schemas.microsoft.com/office/drawing/2014/main" id="{518624C8-CD74-3E14-22D9-70DF60B5414F}"/>
              </a:ext>
            </a:extLst>
          </p:cNvPr>
          <p:cNvGraphicFramePr>
            <a:graphicFrameLocks noGrp="1"/>
          </p:cNvGraphicFramePr>
          <p:nvPr>
            <p:extLst>
              <p:ext uri="{D42A27DB-BD31-4B8C-83A1-F6EECF244321}">
                <p14:modId xmlns:p14="http://schemas.microsoft.com/office/powerpoint/2010/main" val="1506959750"/>
              </p:ext>
            </p:extLst>
          </p:nvPr>
        </p:nvGraphicFramePr>
        <p:xfrm>
          <a:off x="5262476" y="3301955"/>
          <a:ext cx="3636391" cy="864000"/>
        </p:xfrm>
        <a:graphic>
          <a:graphicData uri="http://schemas.openxmlformats.org/drawingml/2006/table">
            <a:tbl>
              <a:tblPr firstRow="1" firstCol="1" bandRow="1">
                <a:tableStyleId>{8B193ECF-1327-48E1-8871-2513AA109082}</a:tableStyleId>
              </a:tblPr>
              <a:tblGrid>
                <a:gridCol w="719138">
                  <a:extLst>
                    <a:ext uri="{9D8B030D-6E8A-4147-A177-3AD203B41FA5}">
                      <a16:colId xmlns:a16="http://schemas.microsoft.com/office/drawing/2014/main" val="2618541579"/>
                    </a:ext>
                  </a:extLst>
                </a:gridCol>
                <a:gridCol w="800735">
                  <a:extLst>
                    <a:ext uri="{9D8B030D-6E8A-4147-A177-3AD203B41FA5}">
                      <a16:colId xmlns:a16="http://schemas.microsoft.com/office/drawing/2014/main" val="1043937204"/>
                    </a:ext>
                  </a:extLst>
                </a:gridCol>
                <a:gridCol w="875347">
                  <a:extLst>
                    <a:ext uri="{9D8B030D-6E8A-4147-A177-3AD203B41FA5}">
                      <a16:colId xmlns:a16="http://schemas.microsoft.com/office/drawing/2014/main" val="2370087704"/>
                    </a:ext>
                  </a:extLst>
                </a:gridCol>
                <a:gridCol w="1241171">
                  <a:extLst>
                    <a:ext uri="{9D8B030D-6E8A-4147-A177-3AD203B41FA5}">
                      <a16:colId xmlns:a16="http://schemas.microsoft.com/office/drawing/2014/main" val="3186015882"/>
                    </a:ext>
                  </a:extLst>
                </a:gridCol>
              </a:tblGrid>
              <a:tr h="288000">
                <a:tc>
                  <a:txBody>
                    <a:bodyPr/>
                    <a:lstStyle/>
                    <a:p>
                      <a:pPr algn="ctr"/>
                      <a:r>
                        <a:rPr lang="en-US" sz="1300" b="1" kern="100" dirty="0">
                          <a:effectLst/>
                          <a:latin typeface="Times New Roman" panose="02020603050405020304" pitchFamily="18" charset="0"/>
                          <a:cs typeface="Times New Roman" panose="02020603050405020304" pitchFamily="18" charset="0"/>
                        </a:rPr>
                        <a:t>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err="1">
                          <a:effectLst/>
                          <a:latin typeface="Times New Roman" panose="02020603050405020304" pitchFamily="18" charset="0"/>
                          <a:cs typeface="Times New Roman" panose="02020603050405020304" pitchFamily="18" charset="0"/>
                        </a:rPr>
                        <a:t>sessionid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a:effectLst/>
                          <a:latin typeface="Times New Roman" panose="02020603050405020304" pitchFamily="18" charset="0"/>
                          <a:cs typeface="Times New Roman" panose="02020603050405020304" pitchFamily="18" charset="0"/>
                        </a:rPr>
                        <a:t>scheduled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a:solidFill>
                            <a:srgbClr val="000000"/>
                          </a:solidFill>
                          <a:effectLst/>
                          <a:latin typeface="Times New Roman" panose="02020603050405020304" pitchFamily="18" charset="0"/>
                          <a:ea typeface="標楷體" panose="03000509000000000000" pitchFamily="65" charset="-120"/>
                        </a:rPr>
                        <a:t>name</a:t>
                      </a:r>
                      <a:endParaRPr lang="zh-TW" sz="1300" kern="100" dirty="0">
                        <a:effectLst/>
                        <a:latin typeface="Times New Roman" panose="02020603050405020304" pitchFamily="18" charset="0"/>
                        <a:ea typeface="新細明體" panose="02020500000000000000" pitchFamily="18" charset="-120"/>
                      </a:endParaRPr>
                    </a:p>
                  </a:txBody>
                  <a:tcPr marL="68580" marR="68580" marT="0" marB="0" anchor="ctr">
                    <a:solidFill>
                      <a:schemeClr val="bg1">
                        <a:lumMod val="85000"/>
                      </a:schemeClr>
                    </a:solidFill>
                  </a:tcPr>
                </a:tc>
                <a:extLst>
                  <a:ext uri="{0D108BD9-81ED-4DB2-BD59-A6C34878D82A}">
                    <a16:rowId xmlns:a16="http://schemas.microsoft.com/office/drawing/2014/main" val="3324859469"/>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12345</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0</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ea typeface="標楷體" panose="03000509000000000000" pitchFamily="65" charset="-120"/>
                        </a:rPr>
                        <a:t>RSI_PBK: PAN</a:t>
                      </a:r>
                      <a:endParaRPr lang="zh-TW" sz="1300" kern="100">
                        <a:effectLst/>
                        <a:latin typeface="Times New Roman" panose="02020603050405020304" pitchFamily="18" charset="0"/>
                        <a:ea typeface="新細明體" panose="02020500000000000000" pitchFamily="18" charset="-120"/>
                      </a:endParaRPr>
                    </a:p>
                  </a:txBody>
                  <a:tcPr marL="68580" marR="68580" marT="0" marB="0" anchor="ctr"/>
                </a:tc>
                <a:extLst>
                  <a:ext uri="{0D108BD9-81ED-4DB2-BD59-A6C34878D82A}">
                    <a16:rowId xmlns:a16="http://schemas.microsoft.com/office/drawing/2014/main" val="864325068"/>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12346</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0</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rPr>
                        <a:t>RSI_PBK: MS</a:t>
                      </a:r>
                      <a:endParaRPr lang="zh-TW" sz="1300" kern="100" dirty="0">
                        <a:effectLst/>
                        <a:latin typeface="Times New Roman" panose="02020603050405020304" pitchFamily="18" charset="0"/>
                        <a:ea typeface="新細明體" panose="02020500000000000000" pitchFamily="18" charset="-120"/>
                      </a:endParaRPr>
                    </a:p>
                  </a:txBody>
                  <a:tcPr marL="68580" marR="68580" marT="0" marB="0" anchor="ctr"/>
                </a:tc>
                <a:extLst>
                  <a:ext uri="{0D108BD9-81ED-4DB2-BD59-A6C34878D82A}">
                    <a16:rowId xmlns:a16="http://schemas.microsoft.com/office/drawing/2014/main" val="2606799362"/>
                  </a:ext>
                </a:extLst>
              </a:tr>
            </a:tbl>
          </a:graphicData>
        </a:graphic>
      </p:graphicFrame>
      <p:sp>
        <p:nvSpPr>
          <p:cNvPr id="8" name="Google Shape;230;p30">
            <a:extLst>
              <a:ext uri="{FF2B5EF4-FFF2-40B4-BE49-F238E27FC236}">
                <a16:creationId xmlns:a16="http://schemas.microsoft.com/office/drawing/2014/main" id="{80F37C4D-D2C9-0BF8-F3F3-67CDC8029BD7}"/>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4;p30">
            <a:hlinkClick r:id="" action="ppaction://hlinkshowjump?jump=firstslide"/>
            <a:extLst>
              <a:ext uri="{FF2B5EF4-FFF2-40B4-BE49-F238E27FC236}">
                <a16:creationId xmlns:a16="http://schemas.microsoft.com/office/drawing/2014/main" id="{4D5079D0-D250-57DD-4BF6-845C5A67B3C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Google Shape;234;p30">
            <a:hlinkClick r:id="" action="ppaction://hlinkshowjump?jump=firstslide"/>
            <a:extLst>
              <a:ext uri="{FF2B5EF4-FFF2-40B4-BE49-F238E27FC236}">
                <a16:creationId xmlns:a16="http://schemas.microsoft.com/office/drawing/2014/main" id="{F9225D32-E028-2556-2320-6D6B4BC2CEA3}"/>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3" action="ppaction://hlinksldjump"/>
            <a:extLst>
              <a:ext uri="{FF2B5EF4-FFF2-40B4-BE49-F238E27FC236}">
                <a16:creationId xmlns:a16="http://schemas.microsoft.com/office/drawing/2014/main" id="{7CAA196A-2898-BA67-7FAF-262CE89523E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hlinkClick r:id="rId4" action="ppaction://hlinksldjump"/>
            <a:extLst>
              <a:ext uri="{FF2B5EF4-FFF2-40B4-BE49-F238E27FC236}">
                <a16:creationId xmlns:a16="http://schemas.microsoft.com/office/drawing/2014/main" id="{1A525B85-6C0B-7FC2-9A45-BDC4D8795013}"/>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Google Shape;234;p30">
            <a:hlinkClick r:id="" action="ppaction://hlinkshowjump?jump=firstslide"/>
            <a:extLst>
              <a:ext uri="{FF2B5EF4-FFF2-40B4-BE49-F238E27FC236}">
                <a16:creationId xmlns:a16="http://schemas.microsoft.com/office/drawing/2014/main" id="{E3B40262-6FF7-860F-FE5F-0EBD90F18C07}"/>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5" action="ppaction://hlinksldjump"/>
            <a:extLst>
              <a:ext uri="{FF2B5EF4-FFF2-40B4-BE49-F238E27FC236}">
                <a16:creationId xmlns:a16="http://schemas.microsoft.com/office/drawing/2014/main" id="{136A7675-D72E-AC80-B9E7-3796334808C6}"/>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F85D97D2-D013-4273-EAE3-F57A1B0ADC39}"/>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6" action="ppaction://hlinksldjump"/>
            <a:extLst>
              <a:ext uri="{FF2B5EF4-FFF2-40B4-BE49-F238E27FC236}">
                <a16:creationId xmlns:a16="http://schemas.microsoft.com/office/drawing/2014/main" id="{BEEC389F-0E94-7FBB-E9A5-59D2E21C8A5A}"/>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8CADFC94-8EE9-B053-A6DF-E4AF81577FE7}"/>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7" action="ppaction://hlinksldjump"/>
            <a:extLst>
              <a:ext uri="{FF2B5EF4-FFF2-40B4-BE49-F238E27FC236}">
                <a16:creationId xmlns:a16="http://schemas.microsoft.com/office/drawing/2014/main" id="{1B3B1EC2-4AE3-9F58-8B23-0C532C12C4D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1248F2F1-53EC-D024-3530-33A1C07D6C55}"/>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8" action="ppaction://hlinksldjump"/>
            <a:extLst>
              <a:ext uri="{FF2B5EF4-FFF2-40B4-BE49-F238E27FC236}">
                <a16:creationId xmlns:a16="http://schemas.microsoft.com/office/drawing/2014/main" id="{A24623A8-68FD-B131-DAA9-B15C21B0FF0B}"/>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21486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414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434167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額外排程功能介紹（</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5/5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文字方塊 1">
            <a:extLst>
              <a:ext uri="{FF2B5EF4-FFF2-40B4-BE49-F238E27FC236}">
                <a16:creationId xmlns:a16="http://schemas.microsoft.com/office/drawing/2014/main" id="{0A9C669C-0805-6EF0-752A-9B6E5853EBE8}"/>
              </a:ext>
            </a:extLst>
          </p:cNvPr>
          <p:cNvSpPr txBox="1"/>
          <p:nvPr/>
        </p:nvSpPr>
        <p:spPr>
          <a:xfrm>
            <a:off x="34885" y="1376140"/>
            <a:ext cx="1988124" cy="338554"/>
          </a:xfrm>
          <a:prstGeom prst="rect">
            <a:avLst/>
          </a:prstGeom>
          <a:solidFill>
            <a:schemeClr val="tx2">
              <a:lumMod val="40000"/>
              <a:lumOff val="60000"/>
            </a:schemeClr>
          </a:solidFill>
        </p:spPr>
        <p:txBody>
          <a:bodyPr wrap="square" rtlCol="0">
            <a:spAutoFit/>
          </a:bodyPr>
          <a:lstStyle/>
          <a:p>
            <a:pPr algn="ctr"/>
            <a:r>
              <a:rPr lang="en-US" altLang="zh-TW" sz="1600" b="1" dirty="0">
                <a:latin typeface="Times New Roman" panose="02020603050405020304" pitchFamily="18" charset="0"/>
                <a:cs typeface="Times New Roman" panose="02020603050405020304" pitchFamily="18" charset="0"/>
              </a:rPr>
              <a:t>runUIReFilterHot2</a:t>
            </a:r>
            <a:endParaRPr lang="zh-TW" altLang="en-US" sz="1600" b="1"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A28DD3DF-F81C-3C43-2784-C1A640DE56BE}"/>
              </a:ext>
            </a:extLst>
          </p:cNvPr>
          <p:cNvGraphicFramePr>
            <a:graphicFrameLocks noGrp="1"/>
          </p:cNvGraphicFramePr>
          <p:nvPr>
            <p:extLst>
              <p:ext uri="{D42A27DB-BD31-4B8C-83A1-F6EECF244321}">
                <p14:modId xmlns:p14="http://schemas.microsoft.com/office/powerpoint/2010/main" val="3648286975"/>
              </p:ext>
            </p:extLst>
          </p:nvPr>
        </p:nvGraphicFramePr>
        <p:xfrm>
          <a:off x="97700" y="2009315"/>
          <a:ext cx="5947050" cy="2739316"/>
        </p:xfrm>
        <a:graphic>
          <a:graphicData uri="http://schemas.openxmlformats.org/drawingml/2006/table">
            <a:tbl>
              <a:tblPr firstRow="1" bandRow="1">
                <a:tableStyleId>{8B193ECF-1327-48E1-8871-2513AA109082}</a:tableStyleId>
              </a:tblPr>
              <a:tblGrid>
                <a:gridCol w="1280608">
                  <a:extLst>
                    <a:ext uri="{9D8B030D-6E8A-4147-A177-3AD203B41FA5}">
                      <a16:colId xmlns:a16="http://schemas.microsoft.com/office/drawing/2014/main" val="1562334339"/>
                    </a:ext>
                  </a:extLst>
                </a:gridCol>
                <a:gridCol w="4666442">
                  <a:extLst>
                    <a:ext uri="{9D8B030D-6E8A-4147-A177-3AD203B41FA5}">
                      <a16:colId xmlns:a16="http://schemas.microsoft.com/office/drawing/2014/main" val="2945574253"/>
                    </a:ext>
                  </a:extLst>
                </a:gridCol>
              </a:tblGrid>
              <a:tr h="370840">
                <a:tc>
                  <a:txBody>
                    <a:bodyPr/>
                    <a:lstStyle/>
                    <a:p>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傳入參數</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851559"/>
                  </a:ext>
                </a:extLst>
              </a:tr>
              <a:tr h="370840">
                <a:tc>
                  <a:txBody>
                    <a:bodyPr/>
                    <a:lstStyle/>
                    <a:p>
                      <a:pPr marL="0" indent="-108000">
                        <a:buFont typeface="Arial" panose="020B0604020202020204" pitchFamily="34" charset="0"/>
                        <a:buChar char="•"/>
                      </a:pPr>
                      <a:r>
                        <a:rPr lang="en-US" altLang="zh-TW" sz="1300" b="1"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session id</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系統要考慮的</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session</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434976"/>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site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指定活動可被安排至哪些</a:t>
                      </a:r>
                      <a:r>
                        <a:rPr lang="en-US" altLang="zh-TW" sz="1300" dirty="0">
                          <a:latin typeface="Times New Roman" panose="02020603050405020304" pitchFamily="18" charset="0"/>
                          <a:ea typeface="標楷體" panose="03000509000000000000" pitchFamily="65" charset="-120"/>
                          <a:cs typeface="Times New Roman" panose="02020603050405020304" pitchFamily="18" charset="0"/>
                        </a:rPr>
                        <a:t>site id</a:t>
                      </a:r>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4220"/>
                  </a:ext>
                </a:extLst>
              </a:tr>
              <a:tr h="370840">
                <a:tc>
                  <a:txBody>
                    <a:bodyPr/>
                    <a:lstStyle/>
                    <a:p>
                      <a:pPr marL="0" indent="-108000">
                        <a:buFont typeface="Arial" panose="020B0604020202020204" pitchFamily="34" charset="0"/>
                        <a:buChar char="•"/>
                      </a:pPr>
                      <a:r>
                        <a:rPr lang="en-US" altLang="zh-TW" sz="1300" b="1" dirty="0">
                          <a:latin typeface="Times New Roman" panose="02020603050405020304" pitchFamily="18" charset="0"/>
                          <a:ea typeface="標楷體" panose="03000509000000000000" pitchFamily="65" charset="-120"/>
                          <a:cs typeface="Times New Roman" panose="02020603050405020304" pitchFamily="18" charset="0"/>
                        </a:rPr>
                        <a:t>activity id(s)</a:t>
                      </a:r>
                      <a:r>
                        <a:rPr lang="zh-TW" altLang="en-US" sz="1300" b="1" dirty="0">
                          <a:latin typeface="Times New Roman" panose="02020603050405020304" pitchFamily="18" charset="0"/>
                          <a:ea typeface="標楷體" panose="03000509000000000000" pitchFamily="65" charset="-120"/>
                          <a:cs typeface="Times New Roman" panose="02020603050405020304" pitchFamily="18"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300" dirty="0">
                          <a:latin typeface="Times New Roman" panose="02020603050405020304" pitchFamily="18" charset="0"/>
                          <a:ea typeface="標楷體" panose="03000509000000000000" pitchFamily="65" charset="-120"/>
                          <a:cs typeface="Times New Roman" panose="02020603050405020304" pitchFamily="18" charset="0"/>
                        </a:rPr>
                        <a:t>本次考慮的未排入活動。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8221390"/>
                  </a:ext>
                </a:extLst>
              </a:tr>
              <a:tr h="885116">
                <a:tc>
                  <a:txBody>
                    <a:bodyPr/>
                    <a:lstStyle/>
                    <a:p>
                      <a:pPr marL="0" indent="0">
                        <a:buFont typeface="Arial" panose="020B0604020202020204" pitchFamily="34" charset="0"/>
                        <a:buNone/>
                      </a:pPr>
                      <a:r>
                        <a:rPr lang="zh-TW" altLang="en-US" sz="1300" b="1" u="sng" dirty="0">
                          <a:latin typeface="Times New Roman" panose="02020603050405020304" pitchFamily="18" charset="0"/>
                          <a:ea typeface="標楷體" panose="03000509000000000000" pitchFamily="65" charset="-120"/>
                          <a:cs typeface="Times New Roman" panose="02020603050405020304" pitchFamily="18" charset="0"/>
                        </a:rPr>
                        <a:t>範例</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481874"/>
                  </a:ext>
                </a:extLst>
              </a:tr>
              <a:tr h="370840">
                <a:tc gridSpan="2">
                  <a:txBody>
                    <a:bodyPr/>
                    <a:lstStyle/>
                    <a:p>
                      <a:pPr marL="0" indent="0">
                        <a:buFont typeface="Arial" panose="020B0604020202020204" pitchFamily="34" charset="0"/>
                        <a:buNone/>
                      </a:pPr>
                      <a:r>
                        <a:rPr lang="en-US" altLang="zh-TW" sz="1300" b="0" u="none" dirty="0" err="1">
                          <a:latin typeface="Times New Roman" panose="02020603050405020304" pitchFamily="18" charset="0"/>
                          <a:ea typeface="標楷體" panose="03000509000000000000" pitchFamily="65" charset="-120"/>
                          <a:cs typeface="Times New Roman" panose="02020603050405020304" pitchFamily="18" charset="0"/>
                        </a:rPr>
                        <a:t>runUIReFilterHot</a:t>
                      </a:r>
                      <a:r>
                        <a:rPr lang="en-US" altLang="zh-TW" sz="1300" b="0" u="none"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300" b="0" u="none"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989</a:t>
                      </a:r>
                      <a:r>
                        <a:rPr lang="en-US" altLang="zh-TW" sz="1300" b="0" u="none" dirty="0">
                          <a:latin typeface="Times New Roman" panose="02020603050405020304" pitchFamily="18" charset="0"/>
                          <a:ea typeface="標楷體" panose="03000509000000000000" pitchFamily="65" charset="-120"/>
                          <a:cs typeface="Times New Roman" panose="02020603050405020304" pitchFamily="18" charset="0"/>
                        </a:rPr>
                        <a:t>, [154], [12345, 12346])</a:t>
                      </a:r>
                      <a:endParaRPr lang="zh-TW" altLang="en-US" sz="1300" b="0" u="none"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sz="13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558817"/>
                  </a:ext>
                </a:extLst>
              </a:tr>
            </a:tbl>
          </a:graphicData>
        </a:graphic>
      </p:graphicFrame>
      <p:sp>
        <p:nvSpPr>
          <p:cNvPr id="5" name="文字方塊 4">
            <a:extLst>
              <a:ext uri="{FF2B5EF4-FFF2-40B4-BE49-F238E27FC236}">
                <a16:creationId xmlns:a16="http://schemas.microsoft.com/office/drawing/2014/main" id="{70797905-FBC0-EC51-A85F-53121B1175EC}"/>
              </a:ext>
            </a:extLst>
          </p:cNvPr>
          <p:cNvSpPr txBox="1"/>
          <p:nvPr/>
        </p:nvSpPr>
        <p:spPr>
          <a:xfrm>
            <a:off x="2070000" y="1254269"/>
            <a:ext cx="6583647" cy="587277"/>
          </a:xfrm>
          <a:prstGeom prst="rect">
            <a:avLst/>
          </a:prstGeom>
          <a:noFill/>
        </p:spPr>
        <p:txBody>
          <a:bodyPr wrap="square">
            <a:spAutoFit/>
          </a:bodyPr>
          <a:lstStyle/>
          <a:p>
            <a:pPr>
              <a:lnSpc>
                <a:spcPct val="120000"/>
              </a:lnSpc>
            </a:pP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針對</a:t>
            </a:r>
            <a:r>
              <a:rPr lang="zh-TW" altLang="zh-TW" sz="1400" u="sng" kern="100" dirty="0">
                <a:solidFill>
                  <a:srgbClr val="C00000"/>
                </a:solidFill>
                <a:effectLst/>
                <a:latin typeface="Times New Roman" panose="02020603050405020304" pitchFamily="18" charset="0"/>
                <a:ea typeface="標楷體" panose="03000509000000000000" pitchFamily="65" charset="-120"/>
                <a:cs typeface="Times New Roman" panose="02020603050405020304" pitchFamily="18" charset="0"/>
              </a:rPr>
              <a:t>未排程的活動</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，嘗試在不影響其他已排程活動的前提下，進行</a:t>
            </a:r>
            <a:r>
              <a:rPr lang="en-US" altLang="zh-TW" sz="1400" kern="100" dirty="0">
                <a:effectLst/>
                <a:latin typeface="Times New Roman" panose="02020603050405020304" pitchFamily="18" charset="0"/>
                <a:ea typeface="標楷體" panose="03000509000000000000" pitchFamily="65" charset="-120"/>
              </a:rPr>
              <a:t>hot scheduling</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看是否能被排入。</a:t>
            </a:r>
            <a:endParaRPr lang="zh-TW" altLang="en-US" dirty="0"/>
          </a:p>
        </p:txBody>
      </p:sp>
      <p:graphicFrame>
        <p:nvGraphicFramePr>
          <p:cNvPr id="7" name="表格 6">
            <a:extLst>
              <a:ext uri="{FF2B5EF4-FFF2-40B4-BE49-F238E27FC236}">
                <a16:creationId xmlns:a16="http://schemas.microsoft.com/office/drawing/2014/main" id="{518624C8-CD74-3E14-22D9-70DF60B5414F}"/>
              </a:ext>
            </a:extLst>
          </p:cNvPr>
          <p:cNvGraphicFramePr>
            <a:graphicFrameLocks noGrp="1"/>
          </p:cNvGraphicFramePr>
          <p:nvPr/>
        </p:nvGraphicFramePr>
        <p:xfrm>
          <a:off x="5262476" y="3301955"/>
          <a:ext cx="3636391" cy="864000"/>
        </p:xfrm>
        <a:graphic>
          <a:graphicData uri="http://schemas.openxmlformats.org/drawingml/2006/table">
            <a:tbl>
              <a:tblPr firstRow="1" firstCol="1" bandRow="1">
                <a:tableStyleId>{8B193ECF-1327-48E1-8871-2513AA109082}</a:tableStyleId>
              </a:tblPr>
              <a:tblGrid>
                <a:gridCol w="719138">
                  <a:extLst>
                    <a:ext uri="{9D8B030D-6E8A-4147-A177-3AD203B41FA5}">
                      <a16:colId xmlns:a16="http://schemas.microsoft.com/office/drawing/2014/main" val="2618541579"/>
                    </a:ext>
                  </a:extLst>
                </a:gridCol>
                <a:gridCol w="800735">
                  <a:extLst>
                    <a:ext uri="{9D8B030D-6E8A-4147-A177-3AD203B41FA5}">
                      <a16:colId xmlns:a16="http://schemas.microsoft.com/office/drawing/2014/main" val="1043937204"/>
                    </a:ext>
                  </a:extLst>
                </a:gridCol>
                <a:gridCol w="875347">
                  <a:extLst>
                    <a:ext uri="{9D8B030D-6E8A-4147-A177-3AD203B41FA5}">
                      <a16:colId xmlns:a16="http://schemas.microsoft.com/office/drawing/2014/main" val="2370087704"/>
                    </a:ext>
                  </a:extLst>
                </a:gridCol>
                <a:gridCol w="1241171">
                  <a:extLst>
                    <a:ext uri="{9D8B030D-6E8A-4147-A177-3AD203B41FA5}">
                      <a16:colId xmlns:a16="http://schemas.microsoft.com/office/drawing/2014/main" val="3186015882"/>
                    </a:ext>
                  </a:extLst>
                </a:gridCol>
              </a:tblGrid>
              <a:tr h="288000">
                <a:tc>
                  <a:txBody>
                    <a:bodyPr/>
                    <a:lstStyle/>
                    <a:p>
                      <a:pPr algn="ctr"/>
                      <a:r>
                        <a:rPr lang="en-US" sz="1300" b="1" kern="100" dirty="0">
                          <a:effectLst/>
                          <a:latin typeface="Times New Roman" panose="02020603050405020304" pitchFamily="18" charset="0"/>
                          <a:cs typeface="Times New Roman" panose="02020603050405020304" pitchFamily="18" charset="0"/>
                        </a:rPr>
                        <a:t>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err="1">
                          <a:effectLst/>
                          <a:latin typeface="Times New Roman" panose="02020603050405020304" pitchFamily="18" charset="0"/>
                          <a:cs typeface="Times New Roman" panose="02020603050405020304" pitchFamily="18" charset="0"/>
                        </a:rPr>
                        <a:t>sessionid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a:effectLst/>
                          <a:latin typeface="Times New Roman" panose="02020603050405020304" pitchFamily="18" charset="0"/>
                          <a:cs typeface="Times New Roman" panose="02020603050405020304" pitchFamily="18" charset="0"/>
                        </a:rPr>
                        <a:t>scheduled</a:t>
                      </a:r>
                      <a:endParaRPr lang="zh-TW" sz="13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solidFill>
                      <a:schemeClr val="bg1">
                        <a:lumMod val="85000"/>
                      </a:schemeClr>
                    </a:solidFill>
                  </a:tcPr>
                </a:tc>
                <a:tc>
                  <a:txBody>
                    <a:bodyPr/>
                    <a:lstStyle/>
                    <a:p>
                      <a:pPr algn="ctr"/>
                      <a:r>
                        <a:rPr lang="en-US" sz="1300" b="1" kern="100" dirty="0">
                          <a:solidFill>
                            <a:srgbClr val="000000"/>
                          </a:solidFill>
                          <a:effectLst/>
                          <a:latin typeface="Times New Roman" panose="02020603050405020304" pitchFamily="18" charset="0"/>
                          <a:ea typeface="標楷體" panose="03000509000000000000" pitchFamily="65" charset="-120"/>
                        </a:rPr>
                        <a:t>name</a:t>
                      </a:r>
                      <a:endParaRPr lang="zh-TW" sz="1300" kern="100" dirty="0">
                        <a:effectLst/>
                        <a:latin typeface="Times New Roman" panose="02020603050405020304" pitchFamily="18" charset="0"/>
                        <a:ea typeface="新細明體" panose="02020500000000000000" pitchFamily="18" charset="-120"/>
                      </a:endParaRPr>
                    </a:p>
                  </a:txBody>
                  <a:tcPr marL="68580" marR="68580" marT="0" marB="0" anchor="ctr">
                    <a:solidFill>
                      <a:schemeClr val="bg1">
                        <a:lumMod val="85000"/>
                      </a:schemeClr>
                    </a:solidFill>
                  </a:tcPr>
                </a:tc>
                <a:extLst>
                  <a:ext uri="{0D108BD9-81ED-4DB2-BD59-A6C34878D82A}">
                    <a16:rowId xmlns:a16="http://schemas.microsoft.com/office/drawing/2014/main" val="3324859469"/>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12345</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0</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rPr>
                        <a:t>RSI_PBK: PAN</a:t>
                      </a:r>
                      <a:endParaRPr lang="zh-TW" sz="1300" kern="100" dirty="0">
                        <a:effectLst/>
                        <a:latin typeface="Times New Roman" panose="02020603050405020304" pitchFamily="18" charset="0"/>
                        <a:ea typeface="新細明體" panose="02020500000000000000" pitchFamily="18" charset="-120"/>
                      </a:endParaRPr>
                    </a:p>
                  </a:txBody>
                  <a:tcPr marL="68580" marR="68580" marT="0" marB="0" anchor="ctr"/>
                </a:tc>
                <a:extLst>
                  <a:ext uri="{0D108BD9-81ED-4DB2-BD59-A6C34878D82A}">
                    <a16:rowId xmlns:a16="http://schemas.microsoft.com/office/drawing/2014/main" val="864325068"/>
                  </a:ext>
                </a:extLst>
              </a:tr>
              <a:tr h="288000">
                <a:tc>
                  <a:txBody>
                    <a:bodyPr/>
                    <a:lstStyle/>
                    <a:p>
                      <a:pPr algn="ctr"/>
                      <a:r>
                        <a:rPr lang="en-US" sz="1300" kern="100">
                          <a:effectLst/>
                          <a:latin typeface="Times New Roman" panose="02020603050405020304" pitchFamily="18" charset="0"/>
                          <a:cs typeface="Times New Roman" panose="02020603050405020304" pitchFamily="18" charset="0"/>
                        </a:rPr>
                        <a:t>12346</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a:effectLst/>
                          <a:latin typeface="Times New Roman" panose="02020603050405020304" pitchFamily="18" charset="0"/>
                          <a:cs typeface="Times New Roman" panose="02020603050405020304" pitchFamily="18" charset="0"/>
                        </a:rPr>
                        <a:t>989</a:t>
                      </a:r>
                      <a:endParaRPr lang="zh-TW" sz="13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cs typeface="Times New Roman" panose="02020603050405020304" pitchFamily="18" charset="0"/>
                        </a:rPr>
                        <a:t>0</a:t>
                      </a:r>
                      <a:endParaRPr lang="zh-TW" sz="13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r>
                        <a:rPr lang="en-US" sz="1300" kern="100" dirty="0">
                          <a:effectLst/>
                          <a:latin typeface="Times New Roman" panose="02020603050405020304" pitchFamily="18" charset="0"/>
                          <a:ea typeface="標楷體" panose="03000509000000000000" pitchFamily="65" charset="-120"/>
                        </a:rPr>
                        <a:t>RSI_PBK: MS</a:t>
                      </a:r>
                      <a:endParaRPr lang="zh-TW" sz="1300" kern="100" dirty="0">
                        <a:effectLst/>
                        <a:latin typeface="Times New Roman" panose="02020603050405020304" pitchFamily="18" charset="0"/>
                        <a:ea typeface="新細明體" panose="02020500000000000000" pitchFamily="18" charset="-120"/>
                      </a:endParaRPr>
                    </a:p>
                  </a:txBody>
                  <a:tcPr marL="68580" marR="68580" marT="0" marB="0" anchor="ctr"/>
                </a:tc>
                <a:extLst>
                  <a:ext uri="{0D108BD9-81ED-4DB2-BD59-A6C34878D82A}">
                    <a16:rowId xmlns:a16="http://schemas.microsoft.com/office/drawing/2014/main" val="2606799362"/>
                  </a:ext>
                </a:extLst>
              </a:tr>
            </a:tbl>
          </a:graphicData>
        </a:graphic>
      </p:graphicFrame>
      <p:sp>
        <p:nvSpPr>
          <p:cNvPr id="3" name="Google Shape;230;p30">
            <a:extLst>
              <a:ext uri="{FF2B5EF4-FFF2-40B4-BE49-F238E27FC236}">
                <a16:creationId xmlns:a16="http://schemas.microsoft.com/office/drawing/2014/main" id="{32232B09-3CB5-AD43-7193-651222F67293}"/>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4;p30">
            <a:hlinkClick r:id="" action="ppaction://hlinkshowjump?jump=firstslide"/>
            <a:extLst>
              <a:ext uri="{FF2B5EF4-FFF2-40B4-BE49-F238E27FC236}">
                <a16:creationId xmlns:a16="http://schemas.microsoft.com/office/drawing/2014/main" id="{A36F97E5-F090-A9BE-B743-297EE3998241}"/>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Google Shape;234;p30">
            <a:hlinkClick r:id="" action="ppaction://hlinkshowjump?jump=firstslide"/>
            <a:extLst>
              <a:ext uri="{FF2B5EF4-FFF2-40B4-BE49-F238E27FC236}">
                <a16:creationId xmlns:a16="http://schemas.microsoft.com/office/drawing/2014/main" id="{D6B97C09-6329-501D-26BE-BEC517D99FBA}"/>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矩形 7">
            <a:hlinkClick r:id="rId3" action="ppaction://hlinksldjump"/>
            <a:extLst>
              <a:ext uri="{FF2B5EF4-FFF2-40B4-BE49-F238E27FC236}">
                <a16:creationId xmlns:a16="http://schemas.microsoft.com/office/drawing/2014/main" id="{C2B66D85-39F2-06A6-7251-AA729568BF2C}"/>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4" action="ppaction://hlinksldjump"/>
            <a:extLst>
              <a:ext uri="{FF2B5EF4-FFF2-40B4-BE49-F238E27FC236}">
                <a16:creationId xmlns:a16="http://schemas.microsoft.com/office/drawing/2014/main" id="{7DDC6AEF-095C-7E7A-966F-E64FCA516416}"/>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678E06F0-EAB9-CFD2-C40F-5BE0700406AA}"/>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5" action="ppaction://hlinksldjump"/>
            <a:extLst>
              <a:ext uri="{FF2B5EF4-FFF2-40B4-BE49-F238E27FC236}">
                <a16:creationId xmlns:a16="http://schemas.microsoft.com/office/drawing/2014/main" id="{E317318B-BA6C-4977-68AC-76682D690A49}"/>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EF89F7BA-7723-8BD5-0AF1-CC6D675BE7E0}"/>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5BE5C0FE-E996-BBD3-7DFC-10EA0C642AB1}"/>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A77D0F31-6043-6D6C-3E66-2D032DE4D2D8}"/>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D306C1C0-A595-0C2E-30A1-D18EE31C7943}"/>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6F53FA3F-860F-B75E-7E4D-7C65FC534319}"/>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E10ED1DD-28E0-D4DA-F1F5-71E91CE24616}"/>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230765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10" name="Google Shape;3042;p38">
            <a:extLst>
              <a:ext uri="{FF2B5EF4-FFF2-40B4-BE49-F238E27FC236}">
                <a16:creationId xmlns:a16="http://schemas.microsoft.com/office/drawing/2014/main" id="{C6DA40B4-6D45-7250-7797-CC52B65E6589}"/>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30;p38">
            <a:extLst>
              <a:ext uri="{FF2B5EF4-FFF2-40B4-BE49-F238E27FC236}">
                <a16:creationId xmlns:a16="http://schemas.microsoft.com/office/drawing/2014/main" id="{5FF1EB4F-88C0-A4B8-ED93-17F05720DA74}"/>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系統參數設定（</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4" name="文字方塊 3">
            <a:extLst>
              <a:ext uri="{FF2B5EF4-FFF2-40B4-BE49-F238E27FC236}">
                <a16:creationId xmlns:a16="http://schemas.microsoft.com/office/drawing/2014/main" id="{C04FE12E-3677-2E2F-E403-BCBC0734E5D3}"/>
              </a:ext>
            </a:extLst>
          </p:cNvPr>
          <p:cNvSpPr txBox="1"/>
          <p:nvPr/>
        </p:nvSpPr>
        <p:spPr>
          <a:xfrm>
            <a:off x="-34250" y="1209802"/>
            <a:ext cx="7114922" cy="307777"/>
          </a:xfrm>
          <a:prstGeom prst="rect">
            <a:avLst/>
          </a:prstGeom>
          <a:noFill/>
        </p:spPr>
        <p:txBody>
          <a:bodyPr wrap="square">
            <a:spAutoFit/>
          </a:bodyPr>
          <a:lstStyle/>
          <a:p>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系統參數定義於</a:t>
            </a:r>
            <a:r>
              <a:rPr lang="en-US" altLang="zh-TW" sz="1400" kern="100" dirty="0" err="1">
                <a:solidFill>
                  <a:srgbClr val="C00000"/>
                </a:solidFill>
                <a:effectLst/>
                <a:latin typeface="Times New Roman" panose="02020603050405020304" pitchFamily="18" charset="0"/>
                <a:ea typeface="標楷體" panose="03000509000000000000" pitchFamily="65" charset="-120"/>
              </a:rPr>
              <a:t>config.properties</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中，使用者可自行設定該次排程所要使用的參數值</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graphicFrame>
        <p:nvGraphicFramePr>
          <p:cNvPr id="8" name="表格 7">
            <a:extLst>
              <a:ext uri="{FF2B5EF4-FFF2-40B4-BE49-F238E27FC236}">
                <a16:creationId xmlns:a16="http://schemas.microsoft.com/office/drawing/2014/main" id="{A62B0F51-6A53-A445-79E2-D8016CE4C00C}"/>
              </a:ext>
            </a:extLst>
          </p:cNvPr>
          <p:cNvGraphicFramePr>
            <a:graphicFrameLocks noGrp="1"/>
          </p:cNvGraphicFramePr>
          <p:nvPr>
            <p:extLst>
              <p:ext uri="{D42A27DB-BD31-4B8C-83A1-F6EECF244321}">
                <p14:modId xmlns:p14="http://schemas.microsoft.com/office/powerpoint/2010/main" val="3662529817"/>
              </p:ext>
            </p:extLst>
          </p:nvPr>
        </p:nvGraphicFramePr>
        <p:xfrm>
          <a:off x="1462044" y="1699705"/>
          <a:ext cx="6096000" cy="3337560"/>
        </p:xfrm>
        <a:graphic>
          <a:graphicData uri="http://schemas.openxmlformats.org/drawingml/2006/table">
            <a:tbl>
              <a:tblPr firstRow="1" bandRow="1">
                <a:tableStyleId>{8B193ECF-1327-48E1-8871-2513AA109082}</a:tableStyleId>
              </a:tblPr>
              <a:tblGrid>
                <a:gridCol w="2032000">
                  <a:extLst>
                    <a:ext uri="{9D8B030D-6E8A-4147-A177-3AD203B41FA5}">
                      <a16:colId xmlns:a16="http://schemas.microsoft.com/office/drawing/2014/main" val="2304806818"/>
                    </a:ext>
                  </a:extLst>
                </a:gridCol>
                <a:gridCol w="2032000">
                  <a:extLst>
                    <a:ext uri="{9D8B030D-6E8A-4147-A177-3AD203B41FA5}">
                      <a16:colId xmlns:a16="http://schemas.microsoft.com/office/drawing/2014/main" val="4164901687"/>
                    </a:ext>
                  </a:extLst>
                </a:gridCol>
                <a:gridCol w="2032000">
                  <a:extLst>
                    <a:ext uri="{9D8B030D-6E8A-4147-A177-3AD203B41FA5}">
                      <a16:colId xmlns:a16="http://schemas.microsoft.com/office/drawing/2014/main" val="2604585272"/>
                    </a:ext>
                  </a:extLst>
                </a:gridCol>
              </a:tblGrid>
              <a:tr h="370840">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參數名稱</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代表含意</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預設值</a:t>
                      </a:r>
                    </a:p>
                  </a:txBody>
                  <a:tcPr marL="33141" marR="33141" marT="0" marB="0" anchor="ctr">
                    <a:solidFill>
                      <a:schemeClr val="bg1">
                        <a:lumMod val="85000"/>
                      </a:schemeClr>
                    </a:solidFill>
                  </a:tcPr>
                </a:tc>
                <a:extLst>
                  <a:ext uri="{0D108BD9-81ED-4DB2-BD59-A6C34878D82A}">
                    <a16:rowId xmlns:a16="http://schemas.microsoft.com/office/drawing/2014/main" val="23603703"/>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Priority.RSI_REC</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RSI Record</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8</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732467507"/>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Priority.RSI_PBK</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RSI Playback</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7</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4185935154"/>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Priority.RSI_DEL</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RSI Delete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7</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737868212"/>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Priority.MON</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Monitoring</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933169662"/>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Priority.MANEUVER</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Maneuver</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9</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2328849361"/>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Priority.MISC</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Miscellaneous</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257771322"/>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Priority.SPL_PROC</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SPL Procedure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710947715"/>
                  </a:ext>
                </a:extLst>
              </a:tr>
              <a:tr h="370840">
                <a:tc>
                  <a:txBody>
                    <a:bodyPr/>
                    <a:lstStyle/>
                    <a:p>
                      <a:pPr algn="l">
                        <a:lnSpc>
                          <a:spcPct val="150000"/>
                        </a:lnSpc>
                        <a:spcBef>
                          <a:spcPts val="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Priority.SPL_DEL</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SPL Playback</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的權重值。</a:t>
                      </a:r>
                    </a:p>
                  </a:txBody>
                  <a:tcPr marL="33141" marR="33141" marT="0" marB="0" anchor="ctr"/>
                </a:tc>
                <a:tc>
                  <a:txBody>
                    <a:bodyPr/>
                    <a:lstStyle/>
                    <a:p>
                      <a:pPr algn="ctr">
                        <a:lnSpc>
                          <a:spcPct val="150000"/>
                        </a:lnSpc>
                        <a:spcBef>
                          <a:spcPts val="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502619533"/>
                  </a:ext>
                </a:extLst>
              </a:tr>
            </a:tbl>
          </a:graphicData>
        </a:graphic>
      </p:graphicFrame>
      <p:sp>
        <p:nvSpPr>
          <p:cNvPr id="25" name="Google Shape;230;p30">
            <a:extLst>
              <a:ext uri="{FF2B5EF4-FFF2-40B4-BE49-F238E27FC236}">
                <a16:creationId xmlns:a16="http://schemas.microsoft.com/office/drawing/2014/main" id="{1BCBD98D-0A31-343C-B741-33C5D318F319}"/>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4;p30">
            <a:hlinkClick r:id="" action="ppaction://hlinkshowjump?jump=firstslide"/>
            <a:extLst>
              <a:ext uri="{FF2B5EF4-FFF2-40B4-BE49-F238E27FC236}">
                <a16:creationId xmlns:a16="http://schemas.microsoft.com/office/drawing/2014/main" id="{864FC281-7F55-BE72-97D8-DDC25B6932E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Google Shape;234;p30">
            <a:hlinkClick r:id="" action="ppaction://hlinkshowjump?jump=firstslide"/>
            <a:extLst>
              <a:ext uri="{FF2B5EF4-FFF2-40B4-BE49-F238E27FC236}">
                <a16:creationId xmlns:a16="http://schemas.microsoft.com/office/drawing/2014/main" id="{9E8DE849-7083-BDC4-1E6A-18E59815A302}"/>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3" action="ppaction://hlinksldjump"/>
            <a:extLst>
              <a:ext uri="{FF2B5EF4-FFF2-40B4-BE49-F238E27FC236}">
                <a16:creationId xmlns:a16="http://schemas.microsoft.com/office/drawing/2014/main" id="{1ED548C1-E881-C1A9-8168-60CCBA910CF9}"/>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矩形 28">
            <a:hlinkClick r:id="rId4" action="ppaction://hlinksldjump"/>
            <a:extLst>
              <a:ext uri="{FF2B5EF4-FFF2-40B4-BE49-F238E27FC236}">
                <a16:creationId xmlns:a16="http://schemas.microsoft.com/office/drawing/2014/main" id="{76858E43-885F-92AB-1F18-AA06F7973AE4}"/>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Google Shape;234;p30">
            <a:hlinkClick r:id="" action="ppaction://hlinkshowjump?jump=firstslide"/>
            <a:extLst>
              <a:ext uri="{FF2B5EF4-FFF2-40B4-BE49-F238E27FC236}">
                <a16:creationId xmlns:a16="http://schemas.microsoft.com/office/drawing/2014/main" id="{171E9939-47C3-9A33-5774-63BBD375E125}"/>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5" action="ppaction://hlinksldjump"/>
            <a:extLst>
              <a:ext uri="{FF2B5EF4-FFF2-40B4-BE49-F238E27FC236}">
                <a16:creationId xmlns:a16="http://schemas.microsoft.com/office/drawing/2014/main" id="{F3A197CF-376C-E704-DDDC-92F85A300642}"/>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87DB5C6A-8725-93FF-FC69-9F58D5E83D68}"/>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6" action="ppaction://hlinksldjump"/>
            <a:extLst>
              <a:ext uri="{FF2B5EF4-FFF2-40B4-BE49-F238E27FC236}">
                <a16:creationId xmlns:a16="http://schemas.microsoft.com/office/drawing/2014/main" id="{4EDBAEE5-21BB-EA67-8C7F-62046F2F0D80}"/>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Google Shape;234;p30">
            <a:hlinkClick r:id="" action="ppaction://hlinkshowjump?jump=firstslide"/>
            <a:extLst>
              <a:ext uri="{FF2B5EF4-FFF2-40B4-BE49-F238E27FC236}">
                <a16:creationId xmlns:a16="http://schemas.microsoft.com/office/drawing/2014/main" id="{20ACD726-FD05-50BE-BFEF-189E2EB79486}"/>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矩形 34">
            <a:hlinkClick r:id="rId7" action="ppaction://hlinksldjump"/>
            <a:extLst>
              <a:ext uri="{FF2B5EF4-FFF2-40B4-BE49-F238E27FC236}">
                <a16:creationId xmlns:a16="http://schemas.microsoft.com/office/drawing/2014/main" id="{4AA9E960-CB01-4DF6-06B0-1510381B5115}"/>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Google Shape;234;p30">
            <a:hlinkClick r:id="" action="ppaction://hlinkshowjump?jump=firstslide"/>
            <a:extLst>
              <a:ext uri="{FF2B5EF4-FFF2-40B4-BE49-F238E27FC236}">
                <a16:creationId xmlns:a16="http://schemas.microsoft.com/office/drawing/2014/main" id="{90ECA39D-DC23-BDDA-433A-0EEA53CE9DE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矩形 36">
            <a:hlinkClick r:id="rId8" action="ppaction://hlinksldjump"/>
            <a:extLst>
              <a:ext uri="{FF2B5EF4-FFF2-40B4-BE49-F238E27FC236}">
                <a16:creationId xmlns:a16="http://schemas.microsoft.com/office/drawing/2014/main" id="{A68425D1-5E36-C7E1-5CAC-33421A47D3D9}"/>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93953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4" name="文字方塊 3">
            <a:extLst>
              <a:ext uri="{FF2B5EF4-FFF2-40B4-BE49-F238E27FC236}">
                <a16:creationId xmlns:a16="http://schemas.microsoft.com/office/drawing/2014/main" id="{C04FE12E-3677-2E2F-E403-BCBC0734E5D3}"/>
              </a:ext>
            </a:extLst>
          </p:cNvPr>
          <p:cNvSpPr txBox="1"/>
          <p:nvPr/>
        </p:nvSpPr>
        <p:spPr>
          <a:xfrm>
            <a:off x="-34250" y="1209802"/>
            <a:ext cx="7114922" cy="307777"/>
          </a:xfrm>
          <a:prstGeom prst="rect">
            <a:avLst/>
          </a:prstGeom>
          <a:noFill/>
        </p:spPr>
        <p:txBody>
          <a:bodyPr wrap="square">
            <a:spAutoFit/>
          </a:bodyPr>
          <a:lstStyle/>
          <a:p>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系統參數定義於</a:t>
            </a:r>
            <a:r>
              <a:rPr lang="en-US" altLang="zh-TW" sz="1400" kern="100" dirty="0" err="1">
                <a:solidFill>
                  <a:srgbClr val="C00000"/>
                </a:solidFill>
                <a:effectLst/>
                <a:latin typeface="Times New Roman" panose="02020603050405020304" pitchFamily="18" charset="0"/>
                <a:ea typeface="標楷體" panose="03000509000000000000" pitchFamily="65" charset="-120"/>
              </a:rPr>
              <a:t>config.properties</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中，使用者可自行設定該次排程所要使用的參數值</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graphicFrame>
        <p:nvGraphicFramePr>
          <p:cNvPr id="8" name="表格 7">
            <a:extLst>
              <a:ext uri="{FF2B5EF4-FFF2-40B4-BE49-F238E27FC236}">
                <a16:creationId xmlns:a16="http://schemas.microsoft.com/office/drawing/2014/main" id="{A62B0F51-6A53-A445-79E2-D8016CE4C00C}"/>
              </a:ext>
            </a:extLst>
          </p:cNvPr>
          <p:cNvGraphicFramePr>
            <a:graphicFrameLocks noGrp="1"/>
          </p:cNvGraphicFramePr>
          <p:nvPr>
            <p:extLst>
              <p:ext uri="{D42A27DB-BD31-4B8C-83A1-F6EECF244321}">
                <p14:modId xmlns:p14="http://schemas.microsoft.com/office/powerpoint/2010/main" val="3332359692"/>
              </p:ext>
            </p:extLst>
          </p:nvPr>
        </p:nvGraphicFramePr>
        <p:xfrm>
          <a:off x="439906" y="1752565"/>
          <a:ext cx="8264187" cy="2972944"/>
        </p:xfrm>
        <a:graphic>
          <a:graphicData uri="http://schemas.openxmlformats.org/drawingml/2006/table">
            <a:tbl>
              <a:tblPr firstRow="1" bandRow="1">
                <a:tableStyleId>{8B193ECF-1327-48E1-8871-2513AA109082}</a:tableStyleId>
              </a:tblPr>
              <a:tblGrid>
                <a:gridCol w="1615471">
                  <a:extLst>
                    <a:ext uri="{9D8B030D-6E8A-4147-A177-3AD203B41FA5}">
                      <a16:colId xmlns:a16="http://schemas.microsoft.com/office/drawing/2014/main" val="2304806818"/>
                    </a:ext>
                  </a:extLst>
                </a:gridCol>
                <a:gridCol w="4504327">
                  <a:extLst>
                    <a:ext uri="{9D8B030D-6E8A-4147-A177-3AD203B41FA5}">
                      <a16:colId xmlns:a16="http://schemas.microsoft.com/office/drawing/2014/main" val="4164901687"/>
                    </a:ext>
                  </a:extLst>
                </a:gridCol>
                <a:gridCol w="2144389">
                  <a:extLst>
                    <a:ext uri="{9D8B030D-6E8A-4147-A177-3AD203B41FA5}">
                      <a16:colId xmlns:a16="http://schemas.microsoft.com/office/drawing/2014/main" val="2604585272"/>
                    </a:ext>
                  </a:extLst>
                </a:gridCol>
              </a:tblGrid>
              <a:tr h="370840">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參數名稱</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代表含意</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預設值</a:t>
                      </a:r>
                    </a:p>
                  </a:txBody>
                  <a:tcPr marL="33141" marR="33141" marT="0" marB="0" anchor="ctr">
                    <a:solidFill>
                      <a:schemeClr val="bg1">
                        <a:lumMod val="85000"/>
                      </a:schemeClr>
                    </a:solidFill>
                  </a:tcPr>
                </a:tc>
                <a:extLst>
                  <a:ext uri="{0D108BD9-81ED-4DB2-BD59-A6C34878D82A}">
                    <a16:rowId xmlns:a16="http://schemas.microsoft.com/office/drawing/2014/main" val="23603703"/>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PrefSite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優先選擇的地面站名稱。當某活動需與地面站接觸且同時有多個地面站選擇，則會優先選擇此指定的地面站。</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X_NSPO</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732467507"/>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MinMon.Duration</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Monitoring</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的執行時長。</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260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4185935154"/>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Delete.Gap</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RSI Delete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需於相同</a:t>
                      </a: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arlentryid</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RSI Playback</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中最晚執行者所對應的</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contact fade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時間後幾秒才可執行。</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6</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737868212"/>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Delete.Covertime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本次排程所覆蓋的時長。</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86400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933169662"/>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Gohome.Duration</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系統產生的</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GOHOME Maneuver</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的執行時長。</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180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2328849361"/>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GAT.Duration</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系統產生的</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GAT Maneuver</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的執行時長。</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180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1257771322"/>
                  </a:ext>
                </a:extLst>
              </a:tr>
            </a:tbl>
          </a:graphicData>
        </a:graphic>
      </p:graphicFrame>
      <p:sp>
        <p:nvSpPr>
          <p:cNvPr id="2" name="Google Shape;3042;p38">
            <a:extLst>
              <a:ext uri="{FF2B5EF4-FFF2-40B4-BE49-F238E27FC236}">
                <a16:creationId xmlns:a16="http://schemas.microsoft.com/office/drawing/2014/main" id="{9BAC3A0E-926A-E11A-1D33-44DB1E4AF80D}"/>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F8BFAD2D-E631-B4F2-567F-B49BC9A70ADC}"/>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系統參數設定（</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Google Shape;230;p30">
            <a:extLst>
              <a:ext uri="{FF2B5EF4-FFF2-40B4-BE49-F238E27FC236}">
                <a16:creationId xmlns:a16="http://schemas.microsoft.com/office/drawing/2014/main" id="{5A15A941-B380-5F9A-1CB6-770B28E768C9}"/>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4;p30">
            <a:hlinkClick r:id="" action="ppaction://hlinkshowjump?jump=firstslide"/>
            <a:extLst>
              <a:ext uri="{FF2B5EF4-FFF2-40B4-BE49-F238E27FC236}">
                <a16:creationId xmlns:a16="http://schemas.microsoft.com/office/drawing/2014/main" id="{A2BAB2FC-8C81-AB4E-1DA2-416B6E855D2C}"/>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Google Shape;234;p30">
            <a:hlinkClick r:id="" action="ppaction://hlinkshowjump?jump=firstslide"/>
            <a:extLst>
              <a:ext uri="{FF2B5EF4-FFF2-40B4-BE49-F238E27FC236}">
                <a16:creationId xmlns:a16="http://schemas.microsoft.com/office/drawing/2014/main" id="{FDFD3958-2730-BB1A-BE11-4ECBD21DF421}"/>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3" action="ppaction://hlinksldjump"/>
            <a:extLst>
              <a:ext uri="{FF2B5EF4-FFF2-40B4-BE49-F238E27FC236}">
                <a16:creationId xmlns:a16="http://schemas.microsoft.com/office/drawing/2014/main" id="{263D549C-29D6-EF33-30DE-33B56DB063D2}"/>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矩形 25">
            <a:hlinkClick r:id="rId4" action="ppaction://hlinksldjump"/>
            <a:extLst>
              <a:ext uri="{FF2B5EF4-FFF2-40B4-BE49-F238E27FC236}">
                <a16:creationId xmlns:a16="http://schemas.microsoft.com/office/drawing/2014/main" id="{FA36854E-87E5-9DFF-E970-958CC6A0744D}"/>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Google Shape;234;p30">
            <a:hlinkClick r:id="" action="ppaction://hlinkshowjump?jump=firstslide"/>
            <a:extLst>
              <a:ext uri="{FF2B5EF4-FFF2-40B4-BE49-F238E27FC236}">
                <a16:creationId xmlns:a16="http://schemas.microsoft.com/office/drawing/2014/main" id="{C3893D29-75D7-D015-548F-1B58274F75C1}"/>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5" action="ppaction://hlinksldjump"/>
            <a:extLst>
              <a:ext uri="{FF2B5EF4-FFF2-40B4-BE49-F238E27FC236}">
                <a16:creationId xmlns:a16="http://schemas.microsoft.com/office/drawing/2014/main" id="{51B11B5D-9A0F-3FB6-A7FA-9AC17D4ACDEC}"/>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C187EC60-C16C-A3DF-E935-A43F64C2AE3E}"/>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6" action="ppaction://hlinksldjump"/>
            <a:extLst>
              <a:ext uri="{FF2B5EF4-FFF2-40B4-BE49-F238E27FC236}">
                <a16:creationId xmlns:a16="http://schemas.microsoft.com/office/drawing/2014/main" id="{54FD58CA-7E2E-CE63-C369-1DFFC992504D}"/>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CD98164C-CAF9-16CA-5BB4-02A0E464A04A}"/>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7" action="ppaction://hlinksldjump"/>
            <a:extLst>
              <a:ext uri="{FF2B5EF4-FFF2-40B4-BE49-F238E27FC236}">
                <a16:creationId xmlns:a16="http://schemas.microsoft.com/office/drawing/2014/main" id="{E029D84C-06E7-482F-3E24-D8398063832E}"/>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88B228AE-9814-3B91-5610-559A5A4CA2B5}"/>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8" action="ppaction://hlinksldjump"/>
            <a:extLst>
              <a:ext uri="{FF2B5EF4-FFF2-40B4-BE49-F238E27FC236}">
                <a16:creationId xmlns:a16="http://schemas.microsoft.com/office/drawing/2014/main" id="{C4E119E5-67FD-C54A-A004-9A135AB13E8B}"/>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38389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4" name="文字方塊 3">
            <a:extLst>
              <a:ext uri="{FF2B5EF4-FFF2-40B4-BE49-F238E27FC236}">
                <a16:creationId xmlns:a16="http://schemas.microsoft.com/office/drawing/2014/main" id="{C04FE12E-3677-2E2F-E403-BCBC0734E5D3}"/>
              </a:ext>
            </a:extLst>
          </p:cNvPr>
          <p:cNvSpPr txBox="1"/>
          <p:nvPr/>
        </p:nvSpPr>
        <p:spPr>
          <a:xfrm>
            <a:off x="-34250" y="1209802"/>
            <a:ext cx="7114922" cy="307777"/>
          </a:xfrm>
          <a:prstGeom prst="rect">
            <a:avLst/>
          </a:prstGeom>
          <a:noFill/>
        </p:spPr>
        <p:txBody>
          <a:bodyPr wrap="square">
            <a:spAutoFit/>
          </a:bodyPr>
          <a:lstStyle/>
          <a:p>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系統參數定義於</a:t>
            </a:r>
            <a:r>
              <a:rPr lang="en-US" altLang="zh-TW" sz="1400" kern="100" dirty="0" err="1">
                <a:solidFill>
                  <a:srgbClr val="C00000"/>
                </a:solidFill>
                <a:effectLst/>
                <a:latin typeface="Times New Roman" panose="02020603050405020304" pitchFamily="18" charset="0"/>
                <a:ea typeface="標楷體" panose="03000509000000000000" pitchFamily="65" charset="-120"/>
              </a:rPr>
              <a:t>config.properties</a:t>
            </a:r>
            <a:r>
              <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中，使用者可自行設定該次排程所要使用的參數值</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graphicFrame>
        <p:nvGraphicFramePr>
          <p:cNvPr id="8" name="表格 7">
            <a:extLst>
              <a:ext uri="{FF2B5EF4-FFF2-40B4-BE49-F238E27FC236}">
                <a16:creationId xmlns:a16="http://schemas.microsoft.com/office/drawing/2014/main" id="{A62B0F51-6A53-A445-79E2-D8016CE4C00C}"/>
              </a:ext>
            </a:extLst>
          </p:cNvPr>
          <p:cNvGraphicFramePr>
            <a:graphicFrameLocks noGrp="1"/>
          </p:cNvGraphicFramePr>
          <p:nvPr>
            <p:extLst>
              <p:ext uri="{D42A27DB-BD31-4B8C-83A1-F6EECF244321}">
                <p14:modId xmlns:p14="http://schemas.microsoft.com/office/powerpoint/2010/main" val="1307220515"/>
              </p:ext>
            </p:extLst>
          </p:nvPr>
        </p:nvGraphicFramePr>
        <p:xfrm>
          <a:off x="475211" y="1699705"/>
          <a:ext cx="7964782" cy="2157604"/>
        </p:xfrm>
        <a:graphic>
          <a:graphicData uri="http://schemas.openxmlformats.org/drawingml/2006/table">
            <a:tbl>
              <a:tblPr firstRow="1" bandRow="1">
                <a:tableStyleId>{8B193ECF-1327-48E1-8871-2513AA109082}</a:tableStyleId>
              </a:tblPr>
              <a:tblGrid>
                <a:gridCol w="2032000">
                  <a:extLst>
                    <a:ext uri="{9D8B030D-6E8A-4147-A177-3AD203B41FA5}">
                      <a16:colId xmlns:a16="http://schemas.microsoft.com/office/drawing/2014/main" val="2304806818"/>
                    </a:ext>
                  </a:extLst>
                </a:gridCol>
                <a:gridCol w="3804577">
                  <a:extLst>
                    <a:ext uri="{9D8B030D-6E8A-4147-A177-3AD203B41FA5}">
                      <a16:colId xmlns:a16="http://schemas.microsoft.com/office/drawing/2014/main" val="4164901687"/>
                    </a:ext>
                  </a:extLst>
                </a:gridCol>
                <a:gridCol w="2128205">
                  <a:extLst>
                    <a:ext uri="{9D8B030D-6E8A-4147-A177-3AD203B41FA5}">
                      <a16:colId xmlns:a16="http://schemas.microsoft.com/office/drawing/2014/main" val="2604585272"/>
                    </a:ext>
                  </a:extLst>
                </a:gridCol>
              </a:tblGrid>
              <a:tr h="370840">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參數名稱</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代表含意</a:t>
                      </a:r>
                    </a:p>
                  </a:txBody>
                  <a:tcPr marL="33141" marR="33141" marT="0" marB="0" anchor="ctr">
                    <a:solidFill>
                      <a:schemeClr val="bg1">
                        <a:lumMod val="85000"/>
                      </a:schemeClr>
                    </a:solidFill>
                  </a:tcPr>
                </a:tc>
                <a:tc>
                  <a:txBody>
                    <a:bodyPr/>
                    <a:lstStyle/>
                    <a:p>
                      <a:pPr algn="ctr"/>
                      <a:r>
                        <a:rPr lang="zh-TW" sz="1300" b="1" kern="100" dirty="0">
                          <a:effectLst/>
                          <a:latin typeface="Times New Roman" panose="02020603050405020304" pitchFamily="18" charset="0"/>
                          <a:ea typeface="標楷體" panose="03000509000000000000" pitchFamily="65" charset="-120"/>
                          <a:cs typeface="Times New Roman" panose="02020603050405020304" pitchFamily="18" charset="0"/>
                        </a:rPr>
                        <a:t>預設值</a:t>
                      </a:r>
                    </a:p>
                  </a:txBody>
                  <a:tcPr marL="33141" marR="33141" marT="0" marB="0" anchor="ctr">
                    <a:solidFill>
                      <a:schemeClr val="bg1">
                        <a:lumMod val="85000"/>
                      </a:schemeClr>
                    </a:solidFill>
                  </a:tcPr>
                </a:tc>
                <a:extLst>
                  <a:ext uri="{0D108BD9-81ED-4DB2-BD59-A6C34878D82A}">
                    <a16:rowId xmlns:a16="http://schemas.microsoft.com/office/drawing/2014/main" val="23603703"/>
                  </a:ext>
                </a:extLst>
              </a:tr>
              <a:tr h="370840">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Produce.GAT_GOHOME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該排程系統是否要產生</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GAT Maneuver</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和</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GOHOME Maneuver</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，並且是否需考慮這兩類活動間的關係限制。</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true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代表是；</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false</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代表否。</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true</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595346097"/>
                  </a:ext>
                </a:extLst>
              </a:tr>
              <a:tr h="370840">
                <a:tc>
                  <a:txBody>
                    <a:bodyPr/>
                    <a:lstStyle/>
                    <a:p>
                      <a:pPr algn="l">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Threads</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Cplex</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求解時使用的核心數。</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8</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732467507"/>
                  </a:ext>
                </a:extLst>
              </a:tr>
              <a:tr h="370840">
                <a:tc>
                  <a:txBody>
                    <a:bodyPr/>
                    <a:lstStyle/>
                    <a:p>
                      <a:pPr algn="l">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Gap</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tc>
                  <a:txBody>
                    <a:bodyPr/>
                    <a:lstStyle/>
                    <a:p>
                      <a:pPr algn="l">
                        <a:lnSpc>
                          <a:spcPct val="150000"/>
                        </a:lnSpc>
                        <a:spcBef>
                          <a:spcPts val="600"/>
                        </a:spcBef>
                      </a:pPr>
                      <a:r>
                        <a:rPr lang="en-US" sz="1300" kern="100" dirty="0" err="1">
                          <a:effectLst/>
                          <a:latin typeface="Times New Roman" panose="02020603050405020304" pitchFamily="18" charset="0"/>
                          <a:ea typeface="標楷體" panose="03000509000000000000" pitchFamily="65" charset="-120"/>
                          <a:cs typeface="Times New Roman" panose="02020603050405020304" pitchFamily="18" charset="0"/>
                        </a:rPr>
                        <a:t>Cplex</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求解結果與最佳解的差距。其單位為</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，因此若欲設定的差距為</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0.01%</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，則此處應設為</a:t>
                      </a: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0.0001</a:t>
                      </a:r>
                      <a:r>
                        <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rPr>
                        <a:t>。</a:t>
                      </a:r>
                    </a:p>
                  </a:txBody>
                  <a:tcPr marL="33141" marR="33141" marT="0" marB="0" anchor="ctr"/>
                </a:tc>
                <a:tc>
                  <a:txBody>
                    <a:bodyPr/>
                    <a:lstStyle/>
                    <a:p>
                      <a:pPr algn="ctr">
                        <a:lnSpc>
                          <a:spcPct val="150000"/>
                        </a:lnSpc>
                        <a:spcBef>
                          <a:spcPts val="600"/>
                        </a:spcBef>
                      </a:pPr>
                      <a:r>
                        <a:rPr lang="en-US" sz="1300" kern="100" dirty="0">
                          <a:effectLst/>
                          <a:latin typeface="Times New Roman" panose="02020603050405020304" pitchFamily="18" charset="0"/>
                          <a:ea typeface="標楷體" panose="03000509000000000000" pitchFamily="65" charset="-120"/>
                          <a:cs typeface="Times New Roman" panose="02020603050405020304" pitchFamily="18" charset="0"/>
                        </a:rPr>
                        <a:t>0</a:t>
                      </a:r>
                      <a:endParaRPr lang="zh-TW" sz="13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33141" marR="33141" marT="0" marB="0" anchor="ctr"/>
                </a:tc>
                <a:extLst>
                  <a:ext uri="{0D108BD9-81ED-4DB2-BD59-A6C34878D82A}">
                    <a16:rowId xmlns:a16="http://schemas.microsoft.com/office/drawing/2014/main" val="4185935154"/>
                  </a:ext>
                </a:extLst>
              </a:tr>
            </a:tbl>
          </a:graphicData>
        </a:graphic>
      </p:graphicFrame>
      <p:sp>
        <p:nvSpPr>
          <p:cNvPr id="2" name="Google Shape;3042;p38">
            <a:extLst>
              <a:ext uri="{FF2B5EF4-FFF2-40B4-BE49-F238E27FC236}">
                <a16:creationId xmlns:a16="http://schemas.microsoft.com/office/drawing/2014/main" id="{0D41E068-455F-CF65-98F4-411328B82967}"/>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EB9C2B86-449D-0A81-1981-FE8ACF25DE6D}"/>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系統參數設定（</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3/3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Google Shape;230;p30">
            <a:extLst>
              <a:ext uri="{FF2B5EF4-FFF2-40B4-BE49-F238E27FC236}">
                <a16:creationId xmlns:a16="http://schemas.microsoft.com/office/drawing/2014/main" id="{94D481C1-2329-6A32-F286-0B08706593FA}"/>
              </a:ext>
            </a:extLst>
          </p:cNvPr>
          <p:cNvSpPr/>
          <p:nvPr/>
        </p:nvSpPr>
        <p:spPr>
          <a:xfrm>
            <a:off x="1829354"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4;p30">
            <a:hlinkClick r:id="" action="ppaction://hlinkshowjump?jump=firstslide"/>
            <a:extLst>
              <a:ext uri="{FF2B5EF4-FFF2-40B4-BE49-F238E27FC236}">
                <a16:creationId xmlns:a16="http://schemas.microsoft.com/office/drawing/2014/main" id="{1895A3FE-B897-3BCA-8FA0-20894699BEC4}"/>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Google Shape;234;p30">
            <a:hlinkClick r:id="" action="ppaction://hlinkshowjump?jump=firstslide"/>
            <a:extLst>
              <a:ext uri="{FF2B5EF4-FFF2-40B4-BE49-F238E27FC236}">
                <a16:creationId xmlns:a16="http://schemas.microsoft.com/office/drawing/2014/main" id="{D3D362C2-98F7-D98A-0145-5EC98C5C9A91}"/>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3" action="ppaction://hlinksldjump"/>
            <a:extLst>
              <a:ext uri="{FF2B5EF4-FFF2-40B4-BE49-F238E27FC236}">
                <a16:creationId xmlns:a16="http://schemas.microsoft.com/office/drawing/2014/main" id="{FAF1B3BD-C641-98AD-692F-9AC9FCF5B95B}"/>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矩形 25">
            <a:hlinkClick r:id="rId4" action="ppaction://hlinksldjump"/>
            <a:extLst>
              <a:ext uri="{FF2B5EF4-FFF2-40B4-BE49-F238E27FC236}">
                <a16:creationId xmlns:a16="http://schemas.microsoft.com/office/drawing/2014/main" id="{419DAB76-EBB9-111E-5B45-F9243465D5BF}"/>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Google Shape;234;p30">
            <a:hlinkClick r:id="" action="ppaction://hlinkshowjump?jump=firstslide"/>
            <a:extLst>
              <a:ext uri="{FF2B5EF4-FFF2-40B4-BE49-F238E27FC236}">
                <a16:creationId xmlns:a16="http://schemas.microsoft.com/office/drawing/2014/main" id="{CC08ECF5-B3B7-023B-9929-3B44CF67950A}"/>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5" action="ppaction://hlinksldjump"/>
            <a:extLst>
              <a:ext uri="{FF2B5EF4-FFF2-40B4-BE49-F238E27FC236}">
                <a16:creationId xmlns:a16="http://schemas.microsoft.com/office/drawing/2014/main" id="{1B4A924A-40B3-DA7E-6FB4-3E62098C3293}"/>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0E8BD750-CAFB-1E57-9288-A52EB89A5EAE}"/>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6" action="ppaction://hlinksldjump"/>
            <a:extLst>
              <a:ext uri="{FF2B5EF4-FFF2-40B4-BE49-F238E27FC236}">
                <a16:creationId xmlns:a16="http://schemas.microsoft.com/office/drawing/2014/main" id="{F47396DC-84F1-A796-B2D5-DD43E38B6DAE}"/>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0D2FCB3B-5B8B-E7E0-4FB1-C1D80B0A7212}"/>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7" action="ppaction://hlinksldjump"/>
            <a:extLst>
              <a:ext uri="{FF2B5EF4-FFF2-40B4-BE49-F238E27FC236}">
                <a16:creationId xmlns:a16="http://schemas.microsoft.com/office/drawing/2014/main" id="{974379BB-B74E-153A-47EB-66E1CBF1CAC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FFC2B0AE-17C2-E6DE-65BC-0625E89BF011}"/>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8" action="ppaction://hlinksldjump"/>
            <a:extLst>
              <a:ext uri="{FF2B5EF4-FFF2-40B4-BE49-F238E27FC236}">
                <a16:creationId xmlns:a16="http://schemas.microsoft.com/office/drawing/2014/main" id="{74D04B59-A30C-A300-253E-8089C3DC641C}"/>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171822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2" name="Google Shape;3042;p38">
            <a:extLst>
              <a:ext uri="{FF2B5EF4-FFF2-40B4-BE49-F238E27FC236}">
                <a16:creationId xmlns:a16="http://schemas.microsoft.com/office/drawing/2014/main" id="{0D41E068-455F-CF65-98F4-411328B82967}"/>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EB9C2B86-449D-0A81-1981-FE8ACF25DE6D}"/>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活動限制說明（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文字方塊 4">
            <a:extLst>
              <a:ext uri="{FF2B5EF4-FFF2-40B4-BE49-F238E27FC236}">
                <a16:creationId xmlns:a16="http://schemas.microsoft.com/office/drawing/2014/main" id="{DD7FEF9E-98A8-A770-64D4-0422CA2B01AE}"/>
              </a:ext>
            </a:extLst>
          </p:cNvPr>
          <p:cNvSpPr txBox="1"/>
          <p:nvPr/>
        </p:nvSpPr>
        <p:spPr>
          <a:xfrm>
            <a:off x="36138" y="1286982"/>
            <a:ext cx="4433500" cy="2393156"/>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Attitude Maneuver</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Orbit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GOHOME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GAT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Attitude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Playback</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p:txBody>
      </p:sp>
      <p:sp>
        <p:nvSpPr>
          <p:cNvPr id="9" name="文字方塊 8">
            <a:extLst>
              <a:ext uri="{FF2B5EF4-FFF2-40B4-BE49-F238E27FC236}">
                <a16:creationId xmlns:a16="http://schemas.microsoft.com/office/drawing/2014/main" id="{47B762E6-199B-471B-743C-6003B1F5D49B}"/>
              </a:ext>
            </a:extLst>
          </p:cNvPr>
          <p:cNvSpPr txBox="1"/>
          <p:nvPr/>
        </p:nvSpPr>
        <p:spPr>
          <a:xfrm>
            <a:off x="4674362" y="1286982"/>
            <a:ext cx="4433500" cy="3064109"/>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Orbit Maneuver</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Attitude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Orbit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GOHOME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 </a:t>
            </a:r>
            <a:r>
              <a:rPr lang="en-US" altLang="zh-TW" sz="1400" kern="100" dirty="0">
                <a:effectLst/>
                <a:latin typeface="Times New Roman" panose="02020603050405020304" pitchFamily="18" charset="0"/>
                <a:ea typeface="標楷體" panose="03000509000000000000" pitchFamily="65" charset="-120"/>
              </a:rPr>
              <a:t>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GAT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Playback</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SPL Procedure</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SPL</a:t>
            </a:r>
            <a:r>
              <a:rPr lang="en-US" altLang="zh-TW" sz="1400" kern="100" dirty="0">
                <a:effectLst/>
                <a:latin typeface="Times New Roman" panose="02020603050405020304" pitchFamily="18" charset="0"/>
                <a:ea typeface="標楷體" panose="03000509000000000000" pitchFamily="65" charset="-120"/>
              </a:rPr>
              <a:t> Playback</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p:txBody>
      </p:sp>
      <p:sp>
        <p:nvSpPr>
          <p:cNvPr id="11" name="Google Shape;230;p30">
            <a:extLst>
              <a:ext uri="{FF2B5EF4-FFF2-40B4-BE49-F238E27FC236}">
                <a16:creationId xmlns:a16="http://schemas.microsoft.com/office/drawing/2014/main" id="{4D8C8659-2213-ECFC-5598-4CCE769A3DE9}"/>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4;p30">
            <a:hlinkClick r:id="" action="ppaction://hlinkshowjump?jump=firstslide"/>
            <a:extLst>
              <a:ext uri="{FF2B5EF4-FFF2-40B4-BE49-F238E27FC236}">
                <a16:creationId xmlns:a16="http://schemas.microsoft.com/office/drawing/2014/main" id="{A4800B69-79BF-C4EE-1AAC-E636DDF9AAA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Google Shape;234;p30">
            <a:hlinkClick r:id="" action="ppaction://hlinkshowjump?jump=firstslide"/>
            <a:extLst>
              <a:ext uri="{FF2B5EF4-FFF2-40B4-BE49-F238E27FC236}">
                <a16:creationId xmlns:a16="http://schemas.microsoft.com/office/drawing/2014/main" id="{B12C928E-84A0-E064-D080-5E6B58BBFE85}"/>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3" action="ppaction://hlinksldjump"/>
            <a:extLst>
              <a:ext uri="{FF2B5EF4-FFF2-40B4-BE49-F238E27FC236}">
                <a16:creationId xmlns:a16="http://schemas.microsoft.com/office/drawing/2014/main" id="{ABB944C1-CBA3-69E4-C6CE-9358D08DDAD3}"/>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hlinkClick r:id="rId4" action="ppaction://hlinksldjump"/>
            <a:extLst>
              <a:ext uri="{FF2B5EF4-FFF2-40B4-BE49-F238E27FC236}">
                <a16:creationId xmlns:a16="http://schemas.microsoft.com/office/drawing/2014/main" id="{2F54AC3A-D306-A54A-88FF-673795AC8335}"/>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Google Shape;234;p30">
            <a:hlinkClick r:id="" action="ppaction://hlinkshowjump?jump=firstslide"/>
            <a:extLst>
              <a:ext uri="{FF2B5EF4-FFF2-40B4-BE49-F238E27FC236}">
                <a16:creationId xmlns:a16="http://schemas.microsoft.com/office/drawing/2014/main" id="{1C4D2AE0-DD62-2E62-B8CB-D608712CAFBF}"/>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5" action="ppaction://hlinksldjump"/>
            <a:extLst>
              <a:ext uri="{FF2B5EF4-FFF2-40B4-BE49-F238E27FC236}">
                <a16:creationId xmlns:a16="http://schemas.microsoft.com/office/drawing/2014/main" id="{852CB3E5-D84B-5BB7-1E86-5DDB32938BAA}"/>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79826760-0573-CF5B-4CC5-ACC8CB8B0597}"/>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6" action="ppaction://hlinksldjump"/>
            <a:extLst>
              <a:ext uri="{FF2B5EF4-FFF2-40B4-BE49-F238E27FC236}">
                <a16:creationId xmlns:a16="http://schemas.microsoft.com/office/drawing/2014/main" id="{6C9C5D09-80E1-4398-D1E8-4C63CA78232A}"/>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FF67DEB5-DB5F-2993-52D9-7DC8114027BE}"/>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7" action="ppaction://hlinksldjump"/>
            <a:extLst>
              <a:ext uri="{FF2B5EF4-FFF2-40B4-BE49-F238E27FC236}">
                <a16:creationId xmlns:a16="http://schemas.microsoft.com/office/drawing/2014/main" id="{B5B0FCCF-69DC-6655-DBFF-BAD09004C335}"/>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1548F827-7FEF-1804-E776-A1204423776C}"/>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8" action="ppaction://hlinksldjump"/>
            <a:extLst>
              <a:ext uri="{FF2B5EF4-FFF2-40B4-BE49-F238E27FC236}">
                <a16:creationId xmlns:a16="http://schemas.microsoft.com/office/drawing/2014/main" id="{32A55399-1E84-A516-29F6-BDF28B1BF71A}"/>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513819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2" name="Google Shape;3042;p38">
            <a:extLst>
              <a:ext uri="{FF2B5EF4-FFF2-40B4-BE49-F238E27FC236}">
                <a16:creationId xmlns:a16="http://schemas.microsoft.com/office/drawing/2014/main" id="{0D41E068-455F-CF65-98F4-411328B82967}"/>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EB9C2B86-449D-0A81-1981-FE8ACF25DE6D}"/>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活動限制說明（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文字方塊 4">
            <a:extLst>
              <a:ext uri="{FF2B5EF4-FFF2-40B4-BE49-F238E27FC236}">
                <a16:creationId xmlns:a16="http://schemas.microsoft.com/office/drawing/2014/main" id="{DD7FEF9E-98A8-A770-64D4-0422CA2B01AE}"/>
              </a:ext>
            </a:extLst>
          </p:cNvPr>
          <p:cNvSpPr txBox="1"/>
          <p:nvPr/>
        </p:nvSpPr>
        <p:spPr>
          <a:xfrm>
            <a:off x="36138" y="1286982"/>
            <a:ext cx="4433500" cy="2986523"/>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GOHOME</a:t>
            </a:r>
            <a:r>
              <a:rPr lang="zh-TW" altLang="en-US" b="1" u="sng" dirty="0">
                <a:latin typeface="Times New Roman" panose="02020603050405020304" pitchFamily="18" charset="0"/>
                <a:cs typeface="Times New Roman" panose="02020603050405020304" pitchFamily="18" charset="0"/>
              </a:rPr>
              <a:t> </a:t>
            </a:r>
            <a:r>
              <a:rPr lang="en-US" altLang="zh-TW" b="1" u="sng" dirty="0">
                <a:latin typeface="Times New Roman" panose="02020603050405020304" pitchFamily="18" charset="0"/>
                <a:cs typeface="Times New Roman" panose="02020603050405020304" pitchFamily="18" charset="0"/>
              </a:rPr>
              <a:t>Maneuver</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Orbit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Attitude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GAT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GOHOME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Playback</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zh-TW" altLang="en-US" kern="100" dirty="0">
                <a:solidFill>
                  <a:srgbClr val="C00000"/>
                </a:solidFill>
                <a:latin typeface="Times New Roman" panose="02020603050405020304" pitchFamily="18" charset="0"/>
                <a:ea typeface="標楷體" panose="03000509000000000000" pitchFamily="65" charset="-120"/>
              </a:rPr>
              <a:t>對應相同</a:t>
            </a:r>
            <a:r>
              <a:rPr lang="en-US" altLang="zh-TW" kern="100" dirty="0">
                <a:solidFill>
                  <a:srgbClr val="C00000"/>
                </a:solidFill>
                <a:latin typeface="Times New Roman" panose="02020603050405020304" pitchFamily="18" charset="0"/>
                <a:ea typeface="標楷體" panose="03000509000000000000" pitchFamily="65" charset="-120"/>
              </a:rPr>
              <a:t>contact id</a:t>
            </a:r>
            <a:r>
              <a:rPr lang="zh-TW" altLang="en-US" kern="100" dirty="0">
                <a:solidFill>
                  <a:srgbClr val="C00000"/>
                </a:solidFill>
                <a:latin typeface="Times New Roman" panose="02020603050405020304" pitchFamily="18" charset="0"/>
                <a:ea typeface="標楷體" panose="03000509000000000000" pitchFamily="65" charset="-120"/>
              </a:rPr>
              <a:t>下的</a:t>
            </a:r>
            <a:r>
              <a:rPr lang="en-US" altLang="zh-TW" kern="100" dirty="0">
                <a:solidFill>
                  <a:srgbClr val="C00000"/>
                </a:solidFill>
                <a:latin typeface="Times New Roman" panose="02020603050405020304" pitchFamily="18" charset="0"/>
                <a:ea typeface="標楷體" panose="03000509000000000000" pitchFamily="65" charset="-120"/>
              </a:rPr>
              <a:t>GAT Maneuver</a:t>
            </a:r>
            <a:r>
              <a:rPr lang="zh-TW" altLang="en-US" kern="100" dirty="0">
                <a:solidFill>
                  <a:srgbClr val="C00000"/>
                </a:solidFill>
                <a:latin typeface="Times New Roman" panose="02020603050405020304" pitchFamily="18" charset="0"/>
                <a:ea typeface="標楷體" panose="03000509000000000000" pitchFamily="65" charset="-120"/>
              </a:rPr>
              <a:t>有執行，</a:t>
            </a:r>
            <a:r>
              <a:rPr lang="en-US" altLang="zh-TW" kern="100" dirty="0">
                <a:solidFill>
                  <a:srgbClr val="C00000"/>
                </a:solidFill>
                <a:latin typeface="Times New Roman" panose="02020603050405020304" pitchFamily="18" charset="0"/>
                <a:ea typeface="標楷體" panose="03000509000000000000" pitchFamily="65" charset="-120"/>
              </a:rPr>
              <a:t>GOHOME</a:t>
            </a:r>
            <a:r>
              <a:rPr lang="zh-TW" altLang="en-US" kern="100" dirty="0">
                <a:solidFill>
                  <a:srgbClr val="C00000"/>
                </a:solidFill>
                <a:latin typeface="Times New Roman" panose="02020603050405020304" pitchFamily="18" charset="0"/>
                <a:ea typeface="標楷體" panose="03000509000000000000" pitchFamily="65" charset="-120"/>
              </a:rPr>
              <a:t> </a:t>
            </a:r>
            <a:r>
              <a:rPr lang="en-US" altLang="zh-TW" kern="100" dirty="0">
                <a:solidFill>
                  <a:srgbClr val="C00000"/>
                </a:solidFill>
                <a:latin typeface="Times New Roman" panose="02020603050405020304" pitchFamily="18" charset="0"/>
                <a:ea typeface="標楷體" panose="03000509000000000000" pitchFamily="65" charset="-120"/>
              </a:rPr>
              <a:t>Maneuver</a:t>
            </a:r>
            <a:r>
              <a:rPr lang="zh-TW" altLang="en-US" kern="100" dirty="0">
                <a:solidFill>
                  <a:srgbClr val="C00000"/>
                </a:solidFill>
                <a:latin typeface="Times New Roman" panose="02020603050405020304" pitchFamily="18" charset="0"/>
                <a:ea typeface="標楷體" panose="03000509000000000000" pitchFamily="65" charset="-120"/>
              </a:rPr>
              <a:t>也需執行。</a:t>
            </a:r>
            <a:endParaRPr lang="zh-TW" altLang="zh-TW" sz="1400" kern="100" dirty="0">
              <a:solidFill>
                <a:srgbClr val="C00000"/>
              </a:solidFill>
              <a:effectLst/>
              <a:latin typeface="Times New Roman" panose="02020603050405020304" pitchFamily="18" charset="0"/>
              <a:ea typeface="新細明體" panose="02020500000000000000" pitchFamily="18" charset="-120"/>
            </a:endParaRPr>
          </a:p>
        </p:txBody>
      </p:sp>
      <p:sp>
        <p:nvSpPr>
          <p:cNvPr id="9" name="文字方塊 8">
            <a:extLst>
              <a:ext uri="{FF2B5EF4-FFF2-40B4-BE49-F238E27FC236}">
                <a16:creationId xmlns:a16="http://schemas.microsoft.com/office/drawing/2014/main" id="{47B762E6-199B-471B-743C-6003B1F5D49B}"/>
              </a:ext>
            </a:extLst>
          </p:cNvPr>
          <p:cNvSpPr txBox="1"/>
          <p:nvPr/>
        </p:nvSpPr>
        <p:spPr>
          <a:xfrm>
            <a:off x="4674362" y="1286982"/>
            <a:ext cx="4433500" cy="2987164"/>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GAT Maneuver</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GAT Maneuver</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GAT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Attitude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GAT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GOHOME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GAT </a:t>
            </a:r>
            <a:r>
              <a:rPr lang="en-US" altLang="zh-TW" sz="1400" kern="100" dirty="0">
                <a:effectLst/>
                <a:latin typeface="Times New Roman" panose="02020603050405020304" pitchFamily="18" charset="0"/>
                <a:ea typeface="標楷體" panose="03000509000000000000" pitchFamily="65" charset="-120"/>
              </a:rPr>
              <a:t>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GAT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GAT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Playback</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zh-TW" altLang="en-US" kern="100" dirty="0">
                <a:solidFill>
                  <a:srgbClr val="C00000"/>
                </a:solidFill>
                <a:latin typeface="Times New Roman" panose="02020603050405020304" pitchFamily="18" charset="0"/>
                <a:ea typeface="標楷體" panose="03000509000000000000" pitchFamily="65" charset="-120"/>
              </a:rPr>
              <a:t>對應相同</a:t>
            </a:r>
            <a:r>
              <a:rPr lang="en-US" altLang="zh-TW" kern="100" dirty="0">
                <a:solidFill>
                  <a:srgbClr val="C00000"/>
                </a:solidFill>
                <a:latin typeface="Times New Roman" panose="02020603050405020304" pitchFamily="18" charset="0"/>
                <a:ea typeface="標楷體" panose="03000509000000000000" pitchFamily="65" charset="-120"/>
              </a:rPr>
              <a:t>contact id</a:t>
            </a:r>
            <a:r>
              <a:rPr lang="zh-TW" altLang="en-US" kern="100" dirty="0">
                <a:solidFill>
                  <a:srgbClr val="C00000"/>
                </a:solidFill>
                <a:latin typeface="Times New Roman" panose="02020603050405020304" pitchFamily="18" charset="0"/>
                <a:ea typeface="標楷體" panose="03000509000000000000" pitchFamily="65" charset="-120"/>
              </a:rPr>
              <a:t>下的</a:t>
            </a:r>
            <a:r>
              <a:rPr lang="en-US" altLang="zh-TW" kern="100" dirty="0">
                <a:solidFill>
                  <a:srgbClr val="C00000"/>
                </a:solidFill>
                <a:latin typeface="Times New Roman" panose="02020603050405020304" pitchFamily="18" charset="0"/>
                <a:ea typeface="標楷體" panose="03000509000000000000" pitchFamily="65" charset="-120"/>
              </a:rPr>
              <a:t>GOHOME Maneuver</a:t>
            </a:r>
            <a:r>
              <a:rPr lang="zh-TW" altLang="en-US" kern="100" dirty="0">
                <a:solidFill>
                  <a:srgbClr val="C00000"/>
                </a:solidFill>
                <a:latin typeface="Times New Roman" panose="02020603050405020304" pitchFamily="18" charset="0"/>
                <a:ea typeface="標楷體" panose="03000509000000000000" pitchFamily="65" charset="-120"/>
              </a:rPr>
              <a:t>有執行，</a:t>
            </a:r>
            <a:r>
              <a:rPr lang="en-US" altLang="zh-TW" kern="100" dirty="0">
                <a:solidFill>
                  <a:srgbClr val="C00000"/>
                </a:solidFill>
                <a:latin typeface="Times New Roman" panose="02020603050405020304" pitchFamily="18" charset="0"/>
                <a:ea typeface="標楷體" panose="03000509000000000000" pitchFamily="65" charset="-120"/>
              </a:rPr>
              <a:t>GAT</a:t>
            </a:r>
            <a:r>
              <a:rPr lang="zh-TW" altLang="en-US" kern="100" dirty="0">
                <a:solidFill>
                  <a:srgbClr val="C00000"/>
                </a:solidFill>
                <a:latin typeface="Times New Roman" panose="02020603050405020304" pitchFamily="18" charset="0"/>
                <a:ea typeface="標楷體" panose="03000509000000000000" pitchFamily="65" charset="-120"/>
              </a:rPr>
              <a:t> </a:t>
            </a:r>
            <a:r>
              <a:rPr lang="en-US" altLang="zh-TW" kern="100" dirty="0">
                <a:solidFill>
                  <a:srgbClr val="C00000"/>
                </a:solidFill>
                <a:latin typeface="Times New Roman" panose="02020603050405020304" pitchFamily="18" charset="0"/>
                <a:ea typeface="標楷體" panose="03000509000000000000" pitchFamily="65" charset="-120"/>
              </a:rPr>
              <a:t>Maneuver</a:t>
            </a:r>
            <a:r>
              <a:rPr lang="zh-TW" altLang="en-US" kern="100" dirty="0">
                <a:solidFill>
                  <a:srgbClr val="C00000"/>
                </a:solidFill>
                <a:latin typeface="Times New Roman" panose="02020603050405020304" pitchFamily="18" charset="0"/>
                <a:ea typeface="標楷體" panose="03000509000000000000" pitchFamily="65" charset="-120"/>
              </a:rPr>
              <a:t>也需執行</a:t>
            </a:r>
            <a:r>
              <a:rPr lang="zh-TW" altLang="zh-TW" sz="1400" kern="100" dirty="0">
                <a:solidFill>
                  <a:srgbClr val="C00000"/>
                </a:solidFill>
                <a:effectLst/>
                <a:latin typeface="Times New Roman" panose="02020603050405020304" pitchFamily="18" charset="0"/>
                <a:ea typeface="標楷體" panose="03000509000000000000" pitchFamily="65" charset="-120"/>
              </a:rPr>
              <a:t>。</a:t>
            </a:r>
            <a:endParaRPr lang="zh-TW" altLang="en-US" sz="1400" kern="100" dirty="0">
              <a:solidFill>
                <a:srgbClr val="C00000"/>
              </a:solidFill>
              <a:effectLst/>
              <a:latin typeface="Times New Roman" panose="02020603050405020304" pitchFamily="18" charset="0"/>
              <a:ea typeface="標楷體" panose="03000509000000000000" pitchFamily="65" charset="-120"/>
            </a:endParaRPr>
          </a:p>
        </p:txBody>
      </p:sp>
      <p:sp>
        <p:nvSpPr>
          <p:cNvPr id="7" name="Google Shape;230;p30">
            <a:extLst>
              <a:ext uri="{FF2B5EF4-FFF2-40B4-BE49-F238E27FC236}">
                <a16:creationId xmlns:a16="http://schemas.microsoft.com/office/drawing/2014/main" id="{DDADE77F-2043-E9E8-DB1A-20ADE86B2667}"/>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4;p30">
            <a:hlinkClick r:id="" action="ppaction://hlinkshowjump?jump=firstslide"/>
            <a:extLst>
              <a:ext uri="{FF2B5EF4-FFF2-40B4-BE49-F238E27FC236}">
                <a16:creationId xmlns:a16="http://schemas.microsoft.com/office/drawing/2014/main" id="{69570452-E814-1E74-37CD-8AF885906491}"/>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Google Shape;234;p30">
            <a:hlinkClick r:id="" action="ppaction://hlinkshowjump?jump=firstslide"/>
            <a:extLst>
              <a:ext uri="{FF2B5EF4-FFF2-40B4-BE49-F238E27FC236}">
                <a16:creationId xmlns:a16="http://schemas.microsoft.com/office/drawing/2014/main" id="{BC683990-27E5-FF72-5454-04AE768B52FE}"/>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hlinkClick r:id="rId3" action="ppaction://hlinksldjump"/>
            <a:extLst>
              <a:ext uri="{FF2B5EF4-FFF2-40B4-BE49-F238E27FC236}">
                <a16:creationId xmlns:a16="http://schemas.microsoft.com/office/drawing/2014/main" id="{DA9DC93E-C533-2735-495A-15223C91DB39}"/>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4" action="ppaction://hlinksldjump"/>
            <a:extLst>
              <a:ext uri="{FF2B5EF4-FFF2-40B4-BE49-F238E27FC236}">
                <a16:creationId xmlns:a16="http://schemas.microsoft.com/office/drawing/2014/main" id="{DF4DF786-9E73-52D1-24B4-74466FCF14C4}"/>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19221354-97D6-BB75-7D66-2141ECD51302}"/>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5" action="ppaction://hlinksldjump"/>
            <a:extLst>
              <a:ext uri="{FF2B5EF4-FFF2-40B4-BE49-F238E27FC236}">
                <a16:creationId xmlns:a16="http://schemas.microsoft.com/office/drawing/2014/main" id="{4DD33D38-3770-A179-E07B-3D2B4E1168E5}"/>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B4CD47A8-1B7B-95DC-6164-635A53700E98}"/>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C8F8353B-D989-7735-2B59-342DFE5A9847}"/>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68AEBDAC-A4F4-6A8D-2A05-2656304D586F}"/>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CC0C2E8B-6D5B-E35B-B766-62291A938EA5}"/>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2677EB0C-61DB-304C-594D-B14E552DFBE9}"/>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3EA62692-3589-7E3B-2F63-15A6AFC28241}"/>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484062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2" name="Google Shape;3042;p38">
            <a:extLst>
              <a:ext uri="{FF2B5EF4-FFF2-40B4-BE49-F238E27FC236}">
                <a16:creationId xmlns:a16="http://schemas.microsoft.com/office/drawing/2014/main" id="{0D41E068-455F-CF65-98F4-411328B82967}"/>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EB9C2B86-449D-0A81-1981-FE8ACF25DE6D}"/>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活動限制說明（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3/5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文字方塊 4">
            <a:extLst>
              <a:ext uri="{FF2B5EF4-FFF2-40B4-BE49-F238E27FC236}">
                <a16:creationId xmlns:a16="http://schemas.microsoft.com/office/drawing/2014/main" id="{DD7FEF9E-98A8-A770-64D4-0422CA2B01AE}"/>
              </a:ext>
            </a:extLst>
          </p:cNvPr>
          <p:cNvSpPr txBox="1"/>
          <p:nvPr/>
        </p:nvSpPr>
        <p:spPr>
          <a:xfrm>
            <a:off x="36138" y="1286982"/>
            <a:ext cx="4433500" cy="1051250"/>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Monitoring</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Monitoring</a:t>
            </a:r>
            <a:r>
              <a:rPr lang="zh-TW" altLang="en-US" kern="100" dirty="0">
                <a:latin typeface="Times New Roman" panose="02020603050405020304" pitchFamily="18" charset="0"/>
                <a:ea typeface="標楷體" panose="03000509000000000000" pitchFamily="65" charset="-120"/>
              </a:rPr>
              <a:t>需與</a:t>
            </a:r>
            <a:r>
              <a:rPr lang="en-US" altLang="zh-TW" kern="100" dirty="0">
                <a:latin typeface="Times New Roman" panose="02020603050405020304" pitchFamily="18" charset="0"/>
                <a:ea typeface="標楷體" panose="03000509000000000000" pitchFamily="65" charset="-120"/>
              </a:rPr>
              <a:t>S-band</a:t>
            </a:r>
            <a:r>
              <a:rPr lang="zh-TW" altLang="en-US" kern="100" dirty="0">
                <a:latin typeface="Times New Roman" panose="02020603050405020304" pitchFamily="18" charset="0"/>
                <a:ea typeface="標楷體" panose="03000509000000000000" pitchFamily="65" charset="-120"/>
              </a:rPr>
              <a:t>的地面站接觸</a:t>
            </a:r>
            <a:r>
              <a:rPr lang="zh-TW" altLang="zh-TW" sz="1400" kern="100" dirty="0">
                <a:effectLst/>
                <a:latin typeface="Times New Roman" panose="02020603050405020304" pitchFamily="18" charset="0"/>
                <a:ea typeface="標楷體" panose="03000509000000000000" pitchFamily="65" charset="-120"/>
              </a:rPr>
              <a:t>。</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Monitoring</a:t>
            </a:r>
            <a:r>
              <a:rPr lang="zh-TW" altLang="en-US" sz="1400" kern="100" dirty="0">
                <a:effectLst/>
                <a:latin typeface="Times New Roman" panose="02020603050405020304" pitchFamily="18" charset="0"/>
                <a:ea typeface="標楷體" panose="03000509000000000000" pitchFamily="65" charset="-120"/>
              </a:rPr>
              <a:t>間不可重疊</a:t>
            </a:r>
            <a:r>
              <a:rPr lang="zh-TW" altLang="zh-TW" sz="1400" kern="100" dirty="0">
                <a:effectLst/>
                <a:latin typeface="Times New Roman" panose="02020603050405020304" pitchFamily="18" charset="0"/>
                <a:ea typeface="標楷體" panose="03000509000000000000" pitchFamily="65" charset="-120"/>
              </a:rPr>
              <a:t>。</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47B762E6-199B-471B-743C-6003B1F5D49B}"/>
              </a:ext>
            </a:extLst>
          </p:cNvPr>
          <p:cNvSpPr txBox="1"/>
          <p:nvPr/>
        </p:nvSpPr>
        <p:spPr>
          <a:xfrm>
            <a:off x="4674362" y="1286982"/>
            <a:ext cx="4433500" cy="3735061"/>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RSI</a:t>
            </a:r>
            <a:r>
              <a:rPr lang="zh-TW" altLang="en-US" b="1" u="sng" dirty="0">
                <a:latin typeface="Times New Roman" panose="02020603050405020304" pitchFamily="18" charset="0"/>
                <a:cs typeface="Times New Roman" panose="02020603050405020304" pitchFamily="18" charset="0"/>
              </a:rPr>
              <a:t> </a:t>
            </a:r>
            <a:r>
              <a:rPr lang="en-US" altLang="zh-TW" b="1" u="sng" dirty="0">
                <a:latin typeface="Times New Roman" panose="02020603050405020304" pitchFamily="18" charset="0"/>
                <a:cs typeface="Times New Roman" panose="02020603050405020304" pitchFamily="18" charset="0"/>
              </a:rPr>
              <a:t>Record</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Attitude</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GOHOME Maneuver</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en-US" sz="1400" kern="100" dirty="0">
                <a:effectLst/>
                <a:latin typeface="Times New Roman" panose="02020603050405020304" pitchFamily="18" charset="0"/>
                <a:ea typeface="標楷體" panose="03000509000000000000" pitchFamily="65" charset="-120"/>
              </a:rPr>
              <a:t>不</a:t>
            </a:r>
            <a:r>
              <a:rPr lang="zh-TW" altLang="zh-TW" sz="1400" kern="100" dirty="0">
                <a:effectLst/>
                <a:latin typeface="Times New Roman" panose="02020603050405020304" pitchFamily="18" charset="0"/>
                <a:ea typeface="標楷體" panose="03000509000000000000" pitchFamily="65" charset="-120"/>
              </a:rPr>
              <a:t>可與</a:t>
            </a:r>
            <a:r>
              <a:rPr lang="en-US" altLang="zh-TW" kern="100" dirty="0">
                <a:latin typeface="Times New Roman" panose="02020603050405020304" pitchFamily="18" charset="0"/>
                <a:ea typeface="標楷體" panose="03000509000000000000" pitchFamily="65" charset="-120"/>
              </a:rPr>
              <a:t>Orbit</a:t>
            </a:r>
            <a:r>
              <a:rPr lang="en-US" altLang="zh-TW" sz="1400" kern="100" dirty="0">
                <a:effectLst/>
                <a:latin typeface="Times New Roman" panose="02020603050405020304" pitchFamily="18" charset="0"/>
                <a:ea typeface="標楷體" panose="03000509000000000000" pitchFamily="65" charset="-120"/>
              </a:rPr>
              <a: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en-US"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GAT Maneuver</a:t>
            </a:r>
            <a:r>
              <a:rPr lang="zh-TW" altLang="en-US"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a:t>
            </a:r>
            <a:r>
              <a:rPr lang="en-US" altLang="zh-TW" kern="100" dirty="0">
                <a:latin typeface="Times New Roman" panose="02020603050405020304" pitchFamily="18" charset="0"/>
                <a:ea typeface="標楷體" panose="03000509000000000000" pitchFamily="65" charset="-120"/>
              </a:rPr>
              <a:t>k</a:t>
            </a:r>
            <a:r>
              <a:rPr lang="zh-TW" altLang="zh-TW" sz="1400" kern="100" dirty="0">
                <a:effectLst/>
                <a:latin typeface="Times New Roman" panose="02020603050405020304" pitchFamily="18" charset="0"/>
                <a:ea typeface="標楷體" panose="03000509000000000000" pitchFamily="65" charset="-120"/>
              </a:rPr>
              <a:t>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Delete</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SPL</a:t>
            </a:r>
            <a:r>
              <a:rPr lang="zh-TW" altLang="en-US" sz="1400" kern="100" dirty="0">
                <a:effectLst/>
                <a:latin typeface="Times New Roman" panose="02020603050405020304" pitchFamily="18" charset="0"/>
                <a:ea typeface="標楷體" panose="03000509000000000000" pitchFamily="65" charset="-120"/>
              </a:rPr>
              <a:t> </a:t>
            </a:r>
            <a:r>
              <a:rPr lang="en-US" altLang="zh-TW" sz="1400" kern="100" dirty="0">
                <a:effectLst/>
                <a:latin typeface="Times New Roman" panose="02020603050405020304" pitchFamily="18" charset="0"/>
                <a:ea typeface="標楷體" panose="03000509000000000000" pitchFamily="65" charset="-120"/>
              </a:rPr>
              <a:t>Procedure</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zh-TW" sz="1400" kern="100" dirty="0">
                <a:effectLst/>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SPL Playback</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Record</a:t>
            </a:r>
            <a:r>
              <a:rPr lang="zh-TW" altLang="en-US" kern="100" dirty="0">
                <a:latin typeface="Times New Roman" panose="02020603050405020304" pitchFamily="18" charset="0"/>
                <a:ea typeface="標楷體" panose="03000509000000000000" pitchFamily="65" charset="-120"/>
              </a:rPr>
              <a:t>每軌最多只能執行</a:t>
            </a:r>
            <a:r>
              <a:rPr lang="en-US" altLang="zh-TW" kern="100" dirty="0">
                <a:latin typeface="Times New Roman" panose="02020603050405020304" pitchFamily="18" charset="0"/>
                <a:ea typeface="標楷體" panose="03000509000000000000" pitchFamily="65" charset="-120"/>
              </a:rPr>
              <a:t>8</a:t>
            </a:r>
            <a:r>
              <a:rPr lang="zh-TW" altLang="en-US" kern="100" dirty="0">
                <a:latin typeface="Times New Roman" panose="02020603050405020304" pitchFamily="18" charset="0"/>
                <a:ea typeface="標楷體" panose="03000509000000000000" pitchFamily="65" charset="-120"/>
              </a:rPr>
              <a:t>分鐘</a:t>
            </a:r>
            <a:r>
              <a:rPr lang="zh-TW" altLang="zh-TW" sz="1400" kern="100" dirty="0">
                <a:effectLst/>
                <a:latin typeface="Times New Roman" panose="02020603050405020304" pitchFamily="18" charset="0"/>
                <a:ea typeface="標楷體" panose="03000509000000000000" pitchFamily="65" charset="-120"/>
              </a:rPr>
              <a:t>。</a:t>
            </a:r>
            <a:endParaRPr lang="en-US" altLang="zh-TW" sz="1400" kern="100" dirty="0">
              <a:effectLst/>
              <a:latin typeface="Times New Roman" panose="02020603050405020304" pitchFamily="18" charset="0"/>
              <a:ea typeface="標楷體" panose="03000509000000000000" pitchFamily="65" charset="-120"/>
            </a:endParaRPr>
          </a:p>
        </p:txBody>
      </p:sp>
      <p:sp>
        <p:nvSpPr>
          <p:cNvPr id="7" name="Google Shape;230;p30">
            <a:extLst>
              <a:ext uri="{FF2B5EF4-FFF2-40B4-BE49-F238E27FC236}">
                <a16:creationId xmlns:a16="http://schemas.microsoft.com/office/drawing/2014/main" id="{8963EFAC-7AEA-2BD0-3B63-7E72FDFD4012}"/>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4;p30">
            <a:hlinkClick r:id="" action="ppaction://hlinkshowjump?jump=firstslide"/>
            <a:extLst>
              <a:ext uri="{FF2B5EF4-FFF2-40B4-BE49-F238E27FC236}">
                <a16:creationId xmlns:a16="http://schemas.microsoft.com/office/drawing/2014/main" id="{13B946C4-ED6A-05C4-8332-BA3F6441A77E}"/>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Google Shape;234;p30">
            <a:hlinkClick r:id="" action="ppaction://hlinkshowjump?jump=firstslide"/>
            <a:extLst>
              <a:ext uri="{FF2B5EF4-FFF2-40B4-BE49-F238E27FC236}">
                <a16:creationId xmlns:a16="http://schemas.microsoft.com/office/drawing/2014/main" id="{2ABC611A-E1AC-4B58-0B44-BDC3C1AFF359}"/>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hlinkClick r:id="rId3" action="ppaction://hlinksldjump"/>
            <a:extLst>
              <a:ext uri="{FF2B5EF4-FFF2-40B4-BE49-F238E27FC236}">
                <a16:creationId xmlns:a16="http://schemas.microsoft.com/office/drawing/2014/main" id="{D3F63079-728F-AF76-A916-7252304D709A}"/>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4" action="ppaction://hlinksldjump"/>
            <a:extLst>
              <a:ext uri="{FF2B5EF4-FFF2-40B4-BE49-F238E27FC236}">
                <a16:creationId xmlns:a16="http://schemas.microsoft.com/office/drawing/2014/main" id="{59414236-7671-9728-C240-8FCF976D027E}"/>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96C39D38-FFE6-0828-3B79-B6FB7BBFFDAD}"/>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5" action="ppaction://hlinksldjump"/>
            <a:extLst>
              <a:ext uri="{FF2B5EF4-FFF2-40B4-BE49-F238E27FC236}">
                <a16:creationId xmlns:a16="http://schemas.microsoft.com/office/drawing/2014/main" id="{94CA8F7F-5450-C617-01B0-F0C0678BF891}"/>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A4D32CA8-7893-6A69-83BB-740629ECEC50}"/>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4324D8C7-BA9F-CFA0-4FB9-A342D6E85C5B}"/>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0EC3028F-F665-F4B3-57BA-429F4118985F}"/>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D5CD10D2-A6A3-6E79-BB94-4C852AD3FC78}"/>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41303C95-E368-BC46-3B25-19729CF6549F}"/>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D200DB96-D2EC-0F91-44F8-5ADAFD0E7D9B}"/>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27735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5" name="文字方塊 4">
            <a:extLst>
              <a:ext uri="{FF2B5EF4-FFF2-40B4-BE49-F238E27FC236}">
                <a16:creationId xmlns:a16="http://schemas.microsoft.com/office/drawing/2014/main" id="{DD7FEF9E-98A8-A770-64D4-0422CA2B01AE}"/>
              </a:ext>
            </a:extLst>
          </p:cNvPr>
          <p:cNvSpPr txBox="1"/>
          <p:nvPr/>
        </p:nvSpPr>
        <p:spPr>
          <a:xfrm>
            <a:off x="36138" y="129821"/>
            <a:ext cx="4535861" cy="4999382"/>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RSI Playback</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間不可重疊</a:t>
            </a:r>
            <a:r>
              <a:rPr lang="zh-TW" altLang="zh-TW" sz="1400" kern="100" dirty="0">
                <a:effectLst/>
                <a:latin typeface="Times New Roman" panose="02020603050405020304" pitchFamily="18" charset="0"/>
                <a:ea typeface="標楷體" panose="03000509000000000000" pitchFamily="65" charset="-120"/>
              </a:rPr>
              <a:t>。</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a:t>
            </a:r>
            <a:r>
              <a:rPr lang="zh-TW" altLang="en-US" kern="100" dirty="0">
                <a:latin typeface="Times New Roman" panose="02020603050405020304" pitchFamily="18" charset="0"/>
                <a:ea typeface="標楷體" panose="03000509000000000000" pitchFamily="65" charset="-120"/>
              </a:rPr>
              <a:t> </a:t>
            </a:r>
            <a:r>
              <a:rPr lang="en-US" altLang="zh-TW" kern="100" dirty="0">
                <a:latin typeface="Times New Roman" panose="02020603050405020304" pitchFamily="18" charset="0"/>
                <a:ea typeface="標楷體" panose="03000509000000000000" pitchFamily="65" charset="-120"/>
              </a:rPr>
              <a:t>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Orbit Maneuver</a:t>
            </a:r>
            <a:r>
              <a:rPr lang="zh-TW" altLang="en-US" kern="100" dirty="0">
                <a:latin typeface="Times New Roman" panose="02020603050405020304" pitchFamily="18" charset="0"/>
                <a:ea typeface="標楷體" panose="03000509000000000000" pitchFamily="65" charset="-120"/>
              </a:rPr>
              <a:t>重疊。</a:t>
            </a:r>
            <a:endParaRPr lang="en-US" altLang="zh-TW" kern="100" dirty="0">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Attitude Maneuver</a:t>
            </a:r>
            <a:r>
              <a:rPr lang="zh-TW" altLang="en-US" kern="100" dirty="0">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GOHOME Maneuver</a:t>
            </a:r>
            <a:r>
              <a:rPr lang="zh-TW" altLang="en-US" kern="100" dirty="0">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GAT Maneuver</a:t>
            </a:r>
            <a:r>
              <a:rPr lang="zh-TW" altLang="en-US" kern="100" dirty="0">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RSI Record</a:t>
            </a:r>
            <a:r>
              <a:rPr lang="zh-TW" altLang="en-US" kern="100" dirty="0">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RSI Delete</a:t>
            </a:r>
            <a:r>
              <a:rPr lang="zh-TW" altLang="en-US" kern="100" dirty="0">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每軌最多只能執行</a:t>
            </a:r>
            <a:r>
              <a:rPr lang="en-US" altLang="zh-TW" kern="100" dirty="0">
                <a:latin typeface="Times New Roman" panose="02020603050405020304" pitchFamily="18" charset="0"/>
                <a:ea typeface="標楷體" panose="03000509000000000000" pitchFamily="65" charset="-120"/>
              </a:rPr>
              <a:t>10</a:t>
            </a:r>
            <a:r>
              <a:rPr lang="zh-TW" altLang="en-US" kern="100" dirty="0">
                <a:latin typeface="Times New Roman" panose="02020603050405020304" pitchFamily="18" charset="0"/>
                <a:ea typeface="標楷體" panose="03000509000000000000" pitchFamily="65" charset="-120"/>
              </a:rPr>
              <a:t>分鐘。</a:t>
            </a:r>
            <a:endParaRPr lang="en-US" altLang="zh-TW" kern="100" dirty="0">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需在</a:t>
            </a:r>
            <a:r>
              <a:rPr lang="en-US" altLang="zh-TW" kern="100" dirty="0">
                <a:latin typeface="Times New Roman" panose="02020603050405020304" pitchFamily="18" charset="0"/>
                <a:ea typeface="標楷體" panose="03000509000000000000" pitchFamily="65" charset="-120"/>
              </a:rPr>
              <a:t>11.5-degree X-band</a:t>
            </a:r>
            <a:r>
              <a:rPr lang="zh-TW" altLang="en-US" kern="100" dirty="0">
                <a:latin typeface="Times New Roman" panose="02020603050405020304" pitchFamily="18" charset="0"/>
                <a:ea typeface="標楷體" panose="03000509000000000000" pitchFamily="65" charset="-120"/>
              </a:rPr>
              <a:t>中執行。</a:t>
            </a:r>
          </a:p>
          <a:p>
            <a:pPr marL="342900" indent="-342900">
              <a:lnSpc>
                <a:spcPct val="120000"/>
              </a:lnSpc>
              <a:spcAft>
                <a:spcPts val="600"/>
              </a:spcAft>
              <a:buFont typeface="+mj-lt"/>
              <a:buAutoNum type="arabicPeriod"/>
            </a:pPr>
            <a:r>
              <a:rPr lang="zh-TW" altLang="en-US" kern="100" dirty="0">
                <a:latin typeface="Times New Roman" panose="02020603050405020304" pitchFamily="18" charset="0"/>
                <a:ea typeface="標楷體" panose="03000509000000000000" pitchFamily="65" charset="-120"/>
              </a:rPr>
              <a:t>與</a:t>
            </a: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相同</a:t>
            </a:r>
            <a:r>
              <a:rPr lang="en-US" altLang="zh-TW" kern="100" dirty="0" err="1">
                <a:latin typeface="Times New Roman" panose="02020603050405020304" pitchFamily="18" charset="0"/>
                <a:ea typeface="標楷體" panose="03000509000000000000" pitchFamily="65" charset="-120"/>
              </a:rPr>
              <a:t>arlentryid</a:t>
            </a:r>
            <a:r>
              <a:rPr lang="zh-TW" altLang="en-US" kern="100" dirty="0">
                <a:latin typeface="Times New Roman" panose="02020603050405020304" pitchFamily="18" charset="0"/>
                <a:ea typeface="標楷體" panose="03000509000000000000" pitchFamily="65" charset="-120"/>
              </a:rPr>
              <a:t>的</a:t>
            </a:r>
            <a:r>
              <a:rPr lang="en-US" altLang="zh-TW" kern="100" dirty="0">
                <a:latin typeface="Times New Roman" panose="02020603050405020304" pitchFamily="18" charset="0"/>
                <a:ea typeface="標楷體" panose="03000509000000000000" pitchFamily="65" charset="-120"/>
              </a:rPr>
              <a:t>RSI Record</a:t>
            </a:r>
            <a:r>
              <a:rPr lang="zh-TW" altLang="en-US" kern="100" dirty="0">
                <a:latin typeface="Times New Roman" panose="02020603050405020304" pitchFamily="18" charset="0"/>
                <a:ea typeface="標楷體" panose="03000509000000000000" pitchFamily="65" charset="-120"/>
              </a:rPr>
              <a:t>有執行，</a:t>
            </a:r>
            <a:r>
              <a:rPr lang="en-US" altLang="zh-TW" kern="100" dirty="0">
                <a:latin typeface="Times New Roman" panose="02020603050405020304" pitchFamily="18" charset="0"/>
                <a:ea typeface="標楷體" panose="03000509000000000000" pitchFamily="65" charset="-120"/>
              </a:rPr>
              <a:t>RSI Playback</a:t>
            </a:r>
            <a:r>
              <a:rPr lang="zh-TW" altLang="en-US" kern="100" dirty="0">
                <a:latin typeface="Times New Roman" panose="02020603050405020304" pitchFamily="18" charset="0"/>
                <a:ea typeface="標楷體" panose="03000509000000000000" pitchFamily="65" charset="-120"/>
              </a:rPr>
              <a:t>才可執行。</a:t>
            </a:r>
          </a:p>
          <a:p>
            <a:pPr marL="342900" indent="-342900">
              <a:lnSpc>
                <a:spcPct val="120000"/>
              </a:lnSpc>
              <a:spcAft>
                <a:spcPts val="600"/>
              </a:spcAft>
              <a:buFont typeface="+mj-lt"/>
              <a:buAutoNum type="arabicPeriod"/>
            </a:pPr>
            <a:r>
              <a:rPr lang="en-US" altLang="zh-TW" kern="100" dirty="0">
                <a:solidFill>
                  <a:srgbClr val="C00000"/>
                </a:solidFill>
                <a:latin typeface="Times New Roman" panose="02020603050405020304" pitchFamily="18" charset="0"/>
                <a:ea typeface="標楷體" panose="03000509000000000000" pitchFamily="65" charset="-120"/>
              </a:rPr>
              <a:t>RSI Playback</a:t>
            </a:r>
            <a:r>
              <a:rPr lang="zh-TW" altLang="en-US" kern="100" dirty="0">
                <a:solidFill>
                  <a:srgbClr val="C00000"/>
                </a:solidFill>
                <a:latin typeface="Times New Roman" panose="02020603050405020304" pitchFamily="18" charset="0"/>
                <a:ea typeface="標楷體" panose="03000509000000000000" pitchFamily="65" charset="-120"/>
              </a:rPr>
              <a:t>執行前對應的</a:t>
            </a:r>
            <a:r>
              <a:rPr lang="en-US" altLang="zh-TW" kern="100" dirty="0">
                <a:solidFill>
                  <a:srgbClr val="C00000"/>
                </a:solidFill>
                <a:latin typeface="Times New Roman" panose="02020603050405020304" pitchFamily="18" charset="0"/>
                <a:ea typeface="標楷體" panose="03000509000000000000" pitchFamily="65" charset="-120"/>
              </a:rPr>
              <a:t>GAT Maneuver</a:t>
            </a:r>
            <a:r>
              <a:rPr lang="zh-TW" altLang="en-US" kern="100" dirty="0">
                <a:solidFill>
                  <a:srgbClr val="C00000"/>
                </a:solidFill>
                <a:latin typeface="Times New Roman" panose="02020603050405020304" pitchFamily="18" charset="0"/>
                <a:ea typeface="標楷體" panose="03000509000000000000" pitchFamily="65" charset="-120"/>
              </a:rPr>
              <a:t>需先執行。</a:t>
            </a:r>
          </a:p>
          <a:p>
            <a:pPr marL="342900" indent="-342900">
              <a:lnSpc>
                <a:spcPct val="120000"/>
              </a:lnSpc>
              <a:spcAft>
                <a:spcPts val="600"/>
              </a:spcAft>
              <a:buFont typeface="+mj-lt"/>
              <a:buAutoNum type="arabicPeriod"/>
            </a:pPr>
            <a:r>
              <a:rPr lang="en-US" altLang="zh-TW" kern="100" dirty="0">
                <a:solidFill>
                  <a:srgbClr val="C00000"/>
                </a:solidFill>
                <a:latin typeface="Times New Roman" panose="02020603050405020304" pitchFamily="18" charset="0"/>
                <a:ea typeface="標楷體" panose="03000509000000000000" pitchFamily="65" charset="-120"/>
              </a:rPr>
              <a:t>RSI Playback</a:t>
            </a:r>
            <a:r>
              <a:rPr lang="zh-TW" altLang="en-US" kern="100" dirty="0">
                <a:solidFill>
                  <a:srgbClr val="C00000"/>
                </a:solidFill>
                <a:latin typeface="Times New Roman" panose="02020603050405020304" pitchFamily="18" charset="0"/>
                <a:ea typeface="標楷體" panose="03000509000000000000" pitchFamily="65" charset="-120"/>
              </a:rPr>
              <a:t>需於對應的</a:t>
            </a:r>
            <a:r>
              <a:rPr lang="en-US" altLang="zh-TW" kern="100" dirty="0">
                <a:solidFill>
                  <a:srgbClr val="C00000"/>
                </a:solidFill>
                <a:latin typeface="Times New Roman" panose="02020603050405020304" pitchFamily="18" charset="0"/>
                <a:ea typeface="標楷體" panose="03000509000000000000" pitchFamily="65" charset="-120"/>
              </a:rPr>
              <a:t>GOHOME Maneuver</a:t>
            </a:r>
            <a:r>
              <a:rPr lang="zh-TW" altLang="en-US" kern="100" dirty="0">
                <a:solidFill>
                  <a:srgbClr val="C00000"/>
                </a:solidFill>
                <a:latin typeface="Times New Roman" panose="02020603050405020304" pitchFamily="18" charset="0"/>
                <a:ea typeface="標楷體" panose="03000509000000000000" pitchFamily="65" charset="-120"/>
              </a:rPr>
              <a:t>前執行</a:t>
            </a:r>
            <a:r>
              <a:rPr lang="zh-TW" altLang="en-US" kern="100" dirty="0">
                <a:latin typeface="Times New Roman" panose="02020603050405020304" pitchFamily="18" charset="0"/>
                <a:ea typeface="標楷體" panose="03000509000000000000" pitchFamily="65" charset="-120"/>
              </a:rPr>
              <a:t>。</a:t>
            </a:r>
          </a:p>
          <a:p>
            <a:pPr marL="342900" indent="-342900">
              <a:lnSpc>
                <a:spcPct val="120000"/>
              </a:lnSpc>
              <a:spcAft>
                <a:spcPts val="600"/>
              </a:spcAft>
              <a:buFont typeface="+mj-lt"/>
              <a:buAutoNum type="arabicPeriod"/>
            </a:pPr>
            <a:endParaRPr lang="en-US" altLang="zh-TW" kern="100" dirty="0">
              <a:latin typeface="Times New Roman" panose="02020603050405020304" pitchFamily="18" charset="0"/>
              <a:ea typeface="標楷體" panose="03000509000000000000" pitchFamily="65" charset="-120"/>
            </a:endParaRPr>
          </a:p>
        </p:txBody>
      </p:sp>
      <p:sp>
        <p:nvSpPr>
          <p:cNvPr id="9" name="文字方塊 8">
            <a:extLst>
              <a:ext uri="{FF2B5EF4-FFF2-40B4-BE49-F238E27FC236}">
                <a16:creationId xmlns:a16="http://schemas.microsoft.com/office/drawing/2014/main" id="{47B762E6-199B-471B-743C-6003B1F5D49B}"/>
              </a:ext>
            </a:extLst>
          </p:cNvPr>
          <p:cNvSpPr txBox="1"/>
          <p:nvPr/>
        </p:nvSpPr>
        <p:spPr>
          <a:xfrm>
            <a:off x="4787650" y="129821"/>
            <a:ext cx="4433500" cy="3168753"/>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RSI</a:t>
            </a:r>
            <a:r>
              <a:rPr lang="zh-TW" altLang="en-US" b="1" u="sng" dirty="0">
                <a:latin typeface="Times New Roman" panose="02020603050405020304" pitchFamily="18" charset="0"/>
                <a:cs typeface="Times New Roman" panose="02020603050405020304" pitchFamily="18" charset="0"/>
              </a:rPr>
              <a:t> </a:t>
            </a:r>
            <a:r>
              <a:rPr lang="en-US" altLang="zh-TW" b="1" u="sng" dirty="0">
                <a:latin typeface="Times New Roman" panose="02020603050405020304" pitchFamily="18" charset="0"/>
                <a:cs typeface="Times New Roman" panose="02020603050405020304" pitchFamily="18" charset="0"/>
              </a:rPr>
              <a:t>Delete</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Delete</a:t>
            </a:r>
            <a:r>
              <a:rPr lang="zh-TW" altLang="en-US" sz="1400" kern="100" dirty="0">
                <a:effectLst/>
                <a:latin typeface="Times New Roman" panose="02020603050405020304" pitchFamily="18" charset="0"/>
                <a:ea typeface="標楷體" panose="03000509000000000000" pitchFamily="65" charset="-120"/>
              </a:rPr>
              <a:t>需等相同</a:t>
            </a:r>
            <a:r>
              <a:rPr lang="en-US" altLang="zh-TW" sz="1400" kern="100" dirty="0" err="1">
                <a:effectLst/>
                <a:latin typeface="Times New Roman" panose="02020603050405020304" pitchFamily="18" charset="0"/>
                <a:ea typeface="標楷體" panose="03000509000000000000" pitchFamily="65" charset="-120"/>
              </a:rPr>
              <a:t>arlentryid</a:t>
            </a:r>
            <a:r>
              <a:rPr lang="zh-TW" altLang="en-US" sz="1400" kern="100" dirty="0">
                <a:effectLst/>
                <a:latin typeface="Times New Roman" panose="02020603050405020304" pitchFamily="18" charset="0"/>
                <a:ea typeface="標楷體" panose="03000509000000000000" pitchFamily="65" charset="-120"/>
              </a:rPr>
              <a:t>的</a:t>
            </a:r>
            <a:r>
              <a:rPr lang="en-US" altLang="zh-TW" sz="1400" kern="100" dirty="0">
                <a:effectLst/>
                <a:latin typeface="Times New Roman" panose="02020603050405020304" pitchFamily="18" charset="0"/>
                <a:ea typeface="標楷體" panose="03000509000000000000" pitchFamily="65" charset="-120"/>
              </a:rPr>
              <a:t>RSI Record</a:t>
            </a:r>
            <a:r>
              <a:rPr lang="zh-TW" altLang="en-US" sz="1400" kern="100" dirty="0">
                <a:effectLst/>
                <a:latin typeface="Times New Roman" panose="02020603050405020304" pitchFamily="18" charset="0"/>
                <a:ea typeface="標楷體" panose="03000509000000000000" pitchFamily="65" charset="-120"/>
              </a:rPr>
              <a:t>和</a:t>
            </a:r>
            <a:r>
              <a:rPr lang="en-US" altLang="zh-TW" sz="1400" kern="100" dirty="0">
                <a:effectLst/>
                <a:latin typeface="Times New Roman" panose="02020603050405020304" pitchFamily="18" charset="0"/>
                <a:ea typeface="標楷體" panose="03000509000000000000" pitchFamily="65" charset="-120"/>
              </a:rPr>
              <a:t>RSI Playback</a:t>
            </a:r>
            <a:r>
              <a:rPr lang="zh-TW" altLang="en-US" sz="1400" kern="100" dirty="0">
                <a:effectLst/>
                <a:latin typeface="Times New Roman" panose="02020603050405020304" pitchFamily="18" charset="0"/>
                <a:ea typeface="標楷體" panose="03000509000000000000" pitchFamily="65" charset="-120"/>
              </a:rPr>
              <a:t>執行完才可執行。</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Delete</a:t>
            </a:r>
            <a:r>
              <a:rPr lang="zh-TW" altLang="en-US" sz="1400" kern="100" dirty="0">
                <a:effectLst/>
                <a:latin typeface="Times New Roman" panose="02020603050405020304" pitchFamily="18" charset="0"/>
                <a:ea typeface="標楷體" panose="03000509000000000000" pitchFamily="65" charset="-120"/>
              </a:rPr>
              <a:t>需在相同</a:t>
            </a:r>
            <a:r>
              <a:rPr lang="en-US" altLang="zh-TW" sz="1400" kern="100" dirty="0" err="1">
                <a:effectLst/>
                <a:latin typeface="Times New Roman" panose="02020603050405020304" pitchFamily="18" charset="0"/>
                <a:ea typeface="標楷體" panose="03000509000000000000" pitchFamily="65" charset="-120"/>
              </a:rPr>
              <a:t>arlentryid</a:t>
            </a:r>
            <a:r>
              <a:rPr lang="zh-TW" altLang="en-US" sz="1400" kern="100" dirty="0">
                <a:effectLst/>
                <a:latin typeface="Times New Roman" panose="02020603050405020304" pitchFamily="18" charset="0"/>
                <a:ea typeface="標楷體" panose="03000509000000000000" pitchFamily="65" charset="-120"/>
              </a:rPr>
              <a:t>的</a:t>
            </a:r>
            <a:r>
              <a:rPr lang="en-US" altLang="zh-TW" sz="1400" kern="100" dirty="0">
                <a:effectLst/>
                <a:latin typeface="Times New Roman" panose="02020603050405020304" pitchFamily="18" charset="0"/>
                <a:ea typeface="標楷體" panose="03000509000000000000" pitchFamily="65" charset="-120"/>
              </a:rPr>
              <a:t>RSI Playback</a:t>
            </a:r>
            <a:r>
              <a:rPr lang="zh-TW" altLang="en-US" sz="1400" kern="100" dirty="0">
                <a:effectLst/>
                <a:latin typeface="Times New Roman" panose="02020603050405020304" pitchFamily="18" charset="0"/>
                <a:ea typeface="標楷體" panose="03000509000000000000" pitchFamily="65" charset="-120"/>
              </a:rPr>
              <a:t>對應到的</a:t>
            </a:r>
            <a:r>
              <a:rPr lang="en-US" altLang="zh-TW" sz="1400" kern="100" dirty="0">
                <a:effectLst/>
                <a:latin typeface="Times New Roman" panose="02020603050405020304" pitchFamily="18" charset="0"/>
                <a:ea typeface="標楷體" panose="03000509000000000000" pitchFamily="65" charset="-120"/>
              </a:rPr>
              <a:t>contact fade</a:t>
            </a:r>
            <a:r>
              <a:rPr lang="zh-TW" altLang="en-US" sz="1400" kern="100" dirty="0">
                <a:effectLst/>
                <a:latin typeface="Times New Roman" panose="02020603050405020304" pitchFamily="18" charset="0"/>
                <a:ea typeface="標楷體" panose="03000509000000000000" pitchFamily="65" charset="-120"/>
              </a:rPr>
              <a:t>後加</a:t>
            </a:r>
            <a:r>
              <a:rPr lang="en-US" altLang="zh-TW" sz="1400" kern="100" dirty="0">
                <a:effectLst/>
                <a:latin typeface="Times New Roman" panose="02020603050405020304" pitchFamily="18" charset="0"/>
                <a:ea typeface="標楷體" panose="03000509000000000000" pitchFamily="65" charset="-120"/>
              </a:rPr>
              <a:t>6</a:t>
            </a:r>
            <a:r>
              <a:rPr lang="zh-TW" altLang="en-US" sz="1400" kern="100" dirty="0">
                <a:effectLst/>
                <a:latin typeface="Times New Roman" panose="02020603050405020304" pitchFamily="18" charset="0"/>
                <a:ea typeface="標楷體" panose="03000509000000000000" pitchFamily="65" charset="-120"/>
              </a:rPr>
              <a:t>秒才可執行。</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Delete</a:t>
            </a:r>
            <a:r>
              <a:rPr lang="zh-TW" altLang="en-US"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Record</a:t>
            </a:r>
            <a:r>
              <a:rPr lang="zh-TW" altLang="en-US" sz="1400" kern="100" dirty="0">
                <a:effectLst/>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Delete</a:t>
            </a:r>
            <a:r>
              <a:rPr lang="zh-TW" altLang="en-US"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RSI Playback</a:t>
            </a:r>
            <a:r>
              <a:rPr lang="zh-TW" altLang="en-US" sz="1400" kern="100" dirty="0">
                <a:effectLst/>
                <a:latin typeface="Times New Roman" panose="02020603050405020304" pitchFamily="18" charset="0"/>
                <a:ea typeface="標楷體" panose="03000509000000000000" pitchFamily="65" charset="-120"/>
              </a:rPr>
              <a:t>重疊。</a:t>
            </a: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rPr>
              <a:t>RSI Delete</a:t>
            </a:r>
            <a:r>
              <a:rPr lang="zh-TW" altLang="en-US" sz="1400" kern="100" dirty="0">
                <a:effectLst/>
                <a:latin typeface="Times New Roman" panose="02020603050405020304" pitchFamily="18" charset="0"/>
                <a:ea typeface="標楷體" panose="03000509000000000000" pitchFamily="65" charset="-120"/>
              </a:rPr>
              <a:t>間不可重疊。</a:t>
            </a:r>
          </a:p>
          <a:p>
            <a:pPr marL="342900" indent="-342900">
              <a:lnSpc>
                <a:spcPct val="120000"/>
              </a:lnSpc>
              <a:spcAft>
                <a:spcPts val="600"/>
              </a:spcAft>
              <a:buFont typeface="+mj-lt"/>
              <a:buAutoNum type="arabicPeriod"/>
            </a:pPr>
            <a:r>
              <a:rPr lang="zh-TW" altLang="en-US" sz="1400" kern="100" dirty="0">
                <a:solidFill>
                  <a:srgbClr val="C00000"/>
                </a:solidFill>
                <a:effectLst/>
                <a:latin typeface="Times New Roman" panose="02020603050405020304" pitchFamily="18" charset="0"/>
                <a:ea typeface="標楷體" panose="03000509000000000000" pitchFamily="65" charset="-120"/>
              </a:rPr>
              <a:t>與</a:t>
            </a:r>
            <a:r>
              <a:rPr lang="en-US" altLang="zh-TW" sz="1400" kern="100" dirty="0">
                <a:solidFill>
                  <a:srgbClr val="C00000"/>
                </a:solidFill>
                <a:effectLst/>
                <a:latin typeface="Times New Roman" panose="02020603050405020304" pitchFamily="18" charset="0"/>
                <a:ea typeface="標楷體" panose="03000509000000000000" pitchFamily="65" charset="-120"/>
              </a:rPr>
              <a:t>RSI Delete</a:t>
            </a:r>
            <a:r>
              <a:rPr lang="zh-TW" altLang="en-US" sz="1400" kern="100" dirty="0">
                <a:solidFill>
                  <a:srgbClr val="C00000"/>
                </a:solidFill>
                <a:effectLst/>
                <a:latin typeface="Times New Roman" panose="02020603050405020304" pitchFamily="18" charset="0"/>
                <a:ea typeface="標楷體" panose="03000509000000000000" pitchFamily="65" charset="-120"/>
              </a:rPr>
              <a:t>相同</a:t>
            </a:r>
            <a:r>
              <a:rPr lang="en-US" altLang="zh-TW" sz="1400" kern="100" dirty="0" err="1">
                <a:solidFill>
                  <a:srgbClr val="C00000"/>
                </a:solidFill>
                <a:effectLst/>
                <a:latin typeface="Times New Roman" panose="02020603050405020304" pitchFamily="18" charset="0"/>
                <a:ea typeface="標楷體" panose="03000509000000000000" pitchFamily="65" charset="-120"/>
              </a:rPr>
              <a:t>arlentryid</a:t>
            </a:r>
            <a:r>
              <a:rPr lang="zh-TW" altLang="en-US" sz="1400" kern="100" dirty="0">
                <a:solidFill>
                  <a:srgbClr val="C00000"/>
                </a:solidFill>
                <a:effectLst/>
                <a:latin typeface="Times New Roman" panose="02020603050405020304" pitchFamily="18" charset="0"/>
                <a:ea typeface="標楷體" panose="03000509000000000000" pitchFamily="65" charset="-120"/>
              </a:rPr>
              <a:t>的</a:t>
            </a:r>
            <a:r>
              <a:rPr lang="en-US" altLang="zh-TW" sz="1400" kern="100" dirty="0">
                <a:solidFill>
                  <a:srgbClr val="C00000"/>
                </a:solidFill>
                <a:effectLst/>
                <a:latin typeface="Times New Roman" panose="02020603050405020304" pitchFamily="18" charset="0"/>
                <a:ea typeface="標楷體" panose="03000509000000000000" pitchFamily="65" charset="-120"/>
              </a:rPr>
              <a:t>RSI Record</a:t>
            </a:r>
            <a:r>
              <a:rPr lang="zh-TW" altLang="en-US" sz="1400" kern="100" dirty="0">
                <a:solidFill>
                  <a:srgbClr val="C00000"/>
                </a:solidFill>
                <a:effectLst/>
                <a:latin typeface="Times New Roman" panose="02020603050405020304" pitchFamily="18" charset="0"/>
                <a:ea typeface="標楷體" panose="03000509000000000000" pitchFamily="65" charset="-120"/>
              </a:rPr>
              <a:t>有執行，則</a:t>
            </a:r>
            <a:r>
              <a:rPr lang="en-US" altLang="zh-TW" sz="1400" kern="100" dirty="0">
                <a:solidFill>
                  <a:srgbClr val="C00000"/>
                </a:solidFill>
                <a:effectLst/>
                <a:latin typeface="Times New Roman" panose="02020603050405020304" pitchFamily="18" charset="0"/>
                <a:ea typeface="標楷體" panose="03000509000000000000" pitchFamily="65" charset="-120"/>
              </a:rPr>
              <a:t>RSI Delete</a:t>
            </a:r>
            <a:r>
              <a:rPr lang="zh-TW" altLang="en-US" sz="1400" kern="100" dirty="0">
                <a:solidFill>
                  <a:srgbClr val="C00000"/>
                </a:solidFill>
                <a:effectLst/>
                <a:latin typeface="Times New Roman" panose="02020603050405020304" pitchFamily="18" charset="0"/>
                <a:ea typeface="標楷體" panose="03000509000000000000" pitchFamily="65" charset="-120"/>
              </a:rPr>
              <a:t>也要執行。</a:t>
            </a:r>
          </a:p>
        </p:txBody>
      </p:sp>
    </p:spTree>
    <p:extLst>
      <p:ext uri="{BB962C8B-B14F-4D97-AF65-F5344CB8AC3E}">
        <p14:creationId xmlns:p14="http://schemas.microsoft.com/office/powerpoint/2010/main" val="508667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2" name="Google Shape;3042;p38">
            <a:extLst>
              <a:ext uri="{FF2B5EF4-FFF2-40B4-BE49-F238E27FC236}">
                <a16:creationId xmlns:a16="http://schemas.microsoft.com/office/drawing/2014/main" id="{0D41E068-455F-CF65-98F4-411328B82967}"/>
              </a:ext>
            </a:extLst>
          </p:cNvPr>
          <p:cNvSpPr/>
          <p:nvPr/>
        </p:nvSpPr>
        <p:spPr>
          <a:xfrm>
            <a:off x="0" y="1097802"/>
            <a:ext cx="342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030;p38">
            <a:extLst>
              <a:ext uri="{FF2B5EF4-FFF2-40B4-BE49-F238E27FC236}">
                <a16:creationId xmlns:a16="http://schemas.microsoft.com/office/drawing/2014/main" id="{EB9C2B86-449D-0A81-1981-FE8ACF25DE6D}"/>
              </a:ext>
            </a:extLst>
          </p:cNvPr>
          <p:cNvSpPr txBox="1">
            <a:spLocks/>
          </p:cNvSpPr>
          <p:nvPr/>
        </p:nvSpPr>
        <p:spPr>
          <a:xfrm>
            <a:off x="-46066" y="576686"/>
            <a:ext cx="3412353"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活動限制說明（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5/5</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5" name="文字方塊 4">
            <a:extLst>
              <a:ext uri="{FF2B5EF4-FFF2-40B4-BE49-F238E27FC236}">
                <a16:creationId xmlns:a16="http://schemas.microsoft.com/office/drawing/2014/main" id="{DD7FEF9E-98A8-A770-64D4-0422CA2B01AE}"/>
              </a:ext>
            </a:extLst>
          </p:cNvPr>
          <p:cNvSpPr txBox="1"/>
          <p:nvPr/>
        </p:nvSpPr>
        <p:spPr>
          <a:xfrm>
            <a:off x="36138" y="1286982"/>
            <a:ext cx="4433500" cy="1721562"/>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SPL</a:t>
            </a:r>
            <a:r>
              <a:rPr lang="zh-TW" altLang="en-US" b="1" u="sng" dirty="0">
                <a:latin typeface="Times New Roman" panose="02020603050405020304" pitchFamily="18" charset="0"/>
                <a:cs typeface="Times New Roman" panose="02020603050405020304" pitchFamily="18" charset="0"/>
              </a:rPr>
              <a:t> </a:t>
            </a:r>
            <a:r>
              <a:rPr lang="en-US" altLang="zh-TW" b="1" u="sng" dirty="0">
                <a:latin typeface="Times New Roman" panose="02020603050405020304" pitchFamily="18" charset="0"/>
                <a:cs typeface="Times New Roman" panose="02020603050405020304" pitchFamily="18" charset="0"/>
              </a:rPr>
              <a:t>Procedure</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SPL Procedure</a:t>
            </a:r>
            <a:r>
              <a:rPr lang="zh-TW" altLang="en-US" kern="100" dirty="0">
                <a:latin typeface="Times New Roman" panose="02020603050405020304" pitchFamily="18" charset="0"/>
                <a:ea typeface="標楷體" panose="03000509000000000000" pitchFamily="65" charset="-120"/>
              </a:rPr>
              <a:t>間不可重疊</a:t>
            </a:r>
            <a:r>
              <a:rPr lang="zh-TW" altLang="zh-TW" sz="1400" kern="100" dirty="0">
                <a:effectLst/>
                <a:latin typeface="Times New Roman" panose="02020603050405020304" pitchFamily="18" charset="0"/>
                <a:ea typeface="標楷體" panose="03000509000000000000" pitchFamily="65" charset="-120"/>
              </a:rPr>
              <a:t>。</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SPL</a:t>
            </a:r>
            <a:r>
              <a:rPr lang="zh-TW" altLang="en-US" kern="100" dirty="0">
                <a:latin typeface="Times New Roman" panose="02020603050405020304" pitchFamily="18" charset="0"/>
                <a:ea typeface="標楷體" panose="03000509000000000000" pitchFamily="65" charset="-120"/>
              </a:rPr>
              <a:t> </a:t>
            </a:r>
            <a:r>
              <a:rPr lang="en-US" altLang="zh-TW" kern="100" dirty="0">
                <a:latin typeface="Times New Roman" panose="02020603050405020304" pitchFamily="18" charset="0"/>
                <a:ea typeface="標楷體" panose="03000509000000000000" pitchFamily="65" charset="-120"/>
              </a:rPr>
              <a:t>Procedure</a:t>
            </a:r>
            <a:r>
              <a:rPr lang="zh-TW" altLang="en-US" kern="100" dirty="0">
                <a:latin typeface="Times New Roman" panose="02020603050405020304" pitchFamily="18" charset="0"/>
                <a:ea typeface="標楷體" panose="03000509000000000000" pitchFamily="65" charset="-120"/>
              </a:rPr>
              <a:t>不可與</a:t>
            </a:r>
            <a:r>
              <a:rPr lang="en-US" altLang="zh-TW" kern="100" dirty="0">
                <a:latin typeface="Times New Roman" panose="02020603050405020304" pitchFamily="18" charset="0"/>
                <a:ea typeface="標楷體" panose="03000509000000000000" pitchFamily="65" charset="-120"/>
              </a:rPr>
              <a:t>Orbit Maneuver</a:t>
            </a:r>
            <a:r>
              <a:rPr lang="zh-TW" altLang="en-US" kern="100" dirty="0">
                <a:latin typeface="Times New Roman" panose="02020603050405020304" pitchFamily="18" charset="0"/>
                <a:ea typeface="標楷體" panose="03000509000000000000" pitchFamily="65" charset="-120"/>
              </a:rPr>
              <a:t>重疊</a:t>
            </a:r>
            <a:r>
              <a:rPr lang="zh-TW" altLang="zh-TW" sz="1400" kern="100" dirty="0">
                <a:effectLst/>
                <a:latin typeface="Times New Roman" panose="02020603050405020304" pitchFamily="18" charset="0"/>
                <a:ea typeface="標楷體" panose="03000509000000000000" pitchFamily="65" charset="-120"/>
              </a:rPr>
              <a:t>。</a:t>
            </a:r>
            <a:endParaRPr lang="en-US" altLang="zh-TW" sz="1400" kern="100" dirty="0">
              <a:effectLst/>
              <a:latin typeface="Times New Roman" panose="02020603050405020304" pitchFamily="18" charset="0"/>
              <a:ea typeface="標楷體" panose="03000509000000000000" pitchFamily="65"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cs typeface="Times New Roman" panose="02020603050405020304" pitchFamily="18" charset="0"/>
              </a:rPr>
              <a:t>SPL</a:t>
            </a:r>
            <a:r>
              <a:rPr lang="zh-TW" altLang="en-US" kern="1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kern="100" dirty="0">
                <a:latin typeface="Times New Roman" panose="02020603050405020304" pitchFamily="18" charset="0"/>
                <a:ea typeface="標楷體" panose="03000509000000000000" pitchFamily="65" charset="-120"/>
                <a:cs typeface="Times New Roman" panose="02020603050405020304" pitchFamily="18" charset="0"/>
              </a:rPr>
              <a:t>Procedure</a:t>
            </a:r>
            <a:r>
              <a:rPr lang="zh-TW" altLang="en-US" kern="100" dirty="0">
                <a:latin typeface="Times New Roman" panose="02020603050405020304" pitchFamily="18" charset="0"/>
                <a:ea typeface="標楷體" panose="03000509000000000000" pitchFamily="65" charset="-120"/>
                <a:cs typeface="Times New Roman" panose="02020603050405020304" pitchFamily="18" charset="0"/>
              </a:rPr>
              <a:t>需在</a:t>
            </a:r>
            <a:r>
              <a:rPr lang="en-US" altLang="zh-TW" kern="100" dirty="0">
                <a:latin typeface="Times New Roman" panose="02020603050405020304" pitchFamily="18" charset="0"/>
                <a:ea typeface="標楷體" panose="03000509000000000000" pitchFamily="65" charset="-120"/>
                <a:cs typeface="Times New Roman" panose="02020603050405020304" pitchFamily="18" charset="0"/>
              </a:rPr>
              <a:t>10-degree S-band</a:t>
            </a:r>
            <a:r>
              <a:rPr lang="zh-TW" altLang="en-US" kern="100" dirty="0">
                <a:latin typeface="Times New Roman" panose="02020603050405020304" pitchFamily="18" charset="0"/>
                <a:ea typeface="標楷體" panose="03000509000000000000" pitchFamily="65" charset="-120"/>
                <a:cs typeface="Times New Roman" panose="02020603050405020304" pitchFamily="18" charset="0"/>
              </a:rPr>
              <a:t>地面站中執行。</a:t>
            </a:r>
            <a:endParaRPr lang="en-US" altLang="zh-TW" kern="10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SPL</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Procedure</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需在</a:t>
            </a:r>
            <a:r>
              <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rPr>
              <a:t>eclipse</a:t>
            </a:r>
            <a:r>
              <a:rPr lang="zh-TW" altLang="en-US" sz="1400" kern="100" dirty="0">
                <a:effectLst/>
                <a:latin typeface="Times New Roman" panose="02020603050405020304" pitchFamily="18" charset="0"/>
                <a:ea typeface="標楷體" panose="03000509000000000000" pitchFamily="65" charset="-120"/>
                <a:cs typeface="Times New Roman" panose="02020603050405020304" pitchFamily="18" charset="0"/>
              </a:rPr>
              <a:t>中執行。</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47B762E6-199B-471B-743C-6003B1F5D49B}"/>
              </a:ext>
            </a:extLst>
          </p:cNvPr>
          <p:cNvSpPr txBox="1"/>
          <p:nvPr/>
        </p:nvSpPr>
        <p:spPr>
          <a:xfrm>
            <a:off x="4674362" y="1286982"/>
            <a:ext cx="4433500" cy="1980735"/>
          </a:xfrm>
          <a:prstGeom prst="rect">
            <a:avLst/>
          </a:prstGeom>
          <a:noFill/>
        </p:spPr>
        <p:txBody>
          <a:bodyPr wrap="square" rtlCol="0">
            <a:spAutoFit/>
          </a:bodyPr>
          <a:lstStyle/>
          <a:p>
            <a:pPr>
              <a:lnSpc>
                <a:spcPct val="120000"/>
              </a:lnSpc>
              <a:spcAft>
                <a:spcPts val="1000"/>
              </a:spcAft>
            </a:pPr>
            <a:r>
              <a:rPr lang="en-US" altLang="zh-TW" b="1" u="sng" dirty="0">
                <a:latin typeface="Times New Roman" panose="02020603050405020304" pitchFamily="18" charset="0"/>
                <a:cs typeface="Times New Roman" panose="02020603050405020304" pitchFamily="18" charset="0"/>
              </a:rPr>
              <a:t>SPL</a:t>
            </a:r>
            <a:r>
              <a:rPr lang="zh-TW" altLang="en-US" b="1" u="sng" dirty="0">
                <a:latin typeface="Times New Roman" panose="02020603050405020304" pitchFamily="18" charset="0"/>
                <a:cs typeface="Times New Roman" panose="02020603050405020304" pitchFamily="18" charset="0"/>
              </a:rPr>
              <a:t> </a:t>
            </a:r>
            <a:r>
              <a:rPr lang="en-US" altLang="zh-TW" b="1" u="sng" dirty="0">
                <a:latin typeface="Times New Roman" panose="02020603050405020304" pitchFamily="18" charset="0"/>
                <a:cs typeface="Times New Roman" panose="02020603050405020304" pitchFamily="18" charset="0"/>
              </a:rPr>
              <a:t>Playback</a:t>
            </a: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SPL Playback</a:t>
            </a:r>
            <a:r>
              <a:rPr lang="zh-TW" altLang="zh-TW" sz="1400" kern="100" dirty="0">
                <a:effectLst/>
                <a:latin typeface="Times New Roman" panose="02020603050405020304" pitchFamily="18" charset="0"/>
                <a:ea typeface="標楷體" panose="03000509000000000000" pitchFamily="65" charset="-120"/>
              </a:rPr>
              <a:t>間不可重疊。</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SPL Playback</a:t>
            </a:r>
            <a:r>
              <a:rPr lang="zh-TW" altLang="zh-TW" sz="1400" kern="100" dirty="0">
                <a:effectLst/>
                <a:latin typeface="Times New Roman" panose="02020603050405020304" pitchFamily="18" charset="0"/>
                <a:ea typeface="標楷體" panose="03000509000000000000" pitchFamily="65" charset="-120"/>
              </a:rPr>
              <a:t>不可與</a:t>
            </a:r>
            <a:r>
              <a:rPr lang="en-US" altLang="zh-TW" sz="1400" kern="100" dirty="0">
                <a:effectLst/>
                <a:latin typeface="Times New Roman" panose="02020603050405020304" pitchFamily="18" charset="0"/>
                <a:ea typeface="標楷體" panose="03000509000000000000" pitchFamily="65" charset="-120"/>
              </a:rPr>
              <a:t>Orbit Maneuver</a:t>
            </a:r>
            <a:r>
              <a:rPr lang="zh-TW" altLang="zh-TW" sz="1400" kern="100" dirty="0">
                <a:effectLst/>
                <a:latin typeface="Times New Roman" panose="02020603050405020304" pitchFamily="18" charset="0"/>
                <a:ea typeface="標楷體" panose="03000509000000000000" pitchFamily="65" charset="-120"/>
              </a:rPr>
              <a:t>重疊。</a:t>
            </a:r>
            <a:endParaRPr lang="en-US"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nSpc>
                <a:spcPct val="120000"/>
              </a:lnSpc>
              <a:spcAft>
                <a:spcPts val="600"/>
              </a:spcAft>
              <a:buFont typeface="+mj-lt"/>
              <a:buAutoNum type="arabicPeriod"/>
            </a:pPr>
            <a:r>
              <a:rPr lang="en-US" altLang="zh-TW" kern="100" dirty="0">
                <a:latin typeface="Times New Roman" panose="02020603050405020304" pitchFamily="18" charset="0"/>
                <a:ea typeface="標楷體" panose="03000509000000000000" pitchFamily="65" charset="-120"/>
              </a:rPr>
              <a:t>SPL Playback </a:t>
            </a:r>
            <a:r>
              <a:rPr lang="zh-TW" altLang="en-US" kern="100" dirty="0">
                <a:latin typeface="Times New Roman" panose="02020603050405020304" pitchFamily="18" charset="0"/>
                <a:ea typeface="標楷體" panose="03000509000000000000" pitchFamily="65" charset="-120"/>
              </a:rPr>
              <a:t>需與</a:t>
            </a:r>
            <a:r>
              <a:rPr lang="en-US" altLang="zh-TW" kern="100" dirty="0">
                <a:latin typeface="Times New Roman" panose="02020603050405020304" pitchFamily="18" charset="0"/>
                <a:ea typeface="標楷體" panose="03000509000000000000" pitchFamily="65" charset="-120"/>
              </a:rPr>
              <a:t>S-band</a:t>
            </a:r>
            <a:r>
              <a:rPr lang="zh-TW" altLang="en-US" kern="100" dirty="0">
                <a:latin typeface="Times New Roman" panose="02020603050405020304" pitchFamily="18" charset="0"/>
                <a:ea typeface="標楷體" panose="03000509000000000000" pitchFamily="65" charset="-120"/>
              </a:rPr>
              <a:t>地面站接觸</a:t>
            </a:r>
            <a:r>
              <a:rPr lang="zh-TW" altLang="zh-TW" sz="1400" kern="100" dirty="0">
                <a:effectLst/>
                <a:latin typeface="Times New Roman" panose="02020603050405020304" pitchFamily="18" charset="0"/>
                <a:ea typeface="標楷體" panose="03000509000000000000" pitchFamily="65" charset="-120"/>
              </a:rPr>
              <a:t>。</a:t>
            </a:r>
            <a:endParaRPr lang="zh-TW" altLang="zh-TW" sz="1400" kern="100" dirty="0">
              <a:effectLst/>
              <a:latin typeface="Times New Roman" panose="02020603050405020304" pitchFamily="18" charset="0"/>
              <a:ea typeface="新細明體" panose="02020500000000000000" pitchFamily="18" charset="-120"/>
            </a:endParaRPr>
          </a:p>
          <a:p>
            <a:pPr marL="342900" indent="-342900">
              <a:lnSpc>
                <a:spcPct val="120000"/>
              </a:lnSpc>
              <a:spcAft>
                <a:spcPts val="600"/>
              </a:spcAft>
              <a:buFont typeface="+mj-lt"/>
              <a:buAutoNum type="arabicPeriod"/>
            </a:pPr>
            <a:r>
              <a:rPr lang="zh-TW" altLang="en-US" sz="1400" kern="100" dirty="0">
                <a:effectLst/>
                <a:latin typeface="Times New Roman" panose="02020603050405020304" pitchFamily="18" charset="0"/>
                <a:ea typeface="標楷體" panose="03000509000000000000" pitchFamily="65" charset="-120"/>
              </a:rPr>
              <a:t>與</a:t>
            </a:r>
            <a:r>
              <a:rPr lang="en-US" altLang="zh-TW" sz="1400" kern="100" dirty="0">
                <a:effectLst/>
                <a:latin typeface="Times New Roman" panose="02020603050405020304" pitchFamily="18" charset="0"/>
                <a:ea typeface="標楷體" panose="03000509000000000000" pitchFamily="65" charset="-120"/>
              </a:rPr>
              <a:t>SPL Playback</a:t>
            </a:r>
            <a:r>
              <a:rPr lang="zh-TW" altLang="en-US" sz="1400" kern="100" dirty="0">
                <a:effectLst/>
                <a:latin typeface="Times New Roman" panose="02020603050405020304" pitchFamily="18" charset="0"/>
                <a:ea typeface="標楷體" panose="03000509000000000000" pitchFamily="65" charset="-120"/>
              </a:rPr>
              <a:t>相同</a:t>
            </a:r>
            <a:r>
              <a:rPr lang="en-US" altLang="zh-TW" sz="1400" kern="100" dirty="0" err="1">
                <a:effectLst/>
                <a:latin typeface="Times New Roman" panose="02020603050405020304" pitchFamily="18" charset="0"/>
                <a:ea typeface="標楷體" panose="03000509000000000000" pitchFamily="65" charset="-120"/>
              </a:rPr>
              <a:t>arlentryid</a:t>
            </a:r>
            <a:r>
              <a:rPr lang="zh-TW" altLang="en-US" sz="1400" kern="100" dirty="0">
                <a:effectLst/>
                <a:latin typeface="Times New Roman" panose="02020603050405020304" pitchFamily="18" charset="0"/>
                <a:ea typeface="標楷體" panose="03000509000000000000" pitchFamily="65" charset="-120"/>
              </a:rPr>
              <a:t>的</a:t>
            </a:r>
            <a:r>
              <a:rPr lang="en-US" altLang="zh-TW" sz="1400" kern="100" dirty="0">
                <a:effectLst/>
                <a:latin typeface="Times New Roman" panose="02020603050405020304" pitchFamily="18" charset="0"/>
                <a:ea typeface="標楷體" panose="03000509000000000000" pitchFamily="65" charset="-120"/>
              </a:rPr>
              <a:t>SPL Procedure</a:t>
            </a:r>
            <a:r>
              <a:rPr lang="zh-TW" altLang="en-US" sz="1400" kern="100" dirty="0">
                <a:effectLst/>
                <a:latin typeface="Times New Roman" panose="02020603050405020304" pitchFamily="18" charset="0"/>
                <a:ea typeface="標楷體" panose="03000509000000000000" pitchFamily="65" charset="-120"/>
              </a:rPr>
              <a:t>有執行，</a:t>
            </a:r>
            <a:r>
              <a:rPr lang="en-US" altLang="zh-TW" sz="1400" kern="100" dirty="0">
                <a:effectLst/>
                <a:latin typeface="Times New Roman" panose="02020603050405020304" pitchFamily="18" charset="0"/>
                <a:ea typeface="標楷體" panose="03000509000000000000" pitchFamily="65" charset="-120"/>
              </a:rPr>
              <a:t>SPL Playback</a:t>
            </a:r>
            <a:r>
              <a:rPr lang="zh-TW" altLang="en-US" sz="1400" kern="100" dirty="0">
                <a:effectLst/>
                <a:latin typeface="Times New Roman" panose="02020603050405020304" pitchFamily="18" charset="0"/>
                <a:ea typeface="標楷體" panose="03000509000000000000" pitchFamily="65" charset="-120"/>
              </a:rPr>
              <a:t>才可執行。</a:t>
            </a:r>
          </a:p>
        </p:txBody>
      </p:sp>
      <p:sp>
        <p:nvSpPr>
          <p:cNvPr id="7" name="Google Shape;230;p30">
            <a:extLst>
              <a:ext uri="{FF2B5EF4-FFF2-40B4-BE49-F238E27FC236}">
                <a16:creationId xmlns:a16="http://schemas.microsoft.com/office/drawing/2014/main" id="{001EF6F4-8C65-3965-8445-C4605F674858}"/>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4;p30">
            <a:hlinkClick r:id="" action="ppaction://hlinkshowjump?jump=firstslide"/>
            <a:extLst>
              <a:ext uri="{FF2B5EF4-FFF2-40B4-BE49-F238E27FC236}">
                <a16:creationId xmlns:a16="http://schemas.microsoft.com/office/drawing/2014/main" id="{63B3252B-9D8E-9EAD-46E4-85004CC1E274}"/>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Google Shape;234;p30">
            <a:hlinkClick r:id="" action="ppaction://hlinkshowjump?jump=firstslide"/>
            <a:extLst>
              <a:ext uri="{FF2B5EF4-FFF2-40B4-BE49-F238E27FC236}">
                <a16:creationId xmlns:a16="http://schemas.microsoft.com/office/drawing/2014/main" id="{9F0AFDA7-72E9-A7A1-A9EF-365C57712902}"/>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hlinkClick r:id="rId3" action="ppaction://hlinksldjump"/>
            <a:extLst>
              <a:ext uri="{FF2B5EF4-FFF2-40B4-BE49-F238E27FC236}">
                <a16:creationId xmlns:a16="http://schemas.microsoft.com/office/drawing/2014/main" id="{EF526D6B-4C1E-0155-9D0D-21D76736AAA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4" action="ppaction://hlinksldjump"/>
            <a:extLst>
              <a:ext uri="{FF2B5EF4-FFF2-40B4-BE49-F238E27FC236}">
                <a16:creationId xmlns:a16="http://schemas.microsoft.com/office/drawing/2014/main" id="{5D2307FF-4325-4C15-2B3C-2D5B017DA25F}"/>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55064F5C-01E4-7F4B-99BE-3EAB9355B79A}"/>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5" action="ppaction://hlinksldjump"/>
            <a:extLst>
              <a:ext uri="{FF2B5EF4-FFF2-40B4-BE49-F238E27FC236}">
                <a16:creationId xmlns:a16="http://schemas.microsoft.com/office/drawing/2014/main" id="{ED13C41C-88A4-AB9A-2375-069B860D3A02}"/>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67A7FBF5-767D-2E78-B4A2-69C54D384A07}"/>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DA5BE0F6-CCF0-2804-71DB-FE5D9573C17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BAFC2917-9973-79D6-DF8D-2D7A7E62FA38}"/>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B3F01C08-F759-F3B1-A474-C51319B82390}"/>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3ABEDC0D-9585-8F58-7B6A-E94C537B3116}"/>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72C3E6A7-F0E9-82DD-9F27-D93966E82499}"/>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695392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2054472672"/>
              </p:ext>
            </p:extLst>
          </p:nvPr>
        </p:nvGraphicFramePr>
        <p:xfrm>
          <a:off x="39802" y="1103933"/>
          <a:ext cx="9078004" cy="3937000"/>
        </p:xfrm>
        <a:graphic>
          <a:graphicData uri="http://schemas.openxmlformats.org/drawingml/2006/table">
            <a:tbl>
              <a:tblPr firstRow="1" bandRow="1">
                <a:tableStyleId>{8B193ECF-1327-48E1-8871-2513AA109082}</a:tableStyleId>
              </a:tblPr>
              <a:tblGrid>
                <a:gridCol w="2452545">
                  <a:extLst>
                    <a:ext uri="{9D8B030D-6E8A-4147-A177-3AD203B41FA5}">
                      <a16:colId xmlns:a16="http://schemas.microsoft.com/office/drawing/2014/main" val="2138163829"/>
                    </a:ext>
                  </a:extLst>
                </a:gridCol>
                <a:gridCol w="2970435">
                  <a:extLst>
                    <a:ext uri="{9D8B030D-6E8A-4147-A177-3AD203B41FA5}">
                      <a16:colId xmlns:a16="http://schemas.microsoft.com/office/drawing/2014/main" val="2542460822"/>
                    </a:ext>
                  </a:extLst>
                </a:gridCol>
                <a:gridCol w="3655024">
                  <a:extLst>
                    <a:ext uri="{9D8B030D-6E8A-4147-A177-3AD203B41FA5}">
                      <a16:colId xmlns:a16="http://schemas.microsoft.com/office/drawing/2014/main" val="1991161076"/>
                    </a:ext>
                  </a:extLst>
                </a:gridCol>
              </a:tblGrid>
              <a:tr h="370840">
                <a:tc>
                  <a:txBody>
                    <a:bodyPr/>
                    <a:lstStyle/>
                    <a:p>
                      <a:pPr algn="ctr"/>
                      <a:r>
                        <a:rPr lang="zh-TW" altLang="en-US" b="1" baseline="0" dirty="0">
                          <a:latin typeface="Times New Roman" panose="02020603050405020304" pitchFamily="18" charset="0"/>
                          <a:ea typeface="標楷體" panose="03000509000000000000" pitchFamily="65" charset="-120"/>
                        </a:rPr>
                        <a:t>函式名稱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函式功能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會使用到該函式的活動類型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6583747"/>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self_overlap</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限制同類型活動的執行區間不可重疊。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RSI Delete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752522"/>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other_overlap</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Activity_Type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A</a:t>
                      </a:r>
                      <a:r>
                        <a:rPr lang="zh-TW" altLang="en-US" baseline="0" dirty="0">
                          <a:latin typeface="Times New Roman" panose="02020603050405020304" pitchFamily="18" charset="0"/>
                          <a:ea typeface="標楷體" panose="03000509000000000000" pitchFamily="65" charset="-120"/>
                        </a:rPr>
                        <a:t>類活動與</a:t>
                      </a:r>
                      <a:r>
                        <a:rPr lang="en-US" altLang="zh-TW" baseline="0" dirty="0">
                          <a:latin typeface="Times New Roman" panose="02020603050405020304" pitchFamily="18" charset="0"/>
                          <a:ea typeface="標楷體" panose="03000509000000000000" pitchFamily="65" charset="-120"/>
                        </a:rPr>
                        <a:t>B</a:t>
                      </a:r>
                      <a:r>
                        <a:rPr lang="zh-TW" altLang="en-US" baseline="0" dirty="0">
                          <a:latin typeface="Times New Roman" panose="02020603050405020304" pitchFamily="18" charset="0"/>
                          <a:ea typeface="標楷體" panose="03000509000000000000" pitchFamily="65" charset="-120"/>
                        </a:rPr>
                        <a:t>類活動</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（即參數傳入的</a:t>
                      </a:r>
                      <a:r>
                        <a:rPr lang="en-US" altLang="zh-TW" sz="1400" baseline="0" dirty="0" err="1">
                          <a:latin typeface="Times New Roman" panose="02020603050405020304" pitchFamily="18" charset="0"/>
                          <a:ea typeface="標楷體" panose="03000509000000000000" pitchFamily="65" charset="-120"/>
                          <a:cs typeface="Times New Roman" panose="02020603050405020304" pitchFamily="18" charset="0"/>
                        </a:rPr>
                        <a:t>Activity_Type</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活動類型）的執行區間不可重疊。</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RSI Delete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22465"/>
                  </a:ext>
                </a:extLst>
              </a:tr>
              <a:tr h="370840">
                <a:tc>
                  <a:txBody>
                    <a:bodyPr/>
                    <a:lstStyle/>
                    <a:p>
                      <a:pPr algn="just">
                        <a:spcAft>
                          <a:spcPts val="600"/>
                        </a:spcAft>
                      </a:pPr>
                      <a:r>
                        <a:rPr lang="en-US" altLang="zh-TW" b="1" baseline="0" dirty="0" err="1">
                          <a:solidFill>
                            <a:schemeClr val="tx1"/>
                          </a:solidFill>
                          <a:latin typeface="Times New Roman" panose="02020603050405020304" pitchFamily="18" charset="0"/>
                          <a:ea typeface="標楷體" panose="03000509000000000000" pitchFamily="65" charset="-120"/>
                        </a:rPr>
                        <a:t>self_overlap_check</a:t>
                      </a:r>
                      <a:r>
                        <a:rPr lang="en-US" altLang="zh-TW" b="1" baseline="0" dirty="0">
                          <a:solidFill>
                            <a:schemeClr val="tx1"/>
                          </a:solidFill>
                          <a:latin typeface="Times New Roman" panose="02020603050405020304" pitchFamily="18" charset="0"/>
                          <a:ea typeface="標楷體" panose="03000509000000000000" pitchFamily="65" charset="-120"/>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（因應模型效率問題新增）</a:t>
                      </a:r>
                      <a:endParaRPr lang="zh-TW" altLang="en-US" b="0" baseline="0" dirty="0">
                        <a:solidFill>
                          <a:srgbClr val="C00000"/>
                        </a:solidFill>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限制同類型活動，且活動開始時間已確定者，執行區間不可重疊。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Attitude Maneuver</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GAT Maneuver</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GOHOME Maneuver</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Orbit Maneuver</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Monitoring</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RSI Record</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SPL Playback</a:t>
                      </a:r>
                    </a:p>
                    <a:p>
                      <a:pPr marL="285750" indent="-285750">
                        <a:spcAft>
                          <a:spcPts val="300"/>
                        </a:spcAft>
                        <a:buFont typeface="Arial" panose="020B0604020202020204" pitchFamily="34" charset="0"/>
                        <a:buChar char="•"/>
                      </a:pPr>
                      <a:r>
                        <a:rPr lang="en-US" altLang="zh-TW" dirty="0">
                          <a:latin typeface="Times New Roman" panose="02020603050405020304" pitchFamily="18" charset="0"/>
                          <a:ea typeface="標楷體" panose="03000509000000000000" pitchFamily="65" charset="-120"/>
                        </a:rPr>
                        <a:t>SPL Procedure</a:t>
                      </a:r>
                    </a:p>
                    <a:p>
                      <a:pPr marL="285750" indent="-285750">
                        <a:spcAft>
                          <a:spcPts val="300"/>
                        </a:spcAft>
                        <a:buFont typeface="Arial" panose="020B0604020202020204" pitchFamily="34" charset="0"/>
                        <a:buChar char="•"/>
                      </a:pPr>
                      <a:r>
                        <a:rPr lang="zh-TW" altLang="en-US" dirty="0">
                          <a:latin typeface="Times New Roman" panose="02020603050405020304" pitchFamily="18" charset="0"/>
                          <a:ea typeface="標楷體" panose="03000509000000000000" pitchFamily="65" charset="-120"/>
                        </a:rPr>
                        <a:t>已</a:t>
                      </a:r>
                      <a:r>
                        <a:rPr lang="en-US" altLang="zh-TW" dirty="0">
                          <a:latin typeface="Times New Roman" panose="02020603050405020304" pitchFamily="18" charset="0"/>
                          <a:ea typeface="標楷體" panose="03000509000000000000" pitchFamily="65" charset="-120"/>
                        </a:rPr>
                        <a:t>scheduled</a:t>
                      </a:r>
                      <a:r>
                        <a:rPr lang="zh-TW" altLang="en-US" dirty="0">
                          <a:latin typeface="Times New Roman" panose="02020603050405020304" pitchFamily="18" charset="0"/>
                          <a:ea typeface="標楷體" panose="03000509000000000000" pitchFamily="65" charset="-120"/>
                        </a:rPr>
                        <a:t>的</a:t>
                      </a:r>
                      <a:r>
                        <a:rPr lang="en-US" altLang="zh-TW" dirty="0">
                          <a:latin typeface="Times New Roman" panose="02020603050405020304" pitchFamily="18" charset="0"/>
                          <a:ea typeface="標楷體" panose="03000509000000000000" pitchFamily="65" charset="-120"/>
                        </a:rPr>
                        <a:t>RSI Playback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6841729"/>
                  </a:ext>
                </a:extLst>
              </a:tr>
              <a:tr h="370840">
                <a:tc>
                  <a:txBody>
                    <a:bodyPr/>
                    <a:lstStyle/>
                    <a:p>
                      <a:pPr algn="just">
                        <a:spcAft>
                          <a:spcPts val="600"/>
                        </a:spcAft>
                      </a:pPr>
                      <a:r>
                        <a:rPr lang="en-US" altLang="zh-TW" b="1" baseline="0" dirty="0" err="1">
                          <a:solidFill>
                            <a:schemeClr val="tx1"/>
                          </a:solidFill>
                          <a:latin typeface="Times New Roman" panose="02020603050405020304" pitchFamily="18" charset="0"/>
                          <a:ea typeface="標楷體" panose="03000509000000000000" pitchFamily="65" charset="-120"/>
                        </a:rPr>
                        <a:t>other_overlap_check</a:t>
                      </a:r>
                      <a:r>
                        <a:rPr lang="en-US" altLang="zh-TW" b="1" baseline="0" dirty="0">
                          <a:solidFill>
                            <a:schemeClr val="tx1"/>
                          </a:solidFill>
                          <a:latin typeface="Times New Roman" panose="02020603050405020304" pitchFamily="18" charset="0"/>
                          <a:ea typeface="標楷體" panose="03000509000000000000" pitchFamily="65" charset="-120"/>
                        </a:rPr>
                        <a:t>(</a:t>
                      </a:r>
                      <a:r>
                        <a:rPr lang="en-US" altLang="zh-TW" b="1" baseline="0" dirty="0" err="1">
                          <a:solidFill>
                            <a:schemeClr val="tx1"/>
                          </a:solidFill>
                          <a:latin typeface="Times New Roman" panose="02020603050405020304" pitchFamily="18" charset="0"/>
                          <a:ea typeface="標楷體" panose="03000509000000000000" pitchFamily="65" charset="-120"/>
                        </a:rPr>
                        <a:t>Activity_Type</a:t>
                      </a:r>
                      <a:r>
                        <a:rPr lang="en-US" altLang="zh-TW" b="1" baseline="0" dirty="0">
                          <a:solidFill>
                            <a:schemeClr val="tx1"/>
                          </a:solidFill>
                          <a:latin typeface="Times New Roman" panose="02020603050405020304" pitchFamily="18" charset="0"/>
                          <a:ea typeface="標楷體" panose="03000509000000000000" pitchFamily="65" charset="-120"/>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b="0" baseline="0" dirty="0">
                          <a:solidFill>
                            <a:srgbClr val="C00000"/>
                          </a:solidFill>
                          <a:latin typeface="Times New Roman" panose="02020603050405020304" pitchFamily="18" charset="0"/>
                          <a:ea typeface="標楷體" panose="03000509000000000000" pitchFamily="65" charset="-120"/>
                        </a:rPr>
                        <a:t>因應模型效率問題新增</a:t>
                      </a:r>
                      <a:r>
                        <a:rPr lang="zh-TW" altLang="en-US" sz="1400" b="0" baseline="0" dirty="0">
                          <a:solidFill>
                            <a:srgbClr val="C00000"/>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b="0" baseline="0" dirty="0">
                        <a:solidFill>
                          <a:srgbClr val="C00000"/>
                        </a:solidFill>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A</a:t>
                      </a:r>
                      <a:r>
                        <a:rPr lang="zh-TW" altLang="en-US" baseline="0" dirty="0">
                          <a:latin typeface="Times New Roman" panose="02020603050405020304" pitchFamily="18" charset="0"/>
                          <a:ea typeface="標楷體" panose="03000509000000000000" pitchFamily="65" charset="-120"/>
                        </a:rPr>
                        <a:t>類活動與</a:t>
                      </a:r>
                      <a:r>
                        <a:rPr lang="en-US" altLang="zh-TW" baseline="0" dirty="0">
                          <a:latin typeface="Times New Roman" panose="02020603050405020304" pitchFamily="18" charset="0"/>
                          <a:ea typeface="標楷體" panose="03000509000000000000" pitchFamily="65" charset="-120"/>
                        </a:rPr>
                        <a:t>B</a:t>
                      </a:r>
                      <a:r>
                        <a:rPr lang="zh-TW" altLang="en-US" baseline="0" dirty="0">
                          <a:latin typeface="Times New Roman" panose="02020603050405020304" pitchFamily="18" charset="0"/>
                          <a:ea typeface="標楷體" panose="03000509000000000000" pitchFamily="65" charset="-120"/>
                        </a:rPr>
                        <a:t>類活動（即參數傳入的</a:t>
                      </a:r>
                      <a:r>
                        <a:rPr lang="en-US" altLang="zh-TW" baseline="0" dirty="0" err="1">
                          <a:latin typeface="Times New Roman" panose="02020603050405020304" pitchFamily="18" charset="0"/>
                          <a:ea typeface="標楷體" panose="03000509000000000000" pitchFamily="65" charset="-120"/>
                        </a:rPr>
                        <a:t>Activity_Type</a:t>
                      </a:r>
                      <a:r>
                        <a:rPr lang="zh-TW" altLang="en-US" baseline="0" dirty="0">
                          <a:latin typeface="Times New Roman" panose="02020603050405020304" pitchFamily="18" charset="0"/>
                          <a:ea typeface="標楷體" panose="03000509000000000000" pitchFamily="65" charset="-120"/>
                        </a:rPr>
                        <a:t>），且兩類活動開始時間已確定者，執行區間不可重疊。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85750" indent="-285750">
                        <a:spcAft>
                          <a:spcPts val="300"/>
                        </a:spcAft>
                        <a:buFont typeface="Arial" panose="020B0604020202020204" pitchFamily="34" charset="0"/>
                        <a:buChar char="•"/>
                      </a:pPr>
                      <a:endParaRPr lang="en-US" altLang="zh-TW"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8047775"/>
                  </a:ext>
                </a:extLst>
              </a:tr>
            </a:tbl>
          </a:graphicData>
        </a:graphic>
      </p:graphicFrame>
      <p:sp>
        <p:nvSpPr>
          <p:cNvPr id="10" name="文字方塊 9">
            <a:extLst>
              <a:ext uri="{FF2B5EF4-FFF2-40B4-BE49-F238E27FC236}">
                <a16:creationId xmlns:a16="http://schemas.microsoft.com/office/drawing/2014/main" id="{9E528FB5-7CF4-EF72-F585-E4C1442E14A1}"/>
              </a:ext>
            </a:extLst>
          </p:cNvPr>
          <p:cNvSpPr txBox="1"/>
          <p:nvPr/>
        </p:nvSpPr>
        <p:spPr>
          <a:xfrm>
            <a:off x="39802" y="731308"/>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可被個別活動單獨考量的限制式</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1" baseline="0" dirty="0">
                <a:latin typeface="Times New Roman" panose="02020603050405020304" pitchFamily="18" charset="0"/>
                <a:ea typeface="標楷體" panose="03000509000000000000" pitchFamily="65" charset="-120"/>
                <a:cs typeface="Times New Roman" panose="02020603050405020304" pitchFamily="18" charset="0"/>
              </a:rPr>
              <a:t>1/2</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b="1" dirty="0">
              <a:latin typeface="標楷體" panose="03000509000000000000" pitchFamily="65" charset="-120"/>
              <a:ea typeface="標楷體" panose="03000509000000000000" pitchFamily="65" charset="-120"/>
            </a:endParaRPr>
          </a:p>
        </p:txBody>
      </p:sp>
      <p:sp>
        <p:nvSpPr>
          <p:cNvPr id="13" name="Google Shape;3042;p38">
            <a:extLst>
              <a:ext uri="{FF2B5EF4-FFF2-40B4-BE49-F238E27FC236}">
                <a16:creationId xmlns:a16="http://schemas.microsoft.com/office/drawing/2014/main" id="{72E54E98-C338-BF2D-67E9-60BE1A4985B3}"/>
              </a:ext>
            </a:extLst>
          </p:cNvPr>
          <p:cNvSpPr/>
          <p:nvPr/>
        </p:nvSpPr>
        <p:spPr>
          <a:xfrm>
            <a:off x="0" y="571822"/>
            <a:ext cx="378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030;p38">
            <a:extLst>
              <a:ext uri="{FF2B5EF4-FFF2-40B4-BE49-F238E27FC236}">
                <a16:creationId xmlns:a16="http://schemas.microsoft.com/office/drawing/2014/main" id="{BF4713D5-5377-C04B-2691-04E9F2F8C39E}"/>
              </a:ext>
            </a:extLst>
          </p:cNvPr>
          <p:cNvSpPr txBox="1">
            <a:spLocks/>
          </p:cNvSpPr>
          <p:nvPr/>
        </p:nvSpPr>
        <p:spPr>
          <a:xfrm>
            <a:off x="-46066" y="50706"/>
            <a:ext cx="3978795"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模型限制式說明（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1/4</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Tree>
    <p:extLst>
      <p:ext uri="{BB962C8B-B14F-4D97-AF65-F5344CB8AC3E}">
        <p14:creationId xmlns:p14="http://schemas.microsoft.com/office/powerpoint/2010/main" val="2914220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3429560011"/>
              </p:ext>
            </p:extLst>
          </p:nvPr>
        </p:nvGraphicFramePr>
        <p:xfrm>
          <a:off x="21802" y="590991"/>
          <a:ext cx="9100395" cy="4241800"/>
        </p:xfrm>
        <a:graphic>
          <a:graphicData uri="http://schemas.openxmlformats.org/drawingml/2006/table">
            <a:tbl>
              <a:tblPr firstRow="1" bandRow="1">
                <a:tableStyleId>{8B193ECF-1327-48E1-8871-2513AA109082}</a:tableStyleId>
              </a:tblPr>
              <a:tblGrid>
                <a:gridCol w="2506980">
                  <a:extLst>
                    <a:ext uri="{9D8B030D-6E8A-4147-A177-3AD203B41FA5}">
                      <a16:colId xmlns:a16="http://schemas.microsoft.com/office/drawing/2014/main" val="2138163829"/>
                    </a:ext>
                  </a:extLst>
                </a:gridCol>
                <a:gridCol w="2952000">
                  <a:extLst>
                    <a:ext uri="{9D8B030D-6E8A-4147-A177-3AD203B41FA5}">
                      <a16:colId xmlns:a16="http://schemas.microsoft.com/office/drawing/2014/main" val="2542460822"/>
                    </a:ext>
                  </a:extLst>
                </a:gridCol>
                <a:gridCol w="3641415">
                  <a:extLst>
                    <a:ext uri="{9D8B030D-6E8A-4147-A177-3AD203B41FA5}">
                      <a16:colId xmlns:a16="http://schemas.microsoft.com/office/drawing/2014/main" val="1991161076"/>
                    </a:ext>
                  </a:extLst>
                </a:gridCol>
              </a:tblGrid>
              <a:tr h="370840">
                <a:tc>
                  <a:txBody>
                    <a:bodyPr/>
                    <a:lstStyle/>
                    <a:p>
                      <a:pPr algn="ctr"/>
                      <a:r>
                        <a:rPr lang="zh-TW" altLang="en-US" b="1" baseline="0" dirty="0">
                          <a:latin typeface="Times New Roman" panose="02020603050405020304" pitchFamily="18" charset="0"/>
                          <a:ea typeface="標楷體" panose="03000509000000000000" pitchFamily="65" charset="-120"/>
                        </a:rPr>
                        <a:t>函式名稱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函式功能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會使用到該函式的活動類型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6583747"/>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var_self_overlap</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限制同類型活動的執行區間不可重疊，且該活動可執行的時間會受與地面站接觸時間影響。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618583"/>
                  </a:ext>
                </a:extLst>
              </a:tr>
              <a:tr h="370840">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1" baseline="0" dirty="0" err="1">
                          <a:latin typeface="Times New Roman" panose="02020603050405020304" pitchFamily="18" charset="0"/>
                          <a:ea typeface="標楷體" panose="03000509000000000000" pitchFamily="65" charset="-120"/>
                        </a:rPr>
                        <a:t>s_band_contact</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Band_Type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baseline="0" dirty="0">
                          <a:latin typeface="Times New Roman" panose="02020603050405020304" pitchFamily="18" charset="0"/>
                          <a:ea typeface="標楷體" panose="03000509000000000000" pitchFamily="65" charset="-120"/>
                        </a:rPr>
                        <a:t>限制活動的執行區間需完全落在與</a:t>
                      </a:r>
                      <a:r>
                        <a:rPr lang="en-US" altLang="zh-TW" baseline="0" dirty="0">
                          <a:latin typeface="Times New Roman" panose="02020603050405020304" pitchFamily="18" charset="0"/>
                          <a:ea typeface="標楷體" panose="03000509000000000000" pitchFamily="65" charset="-120"/>
                        </a:rPr>
                        <a:t>S-band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aseline="0" dirty="0" err="1">
                          <a:latin typeface="Times New Roman" panose="02020603050405020304" pitchFamily="18" charset="0"/>
                          <a:ea typeface="標楷體" panose="03000509000000000000" pitchFamily="65" charset="-120"/>
                        </a:rPr>
                        <a:t>Band_Type</a:t>
                      </a:r>
                      <a:r>
                        <a:rPr lang="zh-TW" altLang="en-US" baseline="0" dirty="0">
                          <a:latin typeface="Times New Roman" panose="02020603050405020304" pitchFamily="18" charset="0"/>
                          <a:ea typeface="標楷體" panose="03000509000000000000" pitchFamily="65" charset="-120"/>
                        </a:rPr>
                        <a:t>：</a:t>
                      </a:r>
                      <a:r>
                        <a:rPr lang="en-US" altLang="zh-TW" baseline="0" dirty="0">
                          <a:latin typeface="Times New Roman" panose="02020603050405020304" pitchFamily="18" charset="0"/>
                          <a:ea typeface="標楷體" panose="03000509000000000000" pitchFamily="65" charset="-120"/>
                        </a:rPr>
                        <a:t>S_BAND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baseline="0" dirty="0">
                          <a:latin typeface="Times New Roman" panose="02020603050405020304" pitchFamily="18" charset="0"/>
                          <a:ea typeface="標楷體" panose="03000509000000000000" pitchFamily="65" charset="-120"/>
                        </a:rPr>
                        <a:t>或</a:t>
                      </a:r>
                      <a:r>
                        <a:rPr lang="en-US" altLang="zh-TW" baseline="0" dirty="0">
                          <a:latin typeface="Times New Roman" panose="02020603050405020304" pitchFamily="18" charset="0"/>
                          <a:ea typeface="標楷體" panose="03000509000000000000" pitchFamily="65" charset="-120"/>
                        </a:rPr>
                        <a:t>10-degree S-band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aseline="0" dirty="0" err="1">
                          <a:latin typeface="Times New Roman" panose="02020603050405020304" pitchFamily="18" charset="0"/>
                          <a:ea typeface="標楷體" panose="03000509000000000000" pitchFamily="65" charset="-120"/>
                        </a:rPr>
                        <a:t>Band_Type</a:t>
                      </a:r>
                      <a:r>
                        <a:rPr lang="zh-TW" altLang="en-US" baseline="0" dirty="0">
                          <a:latin typeface="Times New Roman" panose="02020603050405020304" pitchFamily="18" charset="0"/>
                          <a:ea typeface="標楷體" panose="03000509000000000000" pitchFamily="65" charset="-120"/>
                        </a:rPr>
                        <a:t>：</a:t>
                      </a:r>
                      <a:r>
                        <a:rPr lang="en-US" altLang="zh-TW" baseline="0" dirty="0">
                          <a:latin typeface="Times New Roman" panose="02020603050405020304" pitchFamily="18" charset="0"/>
                          <a:ea typeface="標楷體" panose="03000509000000000000" pitchFamily="65" charset="-120"/>
                        </a:rPr>
                        <a:t>CMD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baseline="0" dirty="0">
                          <a:latin typeface="Times New Roman" panose="02020603050405020304" pitchFamily="18" charset="0"/>
                          <a:ea typeface="標楷體" panose="03000509000000000000" pitchFamily="65" charset="-120"/>
                        </a:rPr>
                        <a:t>地面站接觸的時間區間中。</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Monitoring</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SPL Playback</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SPL Procedure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734995"/>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x_band_contact</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Band_Type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限制活動的執行區間需完全落在與</a:t>
                      </a:r>
                      <a:r>
                        <a:rPr lang="en-US" altLang="zh-TW" baseline="0" dirty="0">
                          <a:latin typeface="Times New Roman" panose="02020603050405020304" pitchFamily="18" charset="0"/>
                          <a:ea typeface="標楷體" panose="03000509000000000000" pitchFamily="65" charset="-120"/>
                        </a:rPr>
                        <a:t>X-band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aseline="0" dirty="0" err="1">
                          <a:latin typeface="Times New Roman" panose="02020603050405020304" pitchFamily="18" charset="0"/>
                          <a:ea typeface="標楷體" panose="03000509000000000000" pitchFamily="65" charset="-120"/>
                          <a:cs typeface="Times New Roman" panose="02020603050405020304" pitchFamily="18" charset="0"/>
                        </a:rPr>
                        <a:t>Band_Type</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aseline="0" dirty="0">
                          <a:latin typeface="Times New Roman" panose="02020603050405020304" pitchFamily="18" charset="0"/>
                          <a:ea typeface="標楷體" panose="03000509000000000000" pitchFamily="65" charset="-120"/>
                          <a:cs typeface="Times New Roman" panose="02020603050405020304" pitchFamily="18" charset="0"/>
                        </a:rPr>
                        <a:t>X_BAND</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）地面站接觸的時間區間中。</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752522"/>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eclipse_contact</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Eclipse_Type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限制活動的執行區間需完全落在與全影</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aseline="0" dirty="0" err="1">
                          <a:latin typeface="Times New Roman" panose="02020603050405020304" pitchFamily="18" charset="0"/>
                          <a:ea typeface="標楷體" panose="03000509000000000000" pitchFamily="65" charset="-120"/>
                          <a:cs typeface="Times New Roman" panose="02020603050405020304" pitchFamily="18" charset="0"/>
                        </a:rPr>
                        <a:t>Eclipse_Type</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aseline="0" dirty="0">
                          <a:latin typeface="Times New Roman" panose="02020603050405020304" pitchFamily="18" charset="0"/>
                          <a:ea typeface="標楷體" panose="03000509000000000000" pitchFamily="65" charset="-120"/>
                          <a:cs typeface="Times New Roman" panose="02020603050405020304" pitchFamily="18" charset="0"/>
                        </a:rPr>
                        <a:t>UMBRA</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）或半影（</a:t>
                      </a:r>
                      <a:r>
                        <a:rPr lang="en-US" altLang="zh-TW" sz="1400" baseline="0" dirty="0" err="1">
                          <a:latin typeface="Times New Roman" panose="02020603050405020304" pitchFamily="18" charset="0"/>
                          <a:ea typeface="標楷體" panose="03000509000000000000" pitchFamily="65" charset="-120"/>
                          <a:cs typeface="Times New Roman" panose="02020603050405020304" pitchFamily="18" charset="0"/>
                        </a:rPr>
                        <a:t>Eclipse_Type</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aseline="0" dirty="0">
                          <a:latin typeface="Times New Roman" panose="02020603050405020304" pitchFamily="18" charset="0"/>
                          <a:ea typeface="標楷體" panose="03000509000000000000" pitchFamily="65" charset="-120"/>
                          <a:cs typeface="Times New Roman" panose="02020603050405020304" pitchFamily="18" charset="0"/>
                        </a:rPr>
                        <a:t>PENUMBRA</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）接觸的時間區間中。</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altLang="zh-TW" baseline="0" dirty="0">
                          <a:latin typeface="Times New Roman" panose="02020603050405020304" pitchFamily="18" charset="0"/>
                          <a:ea typeface="標楷體" panose="03000509000000000000" pitchFamily="65" charset="-120"/>
                        </a:rPr>
                        <a:t>SPL</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Procedure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22465"/>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get_pbk_time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RSI Playback</a:t>
                      </a:r>
                      <a:r>
                        <a:rPr lang="zh-TW" altLang="en-US" baseline="0" dirty="0">
                          <a:latin typeface="Times New Roman" panose="02020603050405020304" pitchFamily="18" charset="0"/>
                          <a:ea typeface="標楷體" panose="03000509000000000000" pitchFamily="65" charset="-120"/>
                        </a:rPr>
                        <a:t>活動可以開始執行的時間。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9435515"/>
                  </a:ext>
                </a:extLst>
              </a:tr>
            </a:tbl>
          </a:graphicData>
        </a:graphic>
      </p:graphicFrame>
      <p:sp>
        <p:nvSpPr>
          <p:cNvPr id="10" name="文字方塊 9">
            <a:extLst>
              <a:ext uri="{FF2B5EF4-FFF2-40B4-BE49-F238E27FC236}">
                <a16:creationId xmlns:a16="http://schemas.microsoft.com/office/drawing/2014/main" id="{4F1B7CD0-6874-FACC-FF30-73E96E81EBD3}"/>
              </a:ext>
            </a:extLst>
          </p:cNvPr>
          <p:cNvSpPr txBox="1"/>
          <p:nvPr/>
        </p:nvSpPr>
        <p:spPr>
          <a:xfrm>
            <a:off x="39802" y="261972"/>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可被個別活動單獨考量的限制式</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2</a:t>
            </a:r>
            <a:r>
              <a:rPr lang="en-US" altLang="zh-TW" sz="1400" b="1" baseline="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b="1"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423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3829508037"/>
              </p:ext>
            </p:extLst>
          </p:nvPr>
        </p:nvGraphicFramePr>
        <p:xfrm>
          <a:off x="141529" y="1717390"/>
          <a:ext cx="8860941" cy="3388360"/>
        </p:xfrm>
        <a:graphic>
          <a:graphicData uri="http://schemas.openxmlformats.org/drawingml/2006/table">
            <a:tbl>
              <a:tblPr firstRow="1" bandRow="1">
                <a:tableStyleId>{8B193ECF-1327-48E1-8871-2513AA109082}</a:tableStyleId>
              </a:tblPr>
              <a:tblGrid>
                <a:gridCol w="2834005">
                  <a:extLst>
                    <a:ext uri="{9D8B030D-6E8A-4147-A177-3AD203B41FA5}">
                      <a16:colId xmlns:a16="http://schemas.microsoft.com/office/drawing/2014/main" val="2138163829"/>
                    </a:ext>
                  </a:extLst>
                </a:gridCol>
                <a:gridCol w="2952000">
                  <a:extLst>
                    <a:ext uri="{9D8B030D-6E8A-4147-A177-3AD203B41FA5}">
                      <a16:colId xmlns:a16="http://schemas.microsoft.com/office/drawing/2014/main" val="2542460822"/>
                    </a:ext>
                  </a:extLst>
                </a:gridCol>
                <a:gridCol w="3074936">
                  <a:extLst>
                    <a:ext uri="{9D8B030D-6E8A-4147-A177-3AD203B41FA5}">
                      <a16:colId xmlns:a16="http://schemas.microsoft.com/office/drawing/2014/main" val="1991161076"/>
                    </a:ext>
                  </a:extLst>
                </a:gridCol>
              </a:tblGrid>
              <a:tr h="370840">
                <a:tc>
                  <a:txBody>
                    <a:bodyPr/>
                    <a:lstStyle/>
                    <a:p>
                      <a:pPr algn="ctr"/>
                      <a:r>
                        <a:rPr lang="zh-TW" altLang="en-US" b="1" baseline="0" dirty="0">
                          <a:latin typeface="Times New Roman" panose="02020603050405020304" pitchFamily="18" charset="0"/>
                          <a:ea typeface="標楷體" panose="03000509000000000000" pitchFamily="65" charset="-120"/>
                        </a:rPr>
                        <a:t>函式名稱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函式功能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會使用到該函式的活動類型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6583747"/>
                  </a:ext>
                </a:extLst>
              </a:tr>
              <a:tr h="370840">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1" baseline="0" dirty="0" err="1">
                          <a:latin typeface="Times New Roman" panose="02020603050405020304" pitchFamily="18" charset="0"/>
                          <a:ea typeface="標楷體" panose="03000509000000000000" pitchFamily="65" charset="-120"/>
                        </a:rPr>
                        <a:t>SSRConstraint</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baseline="0" dirty="0">
                          <a:latin typeface="Times New Roman" panose="02020603050405020304" pitchFamily="18" charset="0"/>
                          <a:ea typeface="標楷體" panose="03000509000000000000" pitchFamily="65" charset="-120"/>
                        </a:rPr>
                        <a:t>用於當該活動執行與否會受記憶體容量影響時。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Record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734995"/>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var_other_overlap</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Activity_Type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A</a:t>
                      </a:r>
                      <a:r>
                        <a:rPr lang="zh-TW" altLang="en-US" baseline="0" dirty="0">
                          <a:latin typeface="Times New Roman" panose="02020603050405020304" pitchFamily="18" charset="0"/>
                          <a:ea typeface="標楷體" panose="03000509000000000000" pitchFamily="65" charset="-120"/>
                        </a:rPr>
                        <a:t>類活動</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（執行時間會受與地面站接觸時間影響）與</a:t>
                      </a:r>
                      <a:r>
                        <a:rPr lang="en-US" altLang="zh-TW" sz="1400" baseline="0" dirty="0">
                          <a:latin typeface="Times New Roman" panose="02020603050405020304" pitchFamily="18" charset="0"/>
                          <a:ea typeface="標楷體" panose="03000509000000000000" pitchFamily="65" charset="-120"/>
                          <a:cs typeface="Times New Roman" panose="02020603050405020304" pitchFamily="18" charset="0"/>
                        </a:rPr>
                        <a:t>B</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類活動（即參數傳入的</a:t>
                      </a:r>
                      <a:r>
                        <a:rPr lang="en-US" altLang="zh-TW" sz="1400" baseline="0" dirty="0" err="1">
                          <a:latin typeface="Times New Roman" panose="02020603050405020304" pitchFamily="18" charset="0"/>
                          <a:ea typeface="標楷體" panose="03000509000000000000" pitchFamily="65" charset="-120"/>
                          <a:cs typeface="Times New Roman" panose="02020603050405020304" pitchFamily="18" charset="0"/>
                        </a:rPr>
                        <a:t>Activity_Type</a:t>
                      </a:r>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活動類型）執行區間不可重疊。</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752522"/>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del_pbk_overlap</a:t>
                      </a:r>
                      <a:r>
                        <a:rPr lang="en-US" altLang="zh-TW" b="1" baseline="0" dirty="0">
                          <a:latin typeface="Times New Roman" panose="02020603050405020304" pitchFamily="18" charset="0"/>
                          <a:ea typeface="標楷體" panose="03000509000000000000" pitchFamily="65" charset="-120"/>
                        </a:rPr>
                        <a:t>(</a:t>
                      </a:r>
                      <a:r>
                        <a:rPr lang="en-US" altLang="zh-TW" b="1" baseline="0" dirty="0" err="1">
                          <a:latin typeface="Times New Roman" panose="02020603050405020304" pitchFamily="18" charset="0"/>
                          <a:ea typeface="標楷體" panose="03000509000000000000" pitchFamily="65" charset="-120"/>
                        </a:rPr>
                        <a:t>Activity_Type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RSI Delete</a:t>
                      </a:r>
                      <a:r>
                        <a:rPr lang="zh-TW" altLang="en-US" baseline="0" dirty="0">
                          <a:latin typeface="Times New Roman" panose="02020603050405020304" pitchFamily="18" charset="0"/>
                          <a:ea typeface="標楷體" panose="03000509000000000000" pitchFamily="65" charset="-120"/>
                        </a:rPr>
                        <a:t>與</a:t>
                      </a:r>
                      <a:r>
                        <a:rPr lang="en-US" altLang="zh-TW" baseline="0" dirty="0">
                          <a:latin typeface="Times New Roman" panose="02020603050405020304" pitchFamily="18" charset="0"/>
                          <a:ea typeface="標楷體" panose="03000509000000000000" pitchFamily="65" charset="-120"/>
                        </a:rPr>
                        <a:t>RSI Playback</a:t>
                      </a:r>
                      <a:r>
                        <a:rPr lang="zh-TW" altLang="en-US" baseline="0" dirty="0">
                          <a:latin typeface="Times New Roman" panose="02020603050405020304" pitchFamily="18" charset="0"/>
                          <a:ea typeface="標楷體" panose="03000509000000000000" pitchFamily="65" charset="-120"/>
                        </a:rPr>
                        <a:t>活動執行區間不可重疊。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22465"/>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duty_cycle</a:t>
                      </a:r>
                      <a:r>
                        <a:rPr lang="en-US" altLang="zh-TW" b="1" baseline="0" dirty="0">
                          <a:latin typeface="Times New Roman" panose="02020603050405020304" pitchFamily="18" charset="0"/>
                          <a:ea typeface="標楷體" panose="03000509000000000000" pitchFamily="65" charset="-120"/>
                        </a:rPr>
                        <a:t>(time)</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限制該活動每軌能執行的時長，且該活動開始時間確定。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Record</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9435515"/>
                  </a:ext>
                </a:extLst>
              </a:tr>
              <a:tr h="370840">
                <a:tc>
                  <a:txBody>
                    <a:bodyPr/>
                    <a:lstStyle/>
                    <a:p>
                      <a:pPr algn="just"/>
                      <a:r>
                        <a:rPr lang="en-US" altLang="zh-TW" b="1" baseline="0" dirty="0" err="1">
                          <a:latin typeface="Times New Roman" panose="02020603050405020304" pitchFamily="18" charset="0"/>
                          <a:ea typeface="標楷體" panose="03000509000000000000" pitchFamily="65" charset="-120"/>
                        </a:rPr>
                        <a:t>var_duty_cycle</a:t>
                      </a:r>
                      <a:r>
                        <a:rPr lang="en-US" altLang="zh-TW" b="1" baseline="0" dirty="0">
                          <a:latin typeface="Times New Roman" panose="02020603050405020304" pitchFamily="18" charset="0"/>
                          <a:ea typeface="標楷體" panose="03000509000000000000" pitchFamily="65" charset="-120"/>
                        </a:rPr>
                        <a:t>(time)</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限制該活動每軌能執行的時長，且該活動開始時間不確定。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0071271"/>
                  </a:ext>
                </a:extLst>
              </a:tr>
            </a:tbl>
          </a:graphicData>
        </a:graphic>
      </p:graphicFrame>
      <p:sp>
        <p:nvSpPr>
          <p:cNvPr id="2" name="文字方塊 1">
            <a:extLst>
              <a:ext uri="{FF2B5EF4-FFF2-40B4-BE49-F238E27FC236}">
                <a16:creationId xmlns:a16="http://schemas.microsoft.com/office/drawing/2014/main" id="{A91A023D-5E7A-9ED6-FEB8-D847688AD544}"/>
              </a:ext>
            </a:extLst>
          </p:cNvPr>
          <p:cNvSpPr txBox="1"/>
          <p:nvPr/>
        </p:nvSpPr>
        <p:spPr>
          <a:xfrm>
            <a:off x="141529" y="1287307"/>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無法被個別活動單獨考量的限制式</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b="1" baseline="0" dirty="0">
                <a:latin typeface="Times New Roman" panose="02020603050405020304" pitchFamily="18" charset="0"/>
                <a:ea typeface="標楷體" panose="03000509000000000000" pitchFamily="65" charset="-120"/>
                <a:cs typeface="Times New Roman" panose="02020603050405020304" pitchFamily="18" charset="0"/>
              </a:rPr>
              <a:t>1/2</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b="1" dirty="0">
              <a:latin typeface="標楷體" panose="03000509000000000000" pitchFamily="65" charset="-120"/>
              <a:ea typeface="標楷體" panose="03000509000000000000" pitchFamily="65" charset="-120"/>
            </a:endParaRPr>
          </a:p>
        </p:txBody>
      </p:sp>
      <p:sp>
        <p:nvSpPr>
          <p:cNvPr id="13" name="Google Shape;3042;p38">
            <a:extLst>
              <a:ext uri="{FF2B5EF4-FFF2-40B4-BE49-F238E27FC236}">
                <a16:creationId xmlns:a16="http://schemas.microsoft.com/office/drawing/2014/main" id="{3137DE00-CDB0-F682-D021-6DFEB2A1EBD0}"/>
              </a:ext>
            </a:extLst>
          </p:cNvPr>
          <p:cNvSpPr/>
          <p:nvPr/>
        </p:nvSpPr>
        <p:spPr>
          <a:xfrm>
            <a:off x="0" y="1097802"/>
            <a:ext cx="378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030;p38">
            <a:extLst>
              <a:ext uri="{FF2B5EF4-FFF2-40B4-BE49-F238E27FC236}">
                <a16:creationId xmlns:a16="http://schemas.microsoft.com/office/drawing/2014/main" id="{6A05B03E-E695-6A77-A09D-A8821D24431C}"/>
              </a:ext>
            </a:extLst>
          </p:cNvPr>
          <p:cNvSpPr txBox="1">
            <a:spLocks/>
          </p:cNvSpPr>
          <p:nvPr/>
        </p:nvSpPr>
        <p:spPr>
          <a:xfrm>
            <a:off x="-46066" y="576686"/>
            <a:ext cx="3978795"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模型限制式說明（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3/4</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3" name="Google Shape;230;p30">
            <a:extLst>
              <a:ext uri="{FF2B5EF4-FFF2-40B4-BE49-F238E27FC236}">
                <a16:creationId xmlns:a16="http://schemas.microsoft.com/office/drawing/2014/main" id="{5F172F96-FAE8-385B-6252-3047341EA3C4}"/>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4;p30">
            <a:hlinkClick r:id="" action="ppaction://hlinkshowjump?jump=firstslide"/>
            <a:extLst>
              <a:ext uri="{FF2B5EF4-FFF2-40B4-BE49-F238E27FC236}">
                <a16:creationId xmlns:a16="http://schemas.microsoft.com/office/drawing/2014/main" id="{91434B7D-7D95-F97C-CBFA-B37FD7A62E7E}"/>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Google Shape;234;p30">
            <a:hlinkClick r:id="" action="ppaction://hlinkshowjump?jump=firstslide"/>
            <a:extLst>
              <a:ext uri="{FF2B5EF4-FFF2-40B4-BE49-F238E27FC236}">
                <a16:creationId xmlns:a16="http://schemas.microsoft.com/office/drawing/2014/main" id="{15F46A76-7792-10C0-3CB5-42291715BE97}"/>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hlinkClick r:id="rId3" action="ppaction://hlinksldjump"/>
            <a:extLst>
              <a:ext uri="{FF2B5EF4-FFF2-40B4-BE49-F238E27FC236}">
                <a16:creationId xmlns:a16="http://schemas.microsoft.com/office/drawing/2014/main" id="{2D1A4494-18D7-D31D-2F00-FB71FB451B9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矩形 7">
            <a:hlinkClick r:id="rId4" action="ppaction://hlinksldjump"/>
            <a:extLst>
              <a:ext uri="{FF2B5EF4-FFF2-40B4-BE49-F238E27FC236}">
                <a16:creationId xmlns:a16="http://schemas.microsoft.com/office/drawing/2014/main" id="{FACF113F-044D-2A09-B8B5-237ED167A679}"/>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Google Shape;234;p30">
            <a:hlinkClick r:id="" action="ppaction://hlinkshowjump?jump=firstslide"/>
            <a:extLst>
              <a:ext uri="{FF2B5EF4-FFF2-40B4-BE49-F238E27FC236}">
                <a16:creationId xmlns:a16="http://schemas.microsoft.com/office/drawing/2014/main" id="{8146AB1A-E33B-748D-7153-F6CFB7933743}"/>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矩形 9">
            <a:hlinkClick r:id="rId5" action="ppaction://hlinksldjump"/>
            <a:extLst>
              <a:ext uri="{FF2B5EF4-FFF2-40B4-BE49-F238E27FC236}">
                <a16:creationId xmlns:a16="http://schemas.microsoft.com/office/drawing/2014/main" id="{52F56A3F-0D72-514A-2A0F-924C37AADD5C}"/>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Google Shape;234;p30">
            <a:hlinkClick r:id="" action="ppaction://hlinkshowjump?jump=firstslide"/>
            <a:extLst>
              <a:ext uri="{FF2B5EF4-FFF2-40B4-BE49-F238E27FC236}">
                <a16:creationId xmlns:a16="http://schemas.microsoft.com/office/drawing/2014/main" id="{A9D19384-7B0A-E5B4-8671-0205B75C65FB}"/>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hlinkClick r:id="rId6" action="ppaction://hlinksldjump"/>
            <a:extLst>
              <a:ext uri="{FF2B5EF4-FFF2-40B4-BE49-F238E27FC236}">
                <a16:creationId xmlns:a16="http://schemas.microsoft.com/office/drawing/2014/main" id="{21FA1F0F-754C-29FE-3027-6331EAE255E3}"/>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Google Shape;234;p30">
            <a:hlinkClick r:id="" action="ppaction://hlinkshowjump?jump=firstslide"/>
            <a:extLst>
              <a:ext uri="{FF2B5EF4-FFF2-40B4-BE49-F238E27FC236}">
                <a16:creationId xmlns:a16="http://schemas.microsoft.com/office/drawing/2014/main" id="{5BB5ACE3-9E3C-6DEC-C6C8-118221C16CFC}"/>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矩形 14">
            <a:hlinkClick r:id="rId7" action="ppaction://hlinksldjump"/>
            <a:extLst>
              <a:ext uri="{FF2B5EF4-FFF2-40B4-BE49-F238E27FC236}">
                <a16:creationId xmlns:a16="http://schemas.microsoft.com/office/drawing/2014/main" id="{8A1CBFF7-F058-4E84-7FD4-27688F273388}"/>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Google Shape;234;p30">
            <a:hlinkClick r:id="" action="ppaction://hlinkshowjump?jump=firstslide"/>
            <a:extLst>
              <a:ext uri="{FF2B5EF4-FFF2-40B4-BE49-F238E27FC236}">
                <a16:creationId xmlns:a16="http://schemas.microsoft.com/office/drawing/2014/main" id="{E199C9C3-2586-95C2-9DD3-8F735097EAD6}"/>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矩形 16">
            <a:hlinkClick r:id="rId8" action="ppaction://hlinksldjump"/>
            <a:extLst>
              <a:ext uri="{FF2B5EF4-FFF2-40B4-BE49-F238E27FC236}">
                <a16:creationId xmlns:a16="http://schemas.microsoft.com/office/drawing/2014/main" id="{0C4905F0-20F6-081B-FB42-C2682BAD6066}"/>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14606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843341680"/>
              </p:ext>
            </p:extLst>
          </p:nvPr>
        </p:nvGraphicFramePr>
        <p:xfrm>
          <a:off x="50535" y="1568339"/>
          <a:ext cx="9041975" cy="3533140"/>
        </p:xfrm>
        <a:graphic>
          <a:graphicData uri="http://schemas.openxmlformats.org/drawingml/2006/table">
            <a:tbl>
              <a:tblPr firstRow="1" bandRow="1">
                <a:tableStyleId>{8B193ECF-1327-48E1-8871-2513AA109082}</a:tableStyleId>
              </a:tblPr>
              <a:tblGrid>
                <a:gridCol w="2569303">
                  <a:extLst>
                    <a:ext uri="{9D8B030D-6E8A-4147-A177-3AD203B41FA5}">
                      <a16:colId xmlns:a16="http://schemas.microsoft.com/office/drawing/2014/main" val="2138163829"/>
                    </a:ext>
                  </a:extLst>
                </a:gridCol>
                <a:gridCol w="2872672">
                  <a:extLst>
                    <a:ext uri="{9D8B030D-6E8A-4147-A177-3AD203B41FA5}">
                      <a16:colId xmlns:a16="http://schemas.microsoft.com/office/drawing/2014/main" val="2542460822"/>
                    </a:ext>
                  </a:extLst>
                </a:gridCol>
                <a:gridCol w="1548000">
                  <a:extLst>
                    <a:ext uri="{9D8B030D-6E8A-4147-A177-3AD203B41FA5}">
                      <a16:colId xmlns:a16="http://schemas.microsoft.com/office/drawing/2014/main" val="1991161076"/>
                    </a:ext>
                  </a:extLst>
                </a:gridCol>
                <a:gridCol w="2052000">
                  <a:extLst>
                    <a:ext uri="{9D8B030D-6E8A-4147-A177-3AD203B41FA5}">
                      <a16:colId xmlns:a16="http://schemas.microsoft.com/office/drawing/2014/main" val="706990597"/>
                    </a:ext>
                  </a:extLst>
                </a:gridCol>
              </a:tblGrid>
              <a:tr h="370840">
                <a:tc>
                  <a:txBody>
                    <a:bodyPr/>
                    <a:lstStyle/>
                    <a:p>
                      <a:pPr algn="ctr"/>
                      <a:r>
                        <a:rPr lang="zh-TW" altLang="en-US" b="1" baseline="0" dirty="0">
                          <a:latin typeface="Times New Roman" panose="02020603050405020304" pitchFamily="18" charset="0"/>
                          <a:ea typeface="標楷體" panose="03000509000000000000" pitchFamily="65" charset="-120"/>
                        </a:rPr>
                        <a:t>函式名稱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b="1" baseline="0" dirty="0">
                          <a:latin typeface="Times New Roman" panose="02020603050405020304" pitchFamily="18" charset="0"/>
                          <a:ea typeface="標楷體" panose="03000509000000000000" pitchFamily="65" charset="-120"/>
                        </a:rPr>
                        <a:t>函式功能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a:r>
                        <a:rPr lang="zh-TW" altLang="en-US" b="1" baseline="0" dirty="0">
                          <a:latin typeface="Times New Roman" panose="02020603050405020304" pitchFamily="18" charset="0"/>
                          <a:ea typeface="標楷體" panose="03000509000000000000" pitchFamily="65" charset="-120"/>
                        </a:rPr>
                        <a:t>會使用到該函式的活動類型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916583747"/>
                  </a:ext>
                </a:extLst>
              </a:tr>
              <a:tr h="370840">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b="1" baseline="0" dirty="0" err="1">
                          <a:latin typeface="Times New Roman" panose="02020603050405020304" pitchFamily="18" charset="0"/>
                          <a:ea typeface="標楷體" panose="03000509000000000000" pitchFamily="65" charset="-120"/>
                        </a:rPr>
                        <a:t>get_del_time</a:t>
                      </a:r>
                      <a:r>
                        <a:rPr lang="en-US" altLang="zh-TW" b="1" baseline="0" dirty="0">
                          <a:latin typeface="Times New Roman" panose="02020603050405020304" pitchFamily="18" charset="0"/>
                          <a:ea typeface="標楷體" panose="03000509000000000000" pitchFamily="65" charset="-120"/>
                        </a:rPr>
                        <a:t>(time, </a:t>
                      </a:r>
                      <a:r>
                        <a:rPr lang="en-US" altLang="zh-TW" b="1" baseline="0" dirty="0" err="1">
                          <a:latin typeface="Times New Roman" panose="02020603050405020304" pitchFamily="18" charset="0"/>
                          <a:ea typeface="標楷體" panose="03000509000000000000" pitchFamily="65" charset="-120"/>
                        </a:rPr>
                        <a:t>cover_time</a:t>
                      </a:r>
                      <a:r>
                        <a:rPr lang="en-US" altLang="zh-TW" b="1" baseline="0" dirty="0">
                          <a:latin typeface="Times New Roman" panose="02020603050405020304" pitchFamily="18" charset="0"/>
                          <a:ea typeface="標楷體" panose="03000509000000000000" pitchFamily="65" charset="-120"/>
                        </a:rPr>
                        <a:t>)</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RSI Delete</a:t>
                      </a:r>
                      <a:r>
                        <a:rPr lang="zh-TW" altLang="en-US" baseline="0" dirty="0">
                          <a:latin typeface="Times New Roman" panose="02020603050405020304" pitchFamily="18" charset="0"/>
                          <a:ea typeface="標楷體" panose="03000509000000000000" pitchFamily="65" charset="-120"/>
                        </a:rPr>
                        <a:t>活動可以開始執行的時間。</a:t>
                      </a:r>
                      <a:r>
                        <a:rPr lang="en-US" altLang="zh-TW" baseline="0" dirty="0">
                          <a:latin typeface="Times New Roman" panose="02020603050405020304" pitchFamily="18" charset="0"/>
                          <a:ea typeface="標楷體" panose="03000509000000000000" pitchFamily="65" charset="-120"/>
                        </a:rPr>
                        <a:t>”time”</a:t>
                      </a:r>
                      <a:r>
                        <a:rPr lang="zh-TW" altLang="en-US" baseline="0" dirty="0">
                          <a:latin typeface="Times New Roman" panose="02020603050405020304" pitchFamily="18" charset="0"/>
                          <a:ea typeface="標楷體" panose="03000509000000000000" pitchFamily="65" charset="-120"/>
                        </a:rPr>
                        <a:t>代表</a:t>
                      </a:r>
                      <a:r>
                        <a:rPr lang="en-US" altLang="zh-TW" baseline="0" dirty="0">
                          <a:latin typeface="Times New Roman" panose="02020603050405020304" pitchFamily="18" charset="0"/>
                          <a:ea typeface="標楷體" panose="03000509000000000000" pitchFamily="65" charset="-120"/>
                        </a:rPr>
                        <a:t>RSI Delete</a:t>
                      </a:r>
                      <a:r>
                        <a:rPr lang="zh-TW" altLang="en-US" baseline="0" dirty="0">
                          <a:latin typeface="Times New Roman" panose="02020603050405020304" pitchFamily="18" charset="0"/>
                          <a:ea typeface="標楷體" panose="03000509000000000000" pitchFamily="65" charset="-120"/>
                        </a:rPr>
                        <a:t>活動需在</a:t>
                      </a:r>
                      <a:r>
                        <a:rPr lang="en-US" altLang="zh-TW" baseline="0" dirty="0">
                          <a:latin typeface="Times New Roman" panose="02020603050405020304" pitchFamily="18" charset="0"/>
                          <a:ea typeface="標楷體" panose="03000509000000000000" pitchFamily="65" charset="-120"/>
                        </a:rPr>
                        <a:t>RSI Playback</a:t>
                      </a:r>
                      <a:r>
                        <a:rPr lang="zh-TW" altLang="en-US" baseline="0" dirty="0">
                          <a:latin typeface="Times New Roman" panose="02020603050405020304" pitchFamily="18" charset="0"/>
                          <a:ea typeface="標楷體" panose="03000509000000000000" pitchFamily="65" charset="-120"/>
                        </a:rPr>
                        <a:t>活動結束後幾秒才可執行；</a:t>
                      </a:r>
                      <a:r>
                        <a:rPr lang="en-US" altLang="zh-TW" baseline="0" dirty="0">
                          <a:latin typeface="Times New Roman" panose="02020603050405020304" pitchFamily="18" charset="0"/>
                          <a:ea typeface="標楷體" panose="03000509000000000000" pitchFamily="65" charset="-120"/>
                        </a:rPr>
                        <a:t>”</a:t>
                      </a:r>
                      <a:r>
                        <a:rPr lang="en-US" altLang="zh-TW" baseline="0" dirty="0" err="1">
                          <a:latin typeface="Times New Roman" panose="02020603050405020304" pitchFamily="18" charset="0"/>
                          <a:ea typeface="標楷體" panose="03000509000000000000" pitchFamily="65" charset="-120"/>
                        </a:rPr>
                        <a:t>cover_time</a:t>
                      </a:r>
                      <a:r>
                        <a:rPr lang="en-US" altLang="zh-TW" baseline="0" dirty="0">
                          <a:latin typeface="Times New Roman" panose="02020603050405020304" pitchFamily="18" charset="0"/>
                          <a:ea typeface="標楷體" panose="03000509000000000000" pitchFamily="65" charset="-120"/>
                        </a:rPr>
                        <a:t>”</a:t>
                      </a:r>
                      <a:r>
                        <a:rPr lang="zh-TW" altLang="en-US" baseline="0" dirty="0">
                          <a:latin typeface="Times New Roman" panose="02020603050405020304" pitchFamily="18" charset="0"/>
                          <a:ea typeface="標楷體" panose="03000509000000000000" pitchFamily="65" charset="-120"/>
                        </a:rPr>
                        <a:t>代表</a:t>
                      </a:r>
                      <a:r>
                        <a:rPr lang="en-US" altLang="zh-TW" baseline="0" dirty="0">
                          <a:latin typeface="Times New Roman" panose="02020603050405020304" pitchFamily="18" charset="0"/>
                          <a:ea typeface="標楷體" panose="03000509000000000000" pitchFamily="65" charset="-120"/>
                        </a:rPr>
                        <a:t>RSI Delete</a:t>
                      </a:r>
                      <a:r>
                        <a:rPr lang="zh-TW" altLang="en-US" baseline="0" dirty="0">
                          <a:latin typeface="Times New Roman" panose="02020603050405020304" pitchFamily="18" charset="0"/>
                          <a:ea typeface="標楷體" panose="03000509000000000000" pitchFamily="65" charset="-120"/>
                        </a:rPr>
                        <a:t>活動可以被安排的時間區段總秒數。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Delete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2278734995"/>
                  </a:ext>
                </a:extLst>
              </a:tr>
              <a:tr h="370840">
                <a:tc>
                  <a:txBody>
                    <a:bodyPr/>
                    <a:lstStyle/>
                    <a:p>
                      <a:pPr algn="just"/>
                      <a:r>
                        <a:rPr lang="en-US" altLang="zh-TW" b="1" baseline="0" dirty="0">
                          <a:latin typeface="Times New Roman" panose="02020603050405020304" pitchFamily="18" charset="0"/>
                          <a:ea typeface="標楷體" panose="03000509000000000000" pitchFamily="65" charset="-120"/>
                        </a:rPr>
                        <a:t>connection(Activity_Type1, Activitiy_Type2)</a:t>
                      </a:r>
                      <a:endParaRPr lang="zh-TW" altLang="en-US" b="1" baseline="0" dirty="0">
                        <a:latin typeface="Times New Roman" panose="02020603050405020304" pitchFamily="18" charset="0"/>
                        <a:ea typeface="標楷體" panose="03000509000000000000" pitchFamily="65"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sz="1400" baseline="0" dirty="0">
                          <a:latin typeface="Times New Roman" panose="02020603050405020304" pitchFamily="18" charset="0"/>
                          <a:ea typeface="標楷體" panose="03000509000000000000" pitchFamily="65" charset="-120"/>
                          <a:cs typeface="Times New Roman" panose="02020603050405020304" pitchFamily="18" charset="0"/>
                        </a:rPr>
                        <a:t>用於當活動間有連結限制，意即一活動能否執行會因另一類型之活動有無執行而影響。</a:t>
                      </a:r>
                      <a:endParaRPr lang="zh-TW" altLang="en-US" baseline="0" dirty="0">
                        <a:latin typeface="Times New Roman" panose="02020603050405020304" pitchFamily="18" charset="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Record</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 Playback</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RSI Delete</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SPL Procedure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SPL Playback</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GAT Maneuver</a:t>
                      </a:r>
                    </a:p>
                    <a:p>
                      <a:pPr marL="285750" indent="-285750">
                        <a:spcAft>
                          <a:spcPts val="300"/>
                        </a:spcAft>
                        <a:buFont typeface="Arial" panose="020B0604020202020204" pitchFamily="34" charset="0"/>
                        <a:buChar char="•"/>
                      </a:pPr>
                      <a:r>
                        <a:rPr lang="en-US" altLang="zh-TW" baseline="0" dirty="0">
                          <a:latin typeface="Times New Roman" panose="02020603050405020304" pitchFamily="18" charset="0"/>
                          <a:ea typeface="標楷體" panose="03000509000000000000" pitchFamily="65" charset="-120"/>
                        </a:rPr>
                        <a:t>GOHOME Maneuver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752522"/>
                  </a:ext>
                </a:extLst>
              </a:tr>
              <a:tr h="370840">
                <a:tc>
                  <a:txBody>
                    <a:bodyPr/>
                    <a:lstStyle/>
                    <a:p>
                      <a:pPr algn="just">
                        <a:spcAft>
                          <a:spcPts val="600"/>
                        </a:spcAft>
                      </a:pPr>
                      <a:r>
                        <a:rPr lang="en-US" altLang="zh-TW" b="1" baseline="0" dirty="0" err="1">
                          <a:latin typeface="Times New Roman" panose="02020603050405020304" pitchFamily="18" charset="0"/>
                          <a:ea typeface="標楷體" panose="03000509000000000000" pitchFamily="65" charset="-120"/>
                        </a:rPr>
                        <a:t>pbk_before_gohome</a:t>
                      </a:r>
                      <a:r>
                        <a:rPr lang="en-US" altLang="zh-TW" b="1" baseline="0" dirty="0">
                          <a:latin typeface="Times New Roman" panose="02020603050405020304" pitchFamily="18" charset="0"/>
                          <a:ea typeface="標楷體" panose="03000509000000000000" pitchFamily="65"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TW" altLang="en-US" baseline="0" dirty="0">
                          <a:latin typeface="Times New Roman" panose="02020603050405020304" pitchFamily="18" charset="0"/>
                          <a:ea typeface="標楷體" panose="03000509000000000000" pitchFamily="65" charset="-120"/>
                        </a:rPr>
                        <a:t>限制</a:t>
                      </a:r>
                      <a:r>
                        <a:rPr lang="en-US" altLang="zh-TW" baseline="0" dirty="0">
                          <a:latin typeface="Times New Roman" panose="02020603050405020304" pitchFamily="18" charset="0"/>
                          <a:ea typeface="標楷體" panose="03000509000000000000" pitchFamily="65" charset="-120"/>
                        </a:rPr>
                        <a:t>RSI Playback</a:t>
                      </a:r>
                      <a:r>
                        <a:rPr lang="zh-TW" altLang="en-US" baseline="0" dirty="0">
                          <a:latin typeface="Times New Roman" panose="02020603050405020304" pitchFamily="18" charset="0"/>
                          <a:ea typeface="標楷體" panose="03000509000000000000" pitchFamily="65" charset="-120"/>
                        </a:rPr>
                        <a:t>需在本系統產生且對應到相同</a:t>
                      </a:r>
                      <a:r>
                        <a:rPr lang="en-US" altLang="zh-TW" baseline="0" dirty="0">
                          <a:latin typeface="Times New Roman" panose="02020603050405020304" pitchFamily="18" charset="0"/>
                          <a:ea typeface="標楷體" panose="03000509000000000000" pitchFamily="65" charset="-120"/>
                        </a:rPr>
                        <a:t>contact ID</a:t>
                      </a:r>
                      <a:r>
                        <a:rPr lang="zh-TW" altLang="en-US" baseline="0" dirty="0">
                          <a:latin typeface="Times New Roman" panose="02020603050405020304" pitchFamily="18" charset="0"/>
                          <a:ea typeface="標楷體" panose="03000509000000000000" pitchFamily="65" charset="-120"/>
                        </a:rPr>
                        <a:t>的</a:t>
                      </a:r>
                      <a:r>
                        <a:rPr lang="en-US" altLang="zh-TW" baseline="0" dirty="0">
                          <a:latin typeface="Times New Roman" panose="02020603050405020304" pitchFamily="18" charset="0"/>
                          <a:ea typeface="標楷體" panose="03000509000000000000" pitchFamily="65" charset="-120"/>
                        </a:rPr>
                        <a:t>GOHOME</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Maneuver</a:t>
                      </a:r>
                      <a:r>
                        <a:rPr lang="zh-TW" altLang="en-US" baseline="0" dirty="0">
                          <a:latin typeface="Times New Roman" panose="02020603050405020304" pitchFamily="18" charset="0"/>
                          <a:ea typeface="標楷體" panose="03000509000000000000" pitchFamily="65" charset="-120"/>
                        </a:rPr>
                        <a:t>開始前結束。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285750" marR="0" lvl="0" indent="-285750" algn="l" defTabSz="91440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altLang="zh-TW" baseline="0" dirty="0">
                          <a:latin typeface="Times New Roman" panose="02020603050405020304" pitchFamily="18" charset="0"/>
                          <a:ea typeface="標楷體" panose="03000509000000000000" pitchFamily="65" charset="-120"/>
                        </a:rPr>
                        <a:t>RSI</a:t>
                      </a:r>
                      <a:r>
                        <a:rPr lang="zh-TW" altLang="en-US" baseline="0" dirty="0">
                          <a:latin typeface="Times New Roman" panose="02020603050405020304" pitchFamily="18" charset="0"/>
                          <a:ea typeface="標楷體" panose="03000509000000000000" pitchFamily="65" charset="-120"/>
                        </a:rPr>
                        <a:t> </a:t>
                      </a:r>
                      <a:r>
                        <a:rPr lang="en-US" altLang="zh-TW" baseline="0" dirty="0">
                          <a:latin typeface="Times New Roman" panose="02020603050405020304" pitchFamily="18" charset="0"/>
                          <a:ea typeface="標楷體" panose="03000509000000000000" pitchFamily="65" charset="-120"/>
                        </a:rPr>
                        <a:t>Playback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4094022465"/>
                  </a:ext>
                </a:extLst>
              </a:tr>
            </a:tbl>
          </a:graphicData>
        </a:graphic>
      </p:graphicFrame>
      <p:sp>
        <p:nvSpPr>
          <p:cNvPr id="10" name="文字方塊 9">
            <a:extLst>
              <a:ext uri="{FF2B5EF4-FFF2-40B4-BE49-F238E27FC236}">
                <a16:creationId xmlns:a16="http://schemas.microsoft.com/office/drawing/2014/main" id="{92E53662-456E-3A54-8DB7-784BB3BA656E}"/>
              </a:ext>
            </a:extLst>
          </p:cNvPr>
          <p:cNvSpPr txBox="1"/>
          <p:nvPr/>
        </p:nvSpPr>
        <p:spPr>
          <a:xfrm>
            <a:off x="141529" y="1206387"/>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無法被個別活動單獨考量的限制式</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2</a:t>
            </a:r>
            <a:r>
              <a:rPr lang="en-US" altLang="zh-TW" sz="1400" b="1" baseline="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sz="1400" b="1" baseline="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b="1" dirty="0">
              <a:latin typeface="標楷體" panose="03000509000000000000" pitchFamily="65" charset="-120"/>
              <a:ea typeface="標楷體" panose="03000509000000000000" pitchFamily="65" charset="-120"/>
            </a:endParaRPr>
          </a:p>
        </p:txBody>
      </p:sp>
      <p:sp>
        <p:nvSpPr>
          <p:cNvPr id="11" name="Google Shape;3042;p38">
            <a:extLst>
              <a:ext uri="{FF2B5EF4-FFF2-40B4-BE49-F238E27FC236}">
                <a16:creationId xmlns:a16="http://schemas.microsoft.com/office/drawing/2014/main" id="{D545A3E4-48EF-3854-EF54-A5291E8263D2}"/>
              </a:ext>
            </a:extLst>
          </p:cNvPr>
          <p:cNvSpPr/>
          <p:nvPr/>
        </p:nvSpPr>
        <p:spPr>
          <a:xfrm>
            <a:off x="0" y="1097802"/>
            <a:ext cx="3780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030;p38">
            <a:extLst>
              <a:ext uri="{FF2B5EF4-FFF2-40B4-BE49-F238E27FC236}">
                <a16:creationId xmlns:a16="http://schemas.microsoft.com/office/drawing/2014/main" id="{E890DBBB-A090-CF88-EC3E-CBE15161EA18}"/>
              </a:ext>
            </a:extLst>
          </p:cNvPr>
          <p:cNvSpPr txBox="1">
            <a:spLocks/>
          </p:cNvSpPr>
          <p:nvPr/>
        </p:nvSpPr>
        <p:spPr>
          <a:xfrm>
            <a:off x="-46066" y="576686"/>
            <a:ext cx="3978795"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模型限制式說明（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4/4</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 name="Google Shape;230;p30">
            <a:extLst>
              <a:ext uri="{FF2B5EF4-FFF2-40B4-BE49-F238E27FC236}">
                <a16:creationId xmlns:a16="http://schemas.microsoft.com/office/drawing/2014/main" id="{7B9A6030-725A-99EF-FD18-727F49AF47AB}"/>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234;p30">
            <a:hlinkClick r:id="" action="ppaction://hlinkshowjump?jump=firstslide"/>
            <a:extLst>
              <a:ext uri="{FF2B5EF4-FFF2-40B4-BE49-F238E27FC236}">
                <a16:creationId xmlns:a16="http://schemas.microsoft.com/office/drawing/2014/main" id="{D955D368-845C-EEB3-965C-0568DD3DC72C}"/>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Google Shape;234;p30">
            <a:hlinkClick r:id="" action="ppaction://hlinkshowjump?jump=firstslide"/>
            <a:extLst>
              <a:ext uri="{FF2B5EF4-FFF2-40B4-BE49-F238E27FC236}">
                <a16:creationId xmlns:a16="http://schemas.microsoft.com/office/drawing/2014/main" id="{AECC8247-7FB8-C10E-F0A0-994CE12A9703}"/>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hlinkClick r:id="rId3" action="ppaction://hlinksldjump"/>
            <a:extLst>
              <a:ext uri="{FF2B5EF4-FFF2-40B4-BE49-F238E27FC236}">
                <a16:creationId xmlns:a16="http://schemas.microsoft.com/office/drawing/2014/main" id="{E6BF3ACD-FCF9-A680-331F-626B1928895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矩形 6">
            <a:hlinkClick r:id="rId4" action="ppaction://hlinksldjump"/>
            <a:extLst>
              <a:ext uri="{FF2B5EF4-FFF2-40B4-BE49-F238E27FC236}">
                <a16:creationId xmlns:a16="http://schemas.microsoft.com/office/drawing/2014/main" id="{9BC62BEA-A805-FA94-178B-424339332EFE}"/>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Google Shape;234;p30">
            <a:hlinkClick r:id="" action="ppaction://hlinkshowjump?jump=firstslide"/>
            <a:extLst>
              <a:ext uri="{FF2B5EF4-FFF2-40B4-BE49-F238E27FC236}">
                <a16:creationId xmlns:a16="http://schemas.microsoft.com/office/drawing/2014/main" id="{7369303E-6EA3-2F52-339E-2452882CD9E6}"/>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hlinkClick r:id="rId5" action="ppaction://hlinksldjump"/>
            <a:extLst>
              <a:ext uri="{FF2B5EF4-FFF2-40B4-BE49-F238E27FC236}">
                <a16:creationId xmlns:a16="http://schemas.microsoft.com/office/drawing/2014/main" id="{844248B8-04FE-C73B-7013-36A85533FD79}"/>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Google Shape;234;p30">
            <a:hlinkClick r:id="" action="ppaction://hlinkshowjump?jump=firstslide"/>
            <a:extLst>
              <a:ext uri="{FF2B5EF4-FFF2-40B4-BE49-F238E27FC236}">
                <a16:creationId xmlns:a16="http://schemas.microsoft.com/office/drawing/2014/main" id="{431D0010-8A78-C17A-683D-CFD6A89A138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hlinkClick r:id="rId6" action="ppaction://hlinksldjump"/>
            <a:extLst>
              <a:ext uri="{FF2B5EF4-FFF2-40B4-BE49-F238E27FC236}">
                <a16:creationId xmlns:a16="http://schemas.microsoft.com/office/drawing/2014/main" id="{859E282A-FFD1-C601-86D1-2C296C16FB37}"/>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Google Shape;234;p30">
            <a:hlinkClick r:id="" action="ppaction://hlinkshowjump?jump=firstslide"/>
            <a:extLst>
              <a:ext uri="{FF2B5EF4-FFF2-40B4-BE49-F238E27FC236}">
                <a16:creationId xmlns:a16="http://schemas.microsoft.com/office/drawing/2014/main" id="{6C1F074F-A343-CFC3-0B74-AE60D5D7630C}"/>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矩形 14">
            <a:hlinkClick r:id="rId7" action="ppaction://hlinksldjump"/>
            <a:extLst>
              <a:ext uri="{FF2B5EF4-FFF2-40B4-BE49-F238E27FC236}">
                <a16:creationId xmlns:a16="http://schemas.microsoft.com/office/drawing/2014/main" id="{79C968A8-76F2-FD5F-F06E-E764E0D0203B}"/>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Google Shape;234;p30">
            <a:hlinkClick r:id="" action="ppaction://hlinkshowjump?jump=firstslide"/>
            <a:extLst>
              <a:ext uri="{FF2B5EF4-FFF2-40B4-BE49-F238E27FC236}">
                <a16:creationId xmlns:a16="http://schemas.microsoft.com/office/drawing/2014/main" id="{DDCC4FCF-CCC3-703F-B229-AC53164ADDCB}"/>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矩形 16">
            <a:hlinkClick r:id="rId8" action="ppaction://hlinksldjump"/>
            <a:extLst>
              <a:ext uri="{FF2B5EF4-FFF2-40B4-BE49-F238E27FC236}">
                <a16:creationId xmlns:a16="http://schemas.microsoft.com/office/drawing/2014/main" id="{09DC1E8D-A8ED-1172-C5F7-EF7590B51EBD}"/>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875573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2051441606"/>
              </p:ext>
            </p:extLst>
          </p:nvPr>
        </p:nvGraphicFramePr>
        <p:xfrm>
          <a:off x="147639" y="1713995"/>
          <a:ext cx="8848722" cy="2698244"/>
        </p:xfrm>
        <a:graphic>
          <a:graphicData uri="http://schemas.openxmlformats.org/drawingml/2006/table">
            <a:tbl>
              <a:tblPr firstRow="1" bandRow="1">
                <a:tableStyleId>{8B193ECF-1327-48E1-8871-2513AA109082}</a:tableStyleId>
              </a:tblPr>
              <a:tblGrid>
                <a:gridCol w="2569303">
                  <a:extLst>
                    <a:ext uri="{9D8B030D-6E8A-4147-A177-3AD203B41FA5}">
                      <a16:colId xmlns:a16="http://schemas.microsoft.com/office/drawing/2014/main" val="2138163829"/>
                    </a:ext>
                  </a:extLst>
                </a:gridCol>
                <a:gridCol w="2872672">
                  <a:extLst>
                    <a:ext uri="{9D8B030D-6E8A-4147-A177-3AD203B41FA5}">
                      <a16:colId xmlns:a16="http://schemas.microsoft.com/office/drawing/2014/main" val="2542460822"/>
                    </a:ext>
                  </a:extLst>
                </a:gridCol>
                <a:gridCol w="3406747">
                  <a:extLst>
                    <a:ext uri="{9D8B030D-6E8A-4147-A177-3AD203B41FA5}">
                      <a16:colId xmlns:a16="http://schemas.microsoft.com/office/drawing/2014/main" val="1991161076"/>
                    </a:ext>
                  </a:extLst>
                </a:gridCol>
              </a:tblGrid>
              <a:tr h="370840">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目標式項目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項目功能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項目權重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6583747"/>
                  </a:ext>
                </a:extLst>
              </a:tr>
              <a:tr h="370840">
                <a:tc>
                  <a:txBody>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r>
                        <a:rPr lang="zh-TW" altLang="en-US" b="1" baseline="0" dirty="0">
                          <a:latin typeface="Times New Roman" panose="02020603050405020304" pitchFamily="18" charset="0"/>
                          <a:ea typeface="標楷體" panose="03000509000000000000" pitchFamily="65" charset="-120"/>
                        </a:rPr>
                        <a:t>活動執行與否之二元變數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20000"/>
                        </a:lnSpc>
                        <a:spcBef>
                          <a:spcPts val="0"/>
                        </a:spcBef>
                        <a:spcAft>
                          <a:spcPts val="0"/>
                        </a:spcAft>
                        <a:buClr>
                          <a:srgbClr val="000000"/>
                        </a:buClr>
                        <a:buSzTx/>
                        <a:buFont typeface="Arial"/>
                        <a:buNone/>
                        <a:tabLst/>
                        <a:defRPr/>
                      </a:pPr>
                      <a:r>
                        <a:rPr lang="zh-TW" altLang="en-US" baseline="0" dirty="0">
                          <a:latin typeface="Times New Roman" panose="02020603050405020304" pitchFamily="18" charset="0"/>
                          <a:ea typeface="標楷體" panose="03000509000000000000" pitchFamily="65" charset="-120"/>
                        </a:rPr>
                        <a:t>在滿足限制條件下，使排入的活動總數越多越好。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20000"/>
                        </a:lnSpc>
                        <a:spcAft>
                          <a:spcPts val="300"/>
                        </a:spcAft>
                        <a:buFont typeface="Arial" panose="020B0604020202020204" pitchFamily="34" charset="0"/>
                        <a:buNone/>
                      </a:pPr>
                      <a:r>
                        <a:rPr lang="en-US" altLang="zh-TW" baseline="0" dirty="0">
                          <a:latin typeface="Times New Roman" panose="02020603050405020304" pitchFamily="18" charset="0"/>
                          <a:ea typeface="標楷體" panose="03000509000000000000" pitchFamily="65" charset="-120"/>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734995"/>
                  </a:ext>
                </a:extLst>
              </a:tr>
              <a:tr h="370840">
                <a:tc>
                  <a:txBody>
                    <a:bodyPr/>
                    <a:lstStyle/>
                    <a:p>
                      <a:pPr algn="ctr">
                        <a:lnSpc>
                          <a:spcPct val="120000"/>
                        </a:lnSpc>
                      </a:pPr>
                      <a:r>
                        <a:rPr lang="en-US" altLang="zh-TW" b="1" baseline="0" dirty="0">
                          <a:latin typeface="Times New Roman" panose="02020603050405020304" pitchFamily="18" charset="0"/>
                          <a:ea typeface="標楷體" panose="03000509000000000000" pitchFamily="65" charset="-120"/>
                        </a:rPr>
                        <a:t>RSI Playback</a:t>
                      </a:r>
                      <a:r>
                        <a:rPr lang="zh-TW" altLang="en-US" b="1" baseline="0" dirty="0">
                          <a:latin typeface="Times New Roman" panose="02020603050405020304" pitchFamily="18" charset="0"/>
                          <a:ea typeface="標楷體" panose="03000509000000000000" pitchFamily="65" charset="-120"/>
                        </a:rPr>
                        <a:t>開始時間偏移量之整數變數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20000"/>
                        </a:lnSpc>
                      </a:pPr>
                      <a:r>
                        <a:rPr lang="zh-TW" altLang="en-US" baseline="0" dirty="0">
                          <a:latin typeface="Times New Roman" panose="02020603050405020304" pitchFamily="18" charset="0"/>
                          <a:ea typeface="標楷體" panose="03000509000000000000" pitchFamily="65" charset="-120"/>
                        </a:rPr>
                        <a:t>在滿足限制條件下，使</a:t>
                      </a:r>
                      <a:r>
                        <a:rPr lang="en-US" altLang="zh-TW" baseline="0" dirty="0">
                          <a:latin typeface="Times New Roman" panose="02020603050405020304" pitchFamily="18" charset="0"/>
                          <a:ea typeface="標楷體" panose="03000509000000000000" pitchFamily="65" charset="-120"/>
                        </a:rPr>
                        <a:t>RSI Playback</a:t>
                      </a:r>
                      <a:r>
                        <a:rPr lang="zh-TW" altLang="en-US" baseline="0" dirty="0">
                          <a:latin typeface="Times New Roman" panose="02020603050405020304" pitchFamily="18" charset="0"/>
                          <a:ea typeface="標楷體" panose="03000509000000000000" pitchFamily="65" charset="-120"/>
                        </a:rPr>
                        <a:t>越早執行越好。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20000"/>
                        </a:lnSpc>
                        <a:spcBef>
                          <a:spcPts val="0"/>
                        </a:spcBef>
                        <a:spcAft>
                          <a:spcPts val="300"/>
                        </a:spcAft>
                        <a:buClr>
                          <a:srgbClr val="000000"/>
                        </a:buClr>
                        <a:buSzTx/>
                        <a:buFont typeface="Arial" panose="020B0604020202020204" pitchFamily="34" charset="0"/>
                        <a:buNone/>
                        <a:tabLst/>
                        <a:defRPr/>
                      </a:pPr>
                      <a:r>
                        <a:rPr lang="en-US" altLang="zh-TW" baseline="0" dirty="0">
                          <a:latin typeface="Times New Roman" panose="02020603050405020304" pitchFamily="18" charset="0"/>
                          <a:ea typeface="標楷體" panose="03000509000000000000" pitchFamily="65" charset="-12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22465"/>
                  </a:ext>
                </a:extLst>
              </a:tr>
              <a:tr h="370840">
                <a:tc>
                  <a:txBody>
                    <a:bodyPr/>
                    <a:lstStyle/>
                    <a:p>
                      <a:pPr algn="ctr">
                        <a:lnSpc>
                          <a:spcPct val="120000"/>
                        </a:lnSpc>
                      </a:pPr>
                      <a:r>
                        <a:rPr lang="en-US" altLang="zh-TW" b="1" baseline="0" dirty="0">
                          <a:latin typeface="Times New Roman" panose="02020603050405020304" pitchFamily="18" charset="0"/>
                          <a:ea typeface="標楷體" panose="03000509000000000000" pitchFamily="65" charset="-120"/>
                        </a:rPr>
                        <a:t>RSI Delete</a:t>
                      </a:r>
                      <a:r>
                        <a:rPr lang="zh-TW" altLang="en-US" b="1" baseline="0" dirty="0">
                          <a:latin typeface="Times New Roman" panose="02020603050405020304" pitchFamily="18" charset="0"/>
                          <a:ea typeface="標楷體" panose="03000509000000000000" pitchFamily="65" charset="-120"/>
                        </a:rPr>
                        <a:t>開始時間偏移量之整數變數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20000"/>
                        </a:lnSpc>
                      </a:pPr>
                      <a:r>
                        <a:rPr lang="zh-TW" altLang="en-US" baseline="0" dirty="0">
                          <a:latin typeface="Times New Roman" panose="02020603050405020304" pitchFamily="18" charset="0"/>
                          <a:ea typeface="標楷體" panose="03000509000000000000" pitchFamily="65" charset="-120"/>
                        </a:rPr>
                        <a:t>在滿足限制條件下，使</a:t>
                      </a:r>
                      <a:r>
                        <a:rPr lang="en-US" altLang="zh-TW" baseline="0" dirty="0">
                          <a:latin typeface="Times New Roman" panose="02020603050405020304" pitchFamily="18" charset="0"/>
                          <a:ea typeface="標楷體" panose="03000509000000000000" pitchFamily="65" charset="-120"/>
                        </a:rPr>
                        <a:t>RSI Delete</a:t>
                      </a:r>
                      <a:r>
                        <a:rPr lang="zh-TW" altLang="en-US" baseline="0" dirty="0">
                          <a:latin typeface="Times New Roman" panose="02020603050405020304" pitchFamily="18" charset="0"/>
                          <a:ea typeface="標楷體" panose="03000509000000000000" pitchFamily="65" charset="-120"/>
                        </a:rPr>
                        <a:t>越早執行越好。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20000"/>
                        </a:lnSpc>
                        <a:spcBef>
                          <a:spcPts val="0"/>
                        </a:spcBef>
                        <a:spcAft>
                          <a:spcPts val="300"/>
                        </a:spcAft>
                        <a:buClr>
                          <a:srgbClr val="000000"/>
                        </a:buClr>
                        <a:buSzTx/>
                        <a:buFont typeface="Arial" panose="020B0604020202020204" pitchFamily="34" charset="0"/>
                        <a:buNone/>
                        <a:tabLst/>
                        <a:defRPr/>
                      </a:pPr>
                      <a:r>
                        <a:rPr lang="en-US" altLang="zh-TW" baseline="0" dirty="0">
                          <a:latin typeface="Times New Roman" panose="02020603050405020304" pitchFamily="18" charset="0"/>
                          <a:ea typeface="標楷體" panose="03000509000000000000" pitchFamily="65" charset="-12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1460130"/>
                  </a:ext>
                </a:extLst>
              </a:tr>
              <a:tr h="370840">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地面站使用之二元變數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20000"/>
                        </a:lnSpc>
                      </a:pPr>
                      <a:r>
                        <a:rPr lang="zh-TW" altLang="en-US" baseline="0" dirty="0">
                          <a:latin typeface="Times New Roman" panose="02020603050405020304" pitchFamily="18" charset="0"/>
                          <a:ea typeface="標楷體" panose="03000509000000000000" pitchFamily="65" charset="-120"/>
                        </a:rPr>
                        <a:t>在滿足限制條件下，盡量選擇</a:t>
                      </a:r>
                      <a:r>
                        <a:rPr lang="en-US" altLang="zh-TW" baseline="0" dirty="0">
                          <a:latin typeface="Times New Roman" panose="02020603050405020304" pitchFamily="18" charset="0"/>
                          <a:ea typeface="標楷體" panose="03000509000000000000" pitchFamily="65" charset="-120"/>
                        </a:rPr>
                        <a:t>priority</a:t>
                      </a:r>
                      <a:r>
                        <a:rPr lang="zh-TW" altLang="en-US" baseline="0" dirty="0">
                          <a:latin typeface="Times New Roman" panose="02020603050405020304" pitchFamily="18" charset="0"/>
                          <a:ea typeface="標楷體" panose="03000509000000000000" pitchFamily="65" charset="-120"/>
                        </a:rPr>
                        <a:t>較高的地面站。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20000"/>
                        </a:lnSpc>
                        <a:spcBef>
                          <a:spcPts val="0"/>
                        </a:spcBef>
                        <a:spcAft>
                          <a:spcPts val="300"/>
                        </a:spcAft>
                        <a:buClr>
                          <a:srgbClr val="000000"/>
                        </a:buClr>
                        <a:buSzTx/>
                        <a:buFont typeface="Arial" panose="020B0604020202020204" pitchFamily="34" charset="0"/>
                        <a:buNone/>
                        <a:tabLst/>
                        <a:defRPr/>
                      </a:pPr>
                      <a:r>
                        <a:rPr lang="en-US" altLang="zh-TW" baseline="0" dirty="0">
                          <a:latin typeface="Times New Roman" panose="02020603050405020304" pitchFamily="18" charset="0"/>
                          <a:ea typeface="標楷體" panose="03000509000000000000" pitchFamily="65" charset="-12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831894"/>
                  </a:ext>
                </a:extLst>
              </a:tr>
            </a:tbl>
          </a:graphicData>
        </a:graphic>
      </p:graphicFrame>
      <p:sp>
        <p:nvSpPr>
          <p:cNvPr id="6" name="Google Shape;3042;p38">
            <a:extLst>
              <a:ext uri="{FF2B5EF4-FFF2-40B4-BE49-F238E27FC236}">
                <a16:creationId xmlns:a16="http://schemas.microsoft.com/office/drawing/2014/main" id="{28F618DC-2D4A-AF76-B0E2-03F55A5AE6DF}"/>
              </a:ext>
            </a:extLst>
          </p:cNvPr>
          <p:cNvSpPr/>
          <p:nvPr/>
        </p:nvSpPr>
        <p:spPr>
          <a:xfrm>
            <a:off x="0" y="1097802"/>
            <a:ext cx="464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030;p38">
            <a:extLst>
              <a:ext uri="{FF2B5EF4-FFF2-40B4-BE49-F238E27FC236}">
                <a16:creationId xmlns:a16="http://schemas.microsoft.com/office/drawing/2014/main" id="{7A1E2606-E712-970C-32D9-CE245FFCB727}"/>
              </a:ext>
            </a:extLst>
          </p:cNvPr>
          <p:cNvSpPr txBox="1">
            <a:spLocks/>
          </p:cNvSpPr>
          <p:nvPr/>
        </p:nvSpPr>
        <p:spPr>
          <a:xfrm>
            <a:off x="-46066" y="576686"/>
            <a:ext cx="472326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排程模型目標式說明（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1/2</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18" name="文字方塊 17">
            <a:extLst>
              <a:ext uri="{FF2B5EF4-FFF2-40B4-BE49-F238E27FC236}">
                <a16:creationId xmlns:a16="http://schemas.microsoft.com/office/drawing/2014/main" id="{525257AB-1B53-671A-3EDC-ADB2A5AABCA1}"/>
              </a:ext>
            </a:extLst>
          </p:cNvPr>
          <p:cNvSpPr txBox="1"/>
          <p:nvPr/>
        </p:nvSpPr>
        <p:spPr>
          <a:xfrm>
            <a:off x="141529" y="1246847"/>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屬</a:t>
            </a:r>
            <a:r>
              <a:rPr lang="zh-TW" altLang="en-US" b="1" dirty="0">
                <a:solidFill>
                  <a:srgbClr val="C00000"/>
                </a:solidFill>
                <a:latin typeface="標楷體" panose="03000509000000000000" pitchFamily="65" charset="-120"/>
                <a:ea typeface="標楷體" panose="03000509000000000000" pitchFamily="65" charset="-120"/>
              </a:rPr>
              <a:t>最大化</a:t>
            </a:r>
            <a:r>
              <a:rPr lang="zh-TW" altLang="en-US" b="1" dirty="0">
                <a:latin typeface="標楷體" panose="03000509000000000000" pitchFamily="65" charset="-120"/>
                <a:ea typeface="標楷體" panose="03000509000000000000" pitchFamily="65" charset="-120"/>
              </a:rPr>
              <a:t>目標值之問題</a:t>
            </a:r>
          </a:p>
        </p:txBody>
      </p:sp>
      <p:sp>
        <p:nvSpPr>
          <p:cNvPr id="32" name="Google Shape;230;p30">
            <a:extLst>
              <a:ext uri="{FF2B5EF4-FFF2-40B4-BE49-F238E27FC236}">
                <a16:creationId xmlns:a16="http://schemas.microsoft.com/office/drawing/2014/main" id="{AEE7C10C-EB7F-AD8D-8D86-FB7317FC8C98}"/>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p30">
            <a:hlinkClick r:id="" action="ppaction://hlinkshowjump?jump=firstslide"/>
            <a:extLst>
              <a:ext uri="{FF2B5EF4-FFF2-40B4-BE49-F238E27FC236}">
                <a16:creationId xmlns:a16="http://schemas.microsoft.com/office/drawing/2014/main" id="{73F708CF-9248-E42C-2979-2186A9DFE451}"/>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Google Shape;234;p30">
            <a:hlinkClick r:id="" action="ppaction://hlinkshowjump?jump=firstslide"/>
            <a:extLst>
              <a:ext uri="{FF2B5EF4-FFF2-40B4-BE49-F238E27FC236}">
                <a16:creationId xmlns:a16="http://schemas.microsoft.com/office/drawing/2014/main" id="{F553FD72-8F81-38F8-8D5A-CD1613741EAC}"/>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矩形 34">
            <a:hlinkClick r:id="rId3" action="ppaction://hlinksldjump"/>
            <a:extLst>
              <a:ext uri="{FF2B5EF4-FFF2-40B4-BE49-F238E27FC236}">
                <a16:creationId xmlns:a16="http://schemas.microsoft.com/office/drawing/2014/main" id="{0319FA51-F236-62F9-4CDE-8E7D5A9E5CD1}"/>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矩形 35">
            <a:hlinkClick r:id="rId4" action="ppaction://hlinksldjump"/>
            <a:extLst>
              <a:ext uri="{FF2B5EF4-FFF2-40B4-BE49-F238E27FC236}">
                <a16:creationId xmlns:a16="http://schemas.microsoft.com/office/drawing/2014/main" id="{15E996C3-EB5A-63E4-CFC4-109AAC4659C9}"/>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Google Shape;234;p30">
            <a:hlinkClick r:id="" action="ppaction://hlinkshowjump?jump=firstslide"/>
            <a:extLst>
              <a:ext uri="{FF2B5EF4-FFF2-40B4-BE49-F238E27FC236}">
                <a16:creationId xmlns:a16="http://schemas.microsoft.com/office/drawing/2014/main" id="{84A464C9-2041-9306-E146-000CAB4F9426}"/>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hlinkClick r:id="rId5" action="ppaction://hlinksldjump"/>
            <a:extLst>
              <a:ext uri="{FF2B5EF4-FFF2-40B4-BE49-F238E27FC236}">
                <a16:creationId xmlns:a16="http://schemas.microsoft.com/office/drawing/2014/main" id="{E53AC4F3-1C8B-DA96-FF1A-83AC21CD52F3}"/>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Google Shape;234;p30">
            <a:hlinkClick r:id="" action="ppaction://hlinkshowjump?jump=firstslide"/>
            <a:extLst>
              <a:ext uri="{FF2B5EF4-FFF2-40B4-BE49-F238E27FC236}">
                <a16:creationId xmlns:a16="http://schemas.microsoft.com/office/drawing/2014/main" id="{5CFBB2D4-8579-59D8-FFA3-9A558D88FDE2}"/>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0" name="矩形 39">
            <a:hlinkClick r:id="rId6" action="ppaction://hlinksldjump"/>
            <a:extLst>
              <a:ext uri="{FF2B5EF4-FFF2-40B4-BE49-F238E27FC236}">
                <a16:creationId xmlns:a16="http://schemas.microsoft.com/office/drawing/2014/main" id="{0F47D9A0-3F4E-EB83-AA78-642A0C3005B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Google Shape;234;p30">
            <a:hlinkClick r:id="" action="ppaction://hlinkshowjump?jump=firstslide"/>
            <a:extLst>
              <a:ext uri="{FF2B5EF4-FFF2-40B4-BE49-F238E27FC236}">
                <a16:creationId xmlns:a16="http://schemas.microsoft.com/office/drawing/2014/main" id="{7F9EA414-AFC7-6D8B-FBF3-92B3CEB16CE1}"/>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矩形 41">
            <a:hlinkClick r:id="rId7" action="ppaction://hlinksldjump"/>
            <a:extLst>
              <a:ext uri="{FF2B5EF4-FFF2-40B4-BE49-F238E27FC236}">
                <a16:creationId xmlns:a16="http://schemas.microsoft.com/office/drawing/2014/main" id="{2A944EC2-7BAE-920E-3AD2-8A96FA7D36BD}"/>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Google Shape;234;p30">
            <a:hlinkClick r:id="" action="ppaction://hlinkshowjump?jump=firstslide"/>
            <a:extLst>
              <a:ext uri="{FF2B5EF4-FFF2-40B4-BE49-F238E27FC236}">
                <a16:creationId xmlns:a16="http://schemas.microsoft.com/office/drawing/2014/main" id="{3CBD68DC-6338-FEAD-755E-FA2F1CC5240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4" name="矩形 43">
            <a:hlinkClick r:id="rId8" action="ppaction://hlinksldjump"/>
            <a:extLst>
              <a:ext uri="{FF2B5EF4-FFF2-40B4-BE49-F238E27FC236}">
                <a16:creationId xmlns:a16="http://schemas.microsoft.com/office/drawing/2014/main" id="{161C0C6A-BA1F-845B-15B5-A981986F453E}"/>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028365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4776080D-ED60-36F6-C695-0E03E315B601}"/>
                  </a:ext>
                </a:extLst>
              </p:cNvPr>
              <p:cNvSpPr txBox="1"/>
              <p:nvPr/>
            </p:nvSpPr>
            <p:spPr>
              <a:xfrm>
                <a:off x="120662" y="1251779"/>
                <a:ext cx="5883472" cy="3640099"/>
              </a:xfrm>
              <a:prstGeom prst="rect">
                <a:avLst/>
              </a:prstGeom>
              <a:noFill/>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𝑀𝑎𝑥</m:t>
                      </m:r>
                      <m:r>
                        <a:rPr lang="zh-TW" altLang="en-US" i="1">
                          <a:latin typeface="Cambria Math" panose="02040503050406030204" pitchFamily="18" charset="0"/>
                        </a:rPr>
                        <m:t> </m:t>
                      </m:r>
                      <m:r>
                        <a:rPr lang="zh-TW" altLang="en-US" i="0">
                          <a:latin typeface="Cambria Math" panose="02040503050406030204" pitchFamily="18" charset="0"/>
                        </a:rPr>
                        <m:t> </m:t>
                      </m:r>
                      <m:r>
                        <a:rPr lang="zh-TW" altLang="en-US" i="1">
                          <a:latin typeface="Cambria Math" panose="02040503050406030204" pitchFamily="18" charset="0"/>
                        </a:rPr>
                        <m:t>𝑍</m:t>
                      </m:r>
                      <m:r>
                        <a:rPr lang="zh-TW" altLang="en-US" i="0">
                          <a:latin typeface="Cambria Math" panose="02040503050406030204" pitchFamily="18" charset="0"/>
                        </a:rPr>
                        <m:t>=</m:t>
                      </m:r>
                      <m:r>
                        <a:rPr lang="zh-TW" altLang="en-US" i="0" smtClean="0">
                          <a:solidFill>
                            <a:srgbClr val="FF6600"/>
                          </a:solidFill>
                          <a:latin typeface="Cambria Math" panose="02040503050406030204" pitchFamily="18" charset="0"/>
                        </a:rPr>
                        <m:t>1000000</m:t>
                      </m:r>
                      <m:nary>
                        <m:naryPr>
                          <m:chr m:val="∑"/>
                          <m:limLoc m:val="undOvr"/>
                          <m:supHide m:val="on"/>
                          <m:ctrlPr>
                            <a:rPr lang="zh-TW" altLang="en-US" i="1">
                              <a:solidFill>
                                <a:srgbClr val="FF6600"/>
                              </a:solidFill>
                              <a:latin typeface="Cambria Math" panose="02040503050406030204" pitchFamily="18" charset="0"/>
                            </a:rPr>
                          </m:ctrlPr>
                        </m:naryPr>
                        <m:sub>
                          <m:r>
                            <a:rPr lang="zh-TW" altLang="en-US" i="1">
                              <a:solidFill>
                                <a:srgbClr val="FF6600"/>
                              </a:solidFill>
                              <a:latin typeface="Cambria Math" panose="02040503050406030204" pitchFamily="18" charset="0"/>
                            </a:rPr>
                            <m:t>𝑖</m:t>
                          </m:r>
                          <m:r>
                            <a:rPr lang="zh-TW" altLang="en-US" i="0">
                              <a:solidFill>
                                <a:srgbClr val="FF6600"/>
                              </a:solidFill>
                              <a:latin typeface="Cambria Math" panose="02040503050406030204" pitchFamily="18" charset="0"/>
                            </a:rPr>
                            <m:t>∈</m:t>
                          </m:r>
                          <m:r>
                            <a:rPr lang="zh-TW" altLang="en-US" i="1">
                              <a:solidFill>
                                <a:srgbClr val="FF6600"/>
                              </a:solidFill>
                              <a:latin typeface="Cambria Math" panose="02040503050406030204" pitchFamily="18" charset="0"/>
                            </a:rPr>
                            <m:t>𝐴𝐶𝑇𝐼𝑉𝐼𝑇𝑌</m:t>
                          </m:r>
                        </m:sub>
                        <m:sup/>
                        <m:e>
                          <m:r>
                            <a:rPr lang="zh-TW" altLang="en-US" i="1">
                              <a:solidFill>
                                <a:srgbClr val="FF6600"/>
                              </a:solidFill>
                              <a:latin typeface="Cambria Math" panose="02040503050406030204" pitchFamily="18" charset="0"/>
                            </a:rPr>
                            <m:t>𝑎𝑐𝑡𝑖𝑣𝑖𝑡𝑦</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𝑝𝑟𝑖𝑜𝑟𝑖𝑡𝑦</m:t>
                          </m:r>
                        </m:e>
                      </m:nary>
                      <m:r>
                        <a:rPr lang="zh-TW" altLang="en-US" i="0">
                          <a:solidFill>
                            <a:srgbClr val="FF6600"/>
                          </a:solidFill>
                          <a:latin typeface="Cambria Math" panose="02040503050406030204" pitchFamily="18" charset="0"/>
                        </a:rPr>
                        <m:t>×</m:t>
                      </m:r>
                      <m:sSub>
                        <m:sSubPr>
                          <m:ctrlPr>
                            <a:rPr lang="zh-TW" altLang="en-US" i="1">
                              <a:solidFill>
                                <a:srgbClr val="FF6600"/>
                              </a:solidFill>
                              <a:latin typeface="Cambria Math" panose="02040503050406030204" pitchFamily="18" charset="0"/>
                            </a:rPr>
                          </m:ctrlPr>
                        </m:sSubPr>
                        <m:e>
                          <m:r>
                            <a:rPr lang="zh-TW" altLang="en-US" i="1">
                              <a:solidFill>
                                <a:srgbClr val="FF6600"/>
                              </a:solidFill>
                              <a:latin typeface="Cambria Math" panose="02040503050406030204" pitchFamily="18" charset="0"/>
                            </a:rPr>
                            <m:t>𝑎𝑐𝑡𝑖𝑣𝑖𝑡𝑦</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𝑣𝑎𝑟</m:t>
                          </m:r>
                        </m:e>
                        <m:sub>
                          <m:r>
                            <a:rPr lang="zh-TW" altLang="en-US" i="1">
                              <a:solidFill>
                                <a:srgbClr val="FF6600"/>
                              </a:solidFill>
                              <a:latin typeface="Cambria Math" panose="02040503050406030204" pitchFamily="18" charset="0"/>
                            </a:rPr>
                            <m:t>𝑖</m:t>
                          </m:r>
                        </m:sub>
                      </m:sSub>
                      <m:r>
                        <a:rPr lang="zh-TW" altLang="en-US" i="0" smtClean="0">
                          <a:solidFill>
                            <a:srgbClr val="0070C0"/>
                          </a:solidFill>
                          <a:latin typeface="Cambria Math" panose="02040503050406030204" pitchFamily="18" charset="0"/>
                        </a:rPr>
                        <m:t>+10000</m:t>
                      </m:r>
                      <m:nary>
                        <m:naryPr>
                          <m:chr m:val="∑"/>
                          <m:limLoc m:val="undOvr"/>
                          <m:supHide m:val="on"/>
                          <m:ctrlPr>
                            <a:rPr lang="zh-TW" altLang="en-US" i="1">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𝑖</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𝑀𝑂𝑁</m:t>
                          </m:r>
                        </m:sub>
                        <m:sup/>
                        <m:e>
                          <m:nary>
                            <m:naryPr>
                              <m:chr m:val="∑"/>
                              <m:limLoc m:val="undOvr"/>
                              <m:supHide m:val="on"/>
                              <m:ctrlPr>
                                <a:rPr lang="zh-TW" altLang="en-US" i="1">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𝑗</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𝑆</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𝐶𝑂𝑁</m:t>
                              </m:r>
                            </m:sub>
                            <m:sup/>
                            <m:e>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𝑠𝑖𝑡𝑒</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𝑝𝑟𝑖𝑜𝑟𝑖𝑡𝑦</m:t>
                                  </m:r>
                                </m:e>
                                <m:sub>
                                  <m:r>
                                    <a:rPr lang="zh-TW" altLang="en-US" i="1">
                                      <a:solidFill>
                                        <a:srgbClr val="0070C0"/>
                                      </a:solidFill>
                                      <a:latin typeface="Cambria Math" panose="02040503050406030204" pitchFamily="18" charset="0"/>
                                    </a:rPr>
                                    <m:t>𝑗</m:t>
                                  </m:r>
                                </m:sub>
                              </m:sSub>
                              <m:r>
                                <a:rPr lang="zh-TW" altLang="en-US" i="0">
                                  <a:solidFill>
                                    <a:srgbClr val="0070C0"/>
                                  </a:solidFill>
                                  <a:latin typeface="Cambria Math" panose="02040503050406030204" pitchFamily="18" charset="0"/>
                                </a:rPr>
                                <m:t>×</m:t>
                              </m:r>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𝑎𝑐𝑡𝑖𝑣𝑖𝑡𝑦</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𝑠𝑖𝑡𝑒</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𝑣𝑎𝑟</m:t>
                                  </m:r>
                                </m:e>
                                <m:sub>
                                  <m:r>
                                    <a:rPr lang="zh-TW" altLang="en-US" i="1">
                                      <a:solidFill>
                                        <a:srgbClr val="0070C0"/>
                                      </a:solidFill>
                                      <a:latin typeface="Cambria Math" panose="02040503050406030204" pitchFamily="18" charset="0"/>
                                    </a:rPr>
                                    <m:t>𝑖𝑗</m:t>
                                  </m:r>
                                </m:sub>
                              </m:sSub>
                            </m:e>
                          </m:nary>
                        </m:e>
                      </m:nary>
                      <m:r>
                        <a:rPr lang="zh-TW" altLang="en-US" i="0">
                          <a:solidFill>
                            <a:srgbClr val="0070C0"/>
                          </a:solidFill>
                          <a:latin typeface="Cambria Math" panose="02040503050406030204" pitchFamily="18" charset="0"/>
                        </a:rPr>
                        <m:t>+10000</m:t>
                      </m:r>
                      <m:nary>
                        <m:naryPr>
                          <m:chr m:val="∑"/>
                          <m:limLoc m:val="undOvr"/>
                          <m:supHide m:val="on"/>
                          <m:ctrlPr>
                            <a:rPr lang="zh-TW" altLang="en-US" i="1">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𝑖</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𝑅𝑆𝐼</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𝑃𝐵𝐾</m:t>
                          </m:r>
                        </m:sub>
                        <m:sup/>
                        <m:e>
                          <m:nary>
                            <m:naryPr>
                              <m:chr m:val="∑"/>
                              <m:limLoc m:val="undOvr"/>
                              <m:supHide m:val="on"/>
                              <m:ctrlPr>
                                <a:rPr lang="zh-TW" altLang="en-US" i="1">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𝑗</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𝑋</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𝐶𝑂𝑁</m:t>
                              </m:r>
                            </m:sub>
                            <m:sup/>
                            <m:e>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𝑠𝑖𝑡𝑒</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𝑝𝑟𝑖𝑜𝑟𝑖𝑡𝑦</m:t>
                                  </m:r>
                                </m:e>
                                <m:sub>
                                  <m:r>
                                    <a:rPr lang="zh-TW" altLang="en-US" i="1">
                                      <a:solidFill>
                                        <a:srgbClr val="0070C0"/>
                                      </a:solidFill>
                                      <a:latin typeface="Cambria Math" panose="02040503050406030204" pitchFamily="18" charset="0"/>
                                    </a:rPr>
                                    <m:t>𝑗</m:t>
                                  </m:r>
                                </m:sub>
                              </m:sSub>
                              <m:r>
                                <a:rPr lang="zh-TW" altLang="en-US" i="0">
                                  <a:solidFill>
                                    <a:srgbClr val="0070C0"/>
                                  </a:solidFill>
                                  <a:latin typeface="Cambria Math" panose="02040503050406030204" pitchFamily="18" charset="0"/>
                                </a:rPr>
                                <m:t>×</m:t>
                              </m:r>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𝑎𝑐𝑡𝑖𝑣𝑖𝑡𝑦</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𝑠𝑖𝑡𝑒</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𝑣𝑎𝑟</m:t>
                                  </m:r>
                                </m:e>
                                <m:sub>
                                  <m:r>
                                    <a:rPr lang="zh-TW" altLang="en-US" i="1">
                                      <a:solidFill>
                                        <a:srgbClr val="0070C0"/>
                                      </a:solidFill>
                                      <a:latin typeface="Cambria Math" panose="02040503050406030204" pitchFamily="18" charset="0"/>
                                    </a:rPr>
                                    <m:t>𝑖𝑗</m:t>
                                  </m:r>
                                </m:sub>
                              </m:sSub>
                            </m:e>
                          </m:nary>
                        </m:e>
                      </m:nary>
                      <m:r>
                        <a:rPr lang="zh-TW" altLang="en-US" i="0" smtClean="0">
                          <a:solidFill>
                            <a:srgbClr val="00B050"/>
                          </a:solidFill>
                          <a:latin typeface="Cambria Math" panose="02040503050406030204" pitchFamily="18" charset="0"/>
                        </a:rPr>
                        <m:t>−</m:t>
                      </m:r>
                      <m:nary>
                        <m:naryPr>
                          <m:chr m:val="∑"/>
                          <m:limLoc m:val="undOvr"/>
                          <m:supHide m:val="on"/>
                          <m:ctrlPr>
                            <a:rPr lang="zh-TW" altLang="en-US" i="1">
                              <a:solidFill>
                                <a:srgbClr val="00B050"/>
                              </a:solidFill>
                              <a:latin typeface="Cambria Math" panose="02040503050406030204" pitchFamily="18" charset="0"/>
                            </a:rPr>
                          </m:ctrlPr>
                        </m:naryPr>
                        <m:sub>
                          <m:r>
                            <a:rPr lang="zh-TW" altLang="en-US" i="1">
                              <a:solidFill>
                                <a:srgbClr val="00B050"/>
                              </a:solidFill>
                              <a:latin typeface="Cambria Math" panose="02040503050406030204" pitchFamily="18" charset="0"/>
                            </a:rPr>
                            <m:t>𝑖</m:t>
                          </m:r>
                          <m:r>
                            <a:rPr lang="zh-TW" altLang="en-US" i="0">
                              <a:solidFill>
                                <a:srgbClr val="00B050"/>
                              </a:solidFill>
                              <a:latin typeface="Cambria Math" panose="02040503050406030204" pitchFamily="18" charset="0"/>
                            </a:rPr>
                            <m:t>∈</m:t>
                          </m:r>
                          <m:r>
                            <a:rPr lang="zh-TW" altLang="en-US" i="1">
                              <a:solidFill>
                                <a:srgbClr val="00B050"/>
                              </a:solidFill>
                              <a:latin typeface="Cambria Math" panose="02040503050406030204" pitchFamily="18" charset="0"/>
                            </a:rPr>
                            <m:t>𝑅𝑆𝐼</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𝑃𝐵𝐾</m:t>
                          </m:r>
                        </m:sub>
                        <m:sup/>
                        <m:e>
                          <m:sSub>
                            <m:sSubPr>
                              <m:ctrlPr>
                                <a:rPr lang="zh-TW" altLang="en-US" i="1">
                                  <a:solidFill>
                                    <a:srgbClr val="00B050"/>
                                  </a:solidFill>
                                  <a:latin typeface="Cambria Math" panose="02040503050406030204" pitchFamily="18" charset="0"/>
                                </a:rPr>
                              </m:ctrlPr>
                            </m:sSubPr>
                            <m:e>
                              <m:r>
                                <a:rPr lang="zh-TW" altLang="en-US" i="1">
                                  <a:solidFill>
                                    <a:srgbClr val="00B050"/>
                                  </a:solidFill>
                                  <a:latin typeface="Cambria Math" panose="02040503050406030204" pitchFamily="18" charset="0"/>
                                </a:rPr>
                                <m:t>𝑎𝑐𝑡𝑖𝑣𝑖𝑡𝑦</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𝑠𝑡</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𝑜𝑏𝑗</m:t>
                              </m:r>
                            </m:e>
                            <m:sub>
                              <m:r>
                                <a:rPr lang="zh-TW" altLang="en-US" i="1">
                                  <a:solidFill>
                                    <a:srgbClr val="00B050"/>
                                  </a:solidFill>
                                  <a:latin typeface="Cambria Math" panose="02040503050406030204" pitchFamily="18" charset="0"/>
                                </a:rPr>
                                <m:t>𝑖</m:t>
                              </m:r>
                            </m:sub>
                          </m:sSub>
                        </m:e>
                      </m:nary>
                      <m:r>
                        <a:rPr lang="zh-TW" altLang="en-US" i="0">
                          <a:solidFill>
                            <a:srgbClr val="00B050"/>
                          </a:solidFill>
                          <a:latin typeface="Cambria Math" panose="02040503050406030204" pitchFamily="18" charset="0"/>
                        </a:rPr>
                        <m:t>−</m:t>
                      </m:r>
                      <m:nary>
                        <m:naryPr>
                          <m:chr m:val="∑"/>
                          <m:limLoc m:val="undOvr"/>
                          <m:supHide m:val="on"/>
                          <m:ctrlPr>
                            <a:rPr lang="zh-TW" altLang="en-US" i="1">
                              <a:solidFill>
                                <a:srgbClr val="00B050"/>
                              </a:solidFill>
                              <a:latin typeface="Cambria Math" panose="02040503050406030204" pitchFamily="18" charset="0"/>
                            </a:rPr>
                          </m:ctrlPr>
                        </m:naryPr>
                        <m:sub>
                          <m:r>
                            <a:rPr lang="zh-TW" altLang="en-US" i="1">
                              <a:solidFill>
                                <a:srgbClr val="00B050"/>
                              </a:solidFill>
                              <a:latin typeface="Cambria Math" panose="02040503050406030204" pitchFamily="18" charset="0"/>
                            </a:rPr>
                            <m:t>𝑖</m:t>
                          </m:r>
                          <m:r>
                            <a:rPr lang="zh-TW" altLang="en-US" i="0">
                              <a:solidFill>
                                <a:srgbClr val="00B050"/>
                              </a:solidFill>
                              <a:latin typeface="Cambria Math" panose="02040503050406030204" pitchFamily="18" charset="0"/>
                            </a:rPr>
                            <m:t>∈</m:t>
                          </m:r>
                          <m:r>
                            <a:rPr lang="zh-TW" altLang="en-US" i="1">
                              <a:solidFill>
                                <a:srgbClr val="00B050"/>
                              </a:solidFill>
                              <a:latin typeface="Cambria Math" panose="02040503050406030204" pitchFamily="18" charset="0"/>
                            </a:rPr>
                            <m:t>𝑅𝑆𝐼</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𝐷𝐸𝐿</m:t>
                          </m:r>
                        </m:sub>
                        <m:sup/>
                        <m:e>
                          <m:sSub>
                            <m:sSubPr>
                              <m:ctrlPr>
                                <a:rPr lang="zh-TW" altLang="en-US" i="1">
                                  <a:solidFill>
                                    <a:srgbClr val="00B050"/>
                                  </a:solidFill>
                                  <a:latin typeface="Cambria Math" panose="02040503050406030204" pitchFamily="18" charset="0"/>
                                </a:rPr>
                              </m:ctrlPr>
                            </m:sSubPr>
                            <m:e>
                              <m:r>
                                <a:rPr lang="zh-TW" altLang="en-US" i="1">
                                  <a:solidFill>
                                    <a:srgbClr val="00B050"/>
                                  </a:solidFill>
                                  <a:latin typeface="Cambria Math" panose="02040503050406030204" pitchFamily="18" charset="0"/>
                                </a:rPr>
                                <m:t>𝑎𝑐𝑡𝑖𝑣𝑖𝑡𝑦</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𝑠𝑡</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𝑜𝑏𝑗</m:t>
                              </m:r>
                            </m:e>
                            <m:sub>
                              <m:r>
                                <a:rPr lang="zh-TW" altLang="en-US" i="1">
                                  <a:solidFill>
                                    <a:srgbClr val="00B050"/>
                                  </a:solidFill>
                                  <a:latin typeface="Cambria Math" panose="02040503050406030204" pitchFamily="18" charset="0"/>
                                </a:rPr>
                                <m:t>𝑖</m:t>
                              </m:r>
                            </m:sub>
                          </m:sSub>
                        </m:e>
                      </m:nary>
                    </m:oMath>
                  </m:oMathPara>
                </a14:m>
                <a:endParaRPr lang="zh-TW" altLang="en-US" dirty="0"/>
              </a:p>
            </p:txBody>
          </p:sp>
        </mc:Choice>
        <mc:Fallback xmlns="">
          <p:sp>
            <p:nvSpPr>
              <p:cNvPr id="6" name="文字方塊 5">
                <a:extLst>
                  <a:ext uri="{FF2B5EF4-FFF2-40B4-BE49-F238E27FC236}">
                    <a16:creationId xmlns:a16="http://schemas.microsoft.com/office/drawing/2014/main" id="{4776080D-ED60-36F6-C695-0E03E315B601}"/>
                  </a:ext>
                </a:extLst>
              </p:cNvPr>
              <p:cNvSpPr txBox="1">
                <a:spLocks noRot="1" noChangeAspect="1" noMove="1" noResize="1" noEditPoints="1" noAdjustHandles="1" noChangeArrowheads="1" noChangeShapeType="1" noTextEdit="1"/>
              </p:cNvSpPr>
              <p:nvPr/>
            </p:nvSpPr>
            <p:spPr>
              <a:xfrm>
                <a:off x="120662" y="1251779"/>
                <a:ext cx="5883472" cy="3640099"/>
              </a:xfrm>
              <a:prstGeom prst="rect">
                <a:avLst/>
              </a:prstGeom>
              <a:blipFill>
                <a:blip r:embed="rId3"/>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029ECFA8-8D65-82AA-4DD1-173469F3293E}"/>
              </a:ext>
            </a:extLst>
          </p:cNvPr>
          <p:cNvSpPr txBox="1"/>
          <p:nvPr/>
        </p:nvSpPr>
        <p:spPr>
          <a:xfrm>
            <a:off x="5347201" y="1929871"/>
            <a:ext cx="3342011" cy="307777"/>
          </a:xfrm>
          <a:prstGeom prst="rect">
            <a:avLst/>
          </a:prstGeom>
          <a:noFill/>
        </p:spPr>
        <p:txBody>
          <a:bodyPr wrap="square" rtlCol="0">
            <a:spAutoFit/>
          </a:bodyPr>
          <a:lstStyle/>
          <a:p>
            <a:r>
              <a:rPr lang="zh-TW" altLang="en-US" dirty="0">
                <a:solidFill>
                  <a:srgbClr val="FF6600"/>
                </a:solidFill>
                <a:latin typeface="標楷體" panose="03000509000000000000" pitchFamily="65" charset="-120"/>
                <a:ea typeface="標楷體" panose="03000509000000000000" pitchFamily="65" charset="-120"/>
              </a:rPr>
              <a:t>→ 使排入的活動總數越多越好</a:t>
            </a:r>
          </a:p>
        </p:txBody>
      </p:sp>
      <p:sp>
        <p:nvSpPr>
          <p:cNvPr id="8" name="文字方塊 7">
            <a:extLst>
              <a:ext uri="{FF2B5EF4-FFF2-40B4-BE49-F238E27FC236}">
                <a16:creationId xmlns:a16="http://schemas.microsoft.com/office/drawing/2014/main" id="{5DE7B619-B6E5-7899-E36F-4E737EAE034A}"/>
              </a:ext>
            </a:extLst>
          </p:cNvPr>
          <p:cNvSpPr txBox="1"/>
          <p:nvPr/>
        </p:nvSpPr>
        <p:spPr>
          <a:xfrm>
            <a:off x="5347202" y="2920113"/>
            <a:ext cx="3342011" cy="587725"/>
          </a:xfrm>
          <a:prstGeom prst="rect">
            <a:avLst/>
          </a:prstGeom>
          <a:noFill/>
        </p:spPr>
        <p:txBody>
          <a:bodyPr wrap="square" rtlCol="0">
            <a:spAutoFit/>
          </a:bodyPr>
          <a:lstStyle/>
          <a:p>
            <a:pPr>
              <a:lnSpc>
                <a:spcPct val="120000"/>
              </a:lnSpc>
            </a:pP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Monitoring</a:t>
            </a: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與</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RSI Playback</a:t>
            </a: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選擇的</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site</a:t>
            </a: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盡量是</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prefer site</a:t>
            </a:r>
            <a:endPar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5E706C3-A2DA-4E24-4372-94EB6F371FB2}"/>
              </a:ext>
            </a:extLst>
          </p:cNvPr>
          <p:cNvSpPr txBox="1"/>
          <p:nvPr/>
        </p:nvSpPr>
        <p:spPr>
          <a:xfrm>
            <a:off x="5347201" y="4304345"/>
            <a:ext cx="3342011" cy="587533"/>
          </a:xfrm>
          <a:prstGeom prst="rect">
            <a:avLst/>
          </a:prstGeom>
          <a:noFill/>
        </p:spPr>
        <p:txBody>
          <a:bodyPr wrap="square" rtlCol="0">
            <a:spAutoFit/>
          </a:bodyPr>
          <a:lstStyle/>
          <a:p>
            <a:pPr>
              <a:lnSpc>
                <a:spcPct val="120000"/>
              </a:lnSpc>
            </a:pP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RSI Playback</a:t>
            </a: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與</a:t>
            </a:r>
            <a:r>
              <a:rPr lang="en-US" altLang="zh-TW"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RSI Delete</a:t>
            </a: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盡量越早完成越好</a:t>
            </a:r>
          </a:p>
        </p:txBody>
      </p:sp>
      <p:sp>
        <p:nvSpPr>
          <p:cNvPr id="11" name="Google Shape;3042;p38">
            <a:extLst>
              <a:ext uri="{FF2B5EF4-FFF2-40B4-BE49-F238E27FC236}">
                <a16:creationId xmlns:a16="http://schemas.microsoft.com/office/drawing/2014/main" id="{D626A5D4-501F-1DEF-0FD1-D36FE13040E5}"/>
              </a:ext>
            </a:extLst>
          </p:cNvPr>
          <p:cNvSpPr/>
          <p:nvPr/>
        </p:nvSpPr>
        <p:spPr>
          <a:xfrm>
            <a:off x="0" y="1097802"/>
            <a:ext cx="464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030;p38">
            <a:extLst>
              <a:ext uri="{FF2B5EF4-FFF2-40B4-BE49-F238E27FC236}">
                <a16:creationId xmlns:a16="http://schemas.microsoft.com/office/drawing/2014/main" id="{3AB77B14-5017-D4B9-2E73-922E4D2697A2}"/>
              </a:ext>
            </a:extLst>
          </p:cNvPr>
          <p:cNvSpPr txBox="1">
            <a:spLocks/>
          </p:cNvSpPr>
          <p:nvPr/>
        </p:nvSpPr>
        <p:spPr>
          <a:xfrm>
            <a:off x="-46066" y="576686"/>
            <a:ext cx="4723261"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排程模型目標式說明（</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2/2</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p>
        </p:txBody>
      </p:sp>
      <p:sp>
        <p:nvSpPr>
          <p:cNvPr id="26" name="Google Shape;230;p30">
            <a:extLst>
              <a:ext uri="{FF2B5EF4-FFF2-40B4-BE49-F238E27FC236}">
                <a16:creationId xmlns:a16="http://schemas.microsoft.com/office/drawing/2014/main" id="{B901F95E-3823-95D1-3764-8B6E3DF5F207}"/>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4;p30">
            <a:hlinkClick r:id="" action="ppaction://hlinkshowjump?jump=firstslide"/>
            <a:extLst>
              <a:ext uri="{FF2B5EF4-FFF2-40B4-BE49-F238E27FC236}">
                <a16:creationId xmlns:a16="http://schemas.microsoft.com/office/drawing/2014/main" id="{A6206FA1-CC28-292C-0663-647E9218B6F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Google Shape;234;p30">
            <a:hlinkClick r:id="" action="ppaction://hlinkshowjump?jump=firstslide"/>
            <a:extLst>
              <a:ext uri="{FF2B5EF4-FFF2-40B4-BE49-F238E27FC236}">
                <a16:creationId xmlns:a16="http://schemas.microsoft.com/office/drawing/2014/main" id="{E0CDA05B-99CD-BF9B-3309-18AE4A58BD92}"/>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4" action="ppaction://hlinksldjump"/>
            <a:extLst>
              <a:ext uri="{FF2B5EF4-FFF2-40B4-BE49-F238E27FC236}">
                <a16:creationId xmlns:a16="http://schemas.microsoft.com/office/drawing/2014/main" id="{52E199D9-75E8-2912-0E69-D7E73FB67C63}"/>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矩形 29">
            <a:hlinkClick r:id="rId5" action="ppaction://hlinksldjump"/>
            <a:extLst>
              <a:ext uri="{FF2B5EF4-FFF2-40B4-BE49-F238E27FC236}">
                <a16:creationId xmlns:a16="http://schemas.microsoft.com/office/drawing/2014/main" id="{CB5335E4-A6FC-8D06-A421-EFB9C59F13A1}"/>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Google Shape;234;p30">
            <a:hlinkClick r:id="" action="ppaction://hlinkshowjump?jump=firstslide"/>
            <a:extLst>
              <a:ext uri="{FF2B5EF4-FFF2-40B4-BE49-F238E27FC236}">
                <a16:creationId xmlns:a16="http://schemas.microsoft.com/office/drawing/2014/main" id="{7D64E5FB-D163-5E05-4822-735ED981BA96}"/>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6" action="ppaction://hlinksldjump"/>
            <a:extLst>
              <a:ext uri="{FF2B5EF4-FFF2-40B4-BE49-F238E27FC236}">
                <a16:creationId xmlns:a16="http://schemas.microsoft.com/office/drawing/2014/main" id="{78431973-5346-17D2-ABA3-3BF484F1AF51}"/>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2FD5CA81-E6C6-771B-AB72-7671A0B23166}"/>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7" action="ppaction://hlinksldjump"/>
            <a:extLst>
              <a:ext uri="{FF2B5EF4-FFF2-40B4-BE49-F238E27FC236}">
                <a16:creationId xmlns:a16="http://schemas.microsoft.com/office/drawing/2014/main" id="{4B033627-A0B7-EC0E-6A4F-77F97E8B825A}"/>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89BE88F7-2D0C-B590-36BB-A4D29979537F}"/>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8" action="ppaction://hlinksldjump"/>
            <a:extLst>
              <a:ext uri="{FF2B5EF4-FFF2-40B4-BE49-F238E27FC236}">
                <a16:creationId xmlns:a16="http://schemas.microsoft.com/office/drawing/2014/main" id="{4F987723-A8BC-A787-5A05-909BF1EE8C8D}"/>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Google Shape;234;p30">
            <a:hlinkClick r:id="" action="ppaction://hlinkshowjump?jump=firstslide"/>
            <a:extLst>
              <a:ext uri="{FF2B5EF4-FFF2-40B4-BE49-F238E27FC236}">
                <a16:creationId xmlns:a16="http://schemas.microsoft.com/office/drawing/2014/main" id="{F5EA2901-DFBF-5E74-B7DE-DB23336A9E57}"/>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hlinkClick r:id="rId9" action="ppaction://hlinksldjump"/>
            <a:extLst>
              <a:ext uri="{FF2B5EF4-FFF2-40B4-BE49-F238E27FC236}">
                <a16:creationId xmlns:a16="http://schemas.microsoft.com/office/drawing/2014/main" id="{9BC5BAA7-EC0F-67EC-4D4A-AB6DACC34B3E}"/>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810143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DAABCB0-004A-0DAF-804F-8FEF95102AF5}"/>
              </a:ext>
            </a:extLst>
          </p:cNvPr>
          <p:cNvGraphicFramePr>
            <a:graphicFrameLocks noGrp="1"/>
          </p:cNvGraphicFramePr>
          <p:nvPr>
            <p:extLst>
              <p:ext uri="{D42A27DB-BD31-4B8C-83A1-F6EECF244321}">
                <p14:modId xmlns:p14="http://schemas.microsoft.com/office/powerpoint/2010/main" val="1194048571"/>
              </p:ext>
            </p:extLst>
          </p:nvPr>
        </p:nvGraphicFramePr>
        <p:xfrm>
          <a:off x="141529" y="1625003"/>
          <a:ext cx="8848722" cy="1208723"/>
        </p:xfrm>
        <a:graphic>
          <a:graphicData uri="http://schemas.openxmlformats.org/drawingml/2006/table">
            <a:tbl>
              <a:tblPr firstRow="1" bandRow="1">
                <a:tableStyleId>{8B193ECF-1327-48E1-8871-2513AA109082}</a:tableStyleId>
              </a:tblPr>
              <a:tblGrid>
                <a:gridCol w="3160021">
                  <a:extLst>
                    <a:ext uri="{9D8B030D-6E8A-4147-A177-3AD203B41FA5}">
                      <a16:colId xmlns:a16="http://schemas.microsoft.com/office/drawing/2014/main" val="2138163829"/>
                    </a:ext>
                  </a:extLst>
                </a:gridCol>
                <a:gridCol w="3406747">
                  <a:extLst>
                    <a:ext uri="{9D8B030D-6E8A-4147-A177-3AD203B41FA5}">
                      <a16:colId xmlns:a16="http://schemas.microsoft.com/office/drawing/2014/main" val="2542460822"/>
                    </a:ext>
                  </a:extLst>
                </a:gridCol>
                <a:gridCol w="2281954">
                  <a:extLst>
                    <a:ext uri="{9D8B030D-6E8A-4147-A177-3AD203B41FA5}">
                      <a16:colId xmlns:a16="http://schemas.microsoft.com/office/drawing/2014/main" val="1991161076"/>
                    </a:ext>
                  </a:extLst>
                </a:gridCol>
              </a:tblGrid>
              <a:tr h="370840">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目標式項目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項目功能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zh-TW" altLang="en-US" b="1" baseline="0" dirty="0">
                          <a:latin typeface="Times New Roman" panose="02020603050405020304" pitchFamily="18" charset="0"/>
                          <a:ea typeface="標楷體" panose="03000509000000000000" pitchFamily="65" charset="-120"/>
                        </a:rPr>
                        <a:t>項目權重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6583747"/>
                  </a:ext>
                </a:extLst>
              </a:tr>
              <a:tr h="370840">
                <a:tc>
                  <a:txBody>
                    <a:bodyPr/>
                    <a:lstStyle/>
                    <a:p>
                      <a:pPr marL="0" marR="0" lvl="0" indent="0" algn="l" defTabSz="914400" rtl="0" eaLnBrk="1" fontAlgn="auto" latinLnBrk="0" hangingPunct="1">
                        <a:lnSpc>
                          <a:spcPct val="120000"/>
                        </a:lnSpc>
                        <a:spcBef>
                          <a:spcPts val="0"/>
                        </a:spcBef>
                        <a:spcAft>
                          <a:spcPts val="0"/>
                        </a:spcAft>
                        <a:buClr>
                          <a:srgbClr val="000000"/>
                        </a:buClr>
                        <a:buSzTx/>
                        <a:buFont typeface="Arial"/>
                        <a:buNone/>
                        <a:tabLst/>
                        <a:defRPr/>
                      </a:pPr>
                      <a:r>
                        <a:rPr lang="zh-TW" altLang="en-US" b="1" baseline="0" dirty="0">
                          <a:latin typeface="Times New Roman" panose="02020603050405020304" pitchFamily="18" charset="0"/>
                          <a:ea typeface="標楷體" panose="03000509000000000000" pitchFamily="65" charset="-120"/>
                        </a:rPr>
                        <a:t>依照每個活動限制不同而有不同的項目（下方以</a:t>
                      </a:r>
                      <a:r>
                        <a:rPr lang="en-US" altLang="zh-TW" b="1" baseline="0" dirty="0">
                          <a:latin typeface="Times New Roman" panose="02020603050405020304" pitchFamily="18" charset="0"/>
                          <a:ea typeface="標楷體" panose="03000509000000000000" pitchFamily="65" charset="-120"/>
                        </a:rPr>
                        <a:t>Attitude Maneuver</a:t>
                      </a:r>
                      <a:r>
                        <a:rPr lang="zh-TW" altLang="en-US" b="1" baseline="0" dirty="0">
                          <a:latin typeface="Times New Roman" panose="02020603050405020304" pitchFamily="18" charset="0"/>
                          <a:ea typeface="標楷體" panose="03000509000000000000" pitchFamily="65" charset="-120"/>
                        </a:rPr>
                        <a:t>為例）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20000"/>
                        </a:lnSpc>
                        <a:spcBef>
                          <a:spcPts val="0"/>
                        </a:spcBef>
                        <a:spcAft>
                          <a:spcPts val="0"/>
                        </a:spcAft>
                        <a:buClr>
                          <a:srgbClr val="000000"/>
                        </a:buClr>
                        <a:buSzTx/>
                        <a:buFont typeface="Arial"/>
                        <a:buNone/>
                        <a:tabLst/>
                        <a:defRPr/>
                      </a:pPr>
                      <a:r>
                        <a:rPr lang="zh-TW" altLang="en-US" baseline="0" dirty="0">
                          <a:latin typeface="Times New Roman" panose="02020603050405020304" pitchFamily="18" charset="0"/>
                          <a:ea typeface="標楷體" panose="03000509000000000000" pitchFamily="65" charset="-120"/>
                        </a:rPr>
                        <a:t>每個為了搜索無法排程原因新增的變數，在活動可排入的情況下，值為</a:t>
                      </a:r>
                      <a:r>
                        <a:rPr lang="en-US" altLang="zh-TW" baseline="0" dirty="0">
                          <a:latin typeface="Times New Roman" panose="02020603050405020304" pitchFamily="18" charset="0"/>
                          <a:ea typeface="標楷體" panose="03000509000000000000" pitchFamily="65" charset="-120"/>
                        </a:rPr>
                        <a:t>0</a:t>
                      </a:r>
                      <a:r>
                        <a:rPr lang="zh-TW" altLang="en-US" baseline="0" dirty="0">
                          <a:latin typeface="Times New Roman" panose="02020603050405020304" pitchFamily="18" charset="0"/>
                          <a:ea typeface="標楷體" panose="03000509000000000000" pitchFamily="65" charset="-120"/>
                        </a:rPr>
                        <a:t>，若因某限制使之無法排入，其值才會為</a:t>
                      </a:r>
                      <a:r>
                        <a:rPr lang="en-US" altLang="zh-TW" baseline="0" dirty="0">
                          <a:latin typeface="Times New Roman" panose="02020603050405020304" pitchFamily="18" charset="0"/>
                          <a:ea typeface="標楷體" panose="03000509000000000000" pitchFamily="65" charset="-120"/>
                        </a:rPr>
                        <a:t>1</a:t>
                      </a:r>
                      <a:r>
                        <a:rPr lang="zh-TW" altLang="en-US" baseline="0" dirty="0">
                          <a:latin typeface="Times New Roman" panose="02020603050405020304" pitchFamily="18" charset="0"/>
                          <a:ea typeface="標楷體" panose="03000509000000000000" pitchFamily="65"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20000"/>
                        </a:lnSpc>
                        <a:spcAft>
                          <a:spcPts val="300"/>
                        </a:spcAft>
                        <a:buFont typeface="Arial" panose="020B0604020202020204" pitchFamily="34" charset="0"/>
                        <a:buNone/>
                      </a:pPr>
                      <a:r>
                        <a:rPr lang="en-US" altLang="zh-TW" baseline="0" dirty="0">
                          <a:latin typeface="Times New Roman" panose="02020603050405020304" pitchFamily="18" charset="0"/>
                          <a:ea typeface="標楷體" panose="03000509000000000000" pitchFamily="65" charset="-12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734995"/>
                  </a:ext>
                </a:extLst>
              </a:tr>
            </a:tbl>
          </a:graphicData>
        </a:graphic>
      </p:graphicFrame>
      <p:sp>
        <p:nvSpPr>
          <p:cNvPr id="6" name="Google Shape;3042;p38">
            <a:extLst>
              <a:ext uri="{FF2B5EF4-FFF2-40B4-BE49-F238E27FC236}">
                <a16:creationId xmlns:a16="http://schemas.microsoft.com/office/drawing/2014/main" id="{28F618DC-2D4A-AF76-B0E2-03F55A5AE6DF}"/>
              </a:ext>
            </a:extLst>
          </p:cNvPr>
          <p:cNvSpPr/>
          <p:nvPr/>
        </p:nvSpPr>
        <p:spPr>
          <a:xfrm>
            <a:off x="0" y="1097802"/>
            <a:ext cx="5688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030;p38">
            <a:extLst>
              <a:ext uri="{FF2B5EF4-FFF2-40B4-BE49-F238E27FC236}">
                <a16:creationId xmlns:a16="http://schemas.microsoft.com/office/drawing/2014/main" id="{7A1E2606-E712-970C-32D9-CE245FFCB727}"/>
              </a:ext>
            </a:extLst>
          </p:cNvPr>
          <p:cNvSpPr txBox="1">
            <a:spLocks/>
          </p:cNvSpPr>
          <p:nvPr/>
        </p:nvSpPr>
        <p:spPr>
          <a:xfrm>
            <a:off x="-46065" y="576686"/>
            <a:ext cx="5684130" cy="5211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1pPr>
            <a:lvl2pPr marR="0" lvl="1"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2pPr>
            <a:lvl3pPr marR="0" lvl="2"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3pPr>
            <a:lvl4pPr marR="0" lvl="3"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4pPr>
            <a:lvl5pPr marR="0" lvl="4"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5pPr>
            <a:lvl6pPr marR="0" lvl="5"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6pPr>
            <a:lvl7pPr marR="0" lvl="6"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7pPr>
            <a:lvl8pPr marR="0" lvl="7"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8pPr>
            <a:lvl9pPr marR="0" lvl="8" algn="r" rtl="0">
              <a:lnSpc>
                <a:spcPct val="100000"/>
              </a:lnSpc>
              <a:spcBef>
                <a:spcPts val="0"/>
              </a:spcBef>
              <a:spcAft>
                <a:spcPts val="0"/>
              </a:spcAft>
              <a:buClr>
                <a:schemeClr val="dk1"/>
              </a:buClr>
              <a:buSzPts val="3500"/>
              <a:buFont typeface="Poppins"/>
              <a:buNone/>
              <a:defRPr sz="3500" b="1" i="0" u="none" strike="noStrike" cap="none">
                <a:solidFill>
                  <a:schemeClr val="dk1"/>
                </a:solidFill>
                <a:latin typeface="Poppins"/>
                <a:ea typeface="Poppins"/>
                <a:cs typeface="Poppins"/>
                <a:sym typeface="Poppins"/>
              </a:defRPr>
            </a:lvl9pPr>
          </a:lstStyle>
          <a:p>
            <a:pPr algn="ct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搜索無法排程原因模型目標式說明</a:t>
            </a:r>
          </a:p>
        </p:txBody>
      </p:sp>
      <p:sp>
        <p:nvSpPr>
          <p:cNvPr id="18" name="文字方塊 17">
            <a:extLst>
              <a:ext uri="{FF2B5EF4-FFF2-40B4-BE49-F238E27FC236}">
                <a16:creationId xmlns:a16="http://schemas.microsoft.com/office/drawing/2014/main" id="{525257AB-1B53-671A-3EDC-ADB2A5AABCA1}"/>
              </a:ext>
            </a:extLst>
          </p:cNvPr>
          <p:cNvSpPr txBox="1"/>
          <p:nvPr/>
        </p:nvSpPr>
        <p:spPr>
          <a:xfrm>
            <a:off x="141529" y="1246847"/>
            <a:ext cx="3601614" cy="307777"/>
          </a:xfrm>
          <a:prstGeom prst="rect">
            <a:avLst/>
          </a:prstGeom>
          <a:noFill/>
        </p:spPr>
        <p:txBody>
          <a:bodyPr wrap="square" rtlCol="0">
            <a:spAutoFit/>
          </a:bodyPr>
          <a:lstStyle/>
          <a:p>
            <a:pPr marL="285750" indent="-285750">
              <a:buFont typeface="Arial" panose="020B0604020202020204" pitchFamily="34" charset="0"/>
              <a:buChar char="•"/>
            </a:pPr>
            <a:r>
              <a:rPr lang="zh-TW" altLang="en-US" b="1" dirty="0">
                <a:latin typeface="標楷體" panose="03000509000000000000" pitchFamily="65" charset="-120"/>
                <a:ea typeface="標楷體" panose="03000509000000000000" pitchFamily="65" charset="-120"/>
              </a:rPr>
              <a:t>屬</a:t>
            </a:r>
            <a:r>
              <a:rPr lang="zh-TW" altLang="en-US" b="1" dirty="0">
                <a:solidFill>
                  <a:srgbClr val="C00000"/>
                </a:solidFill>
                <a:latin typeface="標楷體" panose="03000509000000000000" pitchFamily="65" charset="-120"/>
                <a:ea typeface="標楷體" panose="03000509000000000000" pitchFamily="65" charset="-120"/>
              </a:rPr>
              <a:t>最小化</a:t>
            </a:r>
            <a:r>
              <a:rPr lang="zh-TW" altLang="en-US" b="1" dirty="0">
                <a:latin typeface="標楷體" panose="03000509000000000000" pitchFamily="65" charset="-120"/>
                <a:ea typeface="標楷體" panose="03000509000000000000" pitchFamily="65" charset="-120"/>
              </a:rPr>
              <a:t>目標值之問題</a:t>
            </a: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76368C1E-C806-1AE3-2C13-CD503E899781}"/>
                  </a:ext>
                </a:extLst>
              </p:cNvPr>
              <p:cNvSpPr txBox="1"/>
              <p:nvPr/>
            </p:nvSpPr>
            <p:spPr>
              <a:xfrm>
                <a:off x="0" y="2904105"/>
                <a:ext cx="6180293" cy="2085379"/>
              </a:xfrm>
              <a:prstGeom prst="rect">
                <a:avLst/>
              </a:prstGeom>
              <a:noFill/>
            </p:spPr>
            <p:txBody>
              <a:bodyPr wrap="square">
                <a:spAutoFit/>
              </a:bodyPr>
              <a:lstStyle/>
              <a:p>
                <a:pPr>
                  <a:lnSpc>
                    <a:spcPct val="120000"/>
                  </a:lnSpc>
                </a:pPr>
                <a14:m>
                  <m:oMathPara xmlns:m="http://schemas.openxmlformats.org/officeDocument/2006/math">
                    <m:oMathParaPr>
                      <m:jc m:val="left"/>
                    </m:oMathParaPr>
                    <m:oMath xmlns:m="http://schemas.openxmlformats.org/officeDocument/2006/math">
                      <m:nary>
                        <m:naryPr>
                          <m:chr m:val="∑"/>
                          <m:limLoc m:val="undOvr"/>
                          <m:supHide m:val="on"/>
                          <m:ctrlPr>
                            <a:rPr lang="zh-TW" altLang="en-US" i="1" smtClean="0">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m:t>
                          </m:r>
                          <m:r>
                            <a:rPr lang="zh-TW" altLang="en-US" i="1">
                              <a:latin typeface="Cambria Math" panose="02040503050406030204" pitchFamily="18" charset="0"/>
                            </a:rPr>
                            <m:t>𝑀𝐴𝑁</m:t>
                          </m:r>
                          <m:r>
                            <m:rPr>
                              <m:lit/>
                            </m:rPr>
                            <a:rPr lang="zh-TW" altLang="en-US" i="0">
                              <a:latin typeface="Cambria Math" panose="02040503050406030204" pitchFamily="18" charset="0"/>
                            </a:rPr>
                            <m:t>_</m:t>
                          </m:r>
                          <m:r>
                            <a:rPr lang="zh-TW" altLang="en-US" i="1">
                              <a:latin typeface="Cambria Math" panose="02040503050406030204" pitchFamily="18" charset="0"/>
                            </a:rPr>
                            <m:t>𝐴𝑇𝑇</m:t>
                          </m:r>
                        </m:sub>
                        <m:sup/>
                        <m:e>
                          <m:d>
                            <m:dPr>
                              <m:ctrlPr>
                                <a:rPr lang="zh-TW" altLang="en-US" i="1">
                                  <a:solidFill>
                                    <a:srgbClr val="836967"/>
                                  </a:solidFill>
                                  <a:latin typeface="Cambria Math" panose="02040503050406030204" pitchFamily="18" charset="0"/>
                                </a:rPr>
                              </m:ctrlPr>
                            </m:dPr>
                            <m:e>
                              <m:nary>
                                <m:naryPr>
                                  <m:chr m:val="∑"/>
                                  <m:limLoc m:val="undOvr"/>
                                  <m:supHide m:val="on"/>
                                  <m:ctrlPr>
                                    <a:rPr lang="zh-TW" altLang="en-US" i="1" smtClean="0">
                                      <a:solidFill>
                                        <a:srgbClr val="FF6600"/>
                                      </a:solidFill>
                                      <a:latin typeface="Cambria Math" panose="02040503050406030204" pitchFamily="18" charset="0"/>
                                    </a:rPr>
                                  </m:ctrlPr>
                                </m:naryPr>
                                <m:sub>
                                  <m:r>
                                    <a:rPr lang="zh-TW" altLang="en-US" i="1">
                                      <a:solidFill>
                                        <a:srgbClr val="FF6600"/>
                                      </a:solidFill>
                                      <a:latin typeface="Cambria Math" panose="02040503050406030204" pitchFamily="18" charset="0"/>
                                    </a:rPr>
                                    <m:t>𝑗</m:t>
                                  </m:r>
                                  <m:r>
                                    <a:rPr lang="zh-TW" altLang="en-US" i="0">
                                      <a:solidFill>
                                        <a:srgbClr val="FF6600"/>
                                      </a:solidFill>
                                      <a:latin typeface="Cambria Math" panose="02040503050406030204" pitchFamily="18" charset="0"/>
                                    </a:rPr>
                                    <m:t>∈</m:t>
                                  </m:r>
                                  <m:r>
                                    <a:rPr lang="zh-TW" altLang="en-US" i="1">
                                      <a:solidFill>
                                        <a:srgbClr val="FF6600"/>
                                      </a:solidFill>
                                      <a:latin typeface="Cambria Math" panose="02040503050406030204" pitchFamily="18" charset="0"/>
                                    </a:rPr>
                                    <m:t>𝑀𝐴𝑁</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𝐴𝑇𝑇</m:t>
                                  </m:r>
                                  <m:d>
                                    <m:dPr>
                                      <m:begChr m:val="|"/>
                                      <m:endChr m:val=""/>
                                      <m:ctrlPr>
                                        <a:rPr lang="zh-TW" altLang="en-US" i="1">
                                          <a:solidFill>
                                            <a:srgbClr val="FF6600"/>
                                          </a:solidFill>
                                          <a:latin typeface="Cambria Math" panose="02040503050406030204" pitchFamily="18" charset="0"/>
                                        </a:rPr>
                                      </m:ctrlPr>
                                    </m:dPr>
                                    <m:e>
                                      <m:r>
                                        <a:rPr lang="zh-TW" altLang="en-US" i="0">
                                          <a:solidFill>
                                            <a:srgbClr val="FF6600"/>
                                          </a:solidFill>
                                          <a:latin typeface="Cambria Math" panose="02040503050406030204" pitchFamily="18" charset="0"/>
                                        </a:rPr>
                                        <m:t> </m:t>
                                      </m:r>
                                      <m:r>
                                        <a:rPr lang="zh-TW" altLang="en-US" i="1">
                                          <a:solidFill>
                                            <a:srgbClr val="FF6600"/>
                                          </a:solidFill>
                                          <a:latin typeface="Cambria Math" panose="02040503050406030204" pitchFamily="18" charset="0"/>
                                        </a:rPr>
                                        <m:t>𝑖</m:t>
                                      </m:r>
                                      <m:r>
                                        <a:rPr lang="zh-TW" altLang="en-US" i="0">
                                          <a:solidFill>
                                            <a:srgbClr val="FF6600"/>
                                          </a:solidFill>
                                          <a:latin typeface="Cambria Math" panose="02040503050406030204" pitchFamily="18" charset="0"/>
                                        </a:rPr>
                                        <m:t>&lt;</m:t>
                                      </m:r>
                                      <m:r>
                                        <a:rPr lang="zh-TW" altLang="en-US" i="1">
                                          <a:solidFill>
                                            <a:srgbClr val="FF6600"/>
                                          </a:solidFill>
                                          <a:latin typeface="Cambria Math" panose="02040503050406030204" pitchFamily="18" charset="0"/>
                                        </a:rPr>
                                        <m:t>𝑗</m:t>
                                      </m:r>
                                    </m:e>
                                  </m:d>
                                </m:sub>
                                <m:sup/>
                                <m:e>
                                  <m:sSub>
                                    <m:sSubPr>
                                      <m:ctrlPr>
                                        <a:rPr lang="zh-TW" altLang="en-US" i="1">
                                          <a:solidFill>
                                            <a:srgbClr val="FF6600"/>
                                          </a:solidFill>
                                          <a:latin typeface="Cambria Math" panose="02040503050406030204" pitchFamily="18" charset="0"/>
                                        </a:rPr>
                                      </m:ctrlPr>
                                    </m:sSubPr>
                                    <m:e>
                                      <m:r>
                                        <a:rPr lang="zh-TW" altLang="en-US" i="1">
                                          <a:solidFill>
                                            <a:srgbClr val="FF6600"/>
                                          </a:solidFill>
                                          <a:latin typeface="Cambria Math" panose="02040503050406030204" pitchFamily="18" charset="0"/>
                                        </a:rPr>
                                        <m:t>𝑠𝑒𝑙𝑓𝑜𝑣𝑒𝑟𝑙𝑎𝑝</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𝑣𝑎𝑟</m:t>
                                      </m:r>
                                    </m:e>
                                    <m:sub>
                                      <m:r>
                                        <a:rPr lang="zh-TW" altLang="en-US" i="1">
                                          <a:solidFill>
                                            <a:srgbClr val="FF6600"/>
                                          </a:solidFill>
                                          <a:latin typeface="Cambria Math" panose="02040503050406030204" pitchFamily="18" charset="0"/>
                                        </a:rPr>
                                        <m:t>𝑖𝑗</m:t>
                                      </m:r>
                                    </m:sub>
                                  </m:sSub>
                                </m:e>
                              </m:nary>
                              <m:r>
                                <a:rPr lang="zh-TW" altLang="en-US" i="0">
                                  <a:solidFill>
                                    <a:srgbClr val="FF6600"/>
                                  </a:solidFill>
                                  <a:latin typeface="Cambria Math" panose="02040503050406030204" pitchFamily="18" charset="0"/>
                                </a:rPr>
                                <m:t>+</m:t>
                              </m:r>
                              <m:nary>
                                <m:naryPr>
                                  <m:chr m:val="∑"/>
                                  <m:limLoc m:val="undOvr"/>
                                  <m:supHide m:val="on"/>
                                  <m:ctrlPr>
                                    <a:rPr lang="zh-TW" altLang="en-US" i="1">
                                      <a:solidFill>
                                        <a:srgbClr val="FF6600"/>
                                      </a:solidFill>
                                      <a:latin typeface="Cambria Math" panose="02040503050406030204" pitchFamily="18" charset="0"/>
                                    </a:rPr>
                                  </m:ctrlPr>
                                </m:naryPr>
                                <m:sub>
                                  <m:r>
                                    <a:rPr lang="zh-TW" altLang="en-US" i="1">
                                      <a:solidFill>
                                        <a:srgbClr val="FF6600"/>
                                      </a:solidFill>
                                      <a:latin typeface="Cambria Math" panose="02040503050406030204" pitchFamily="18" charset="0"/>
                                    </a:rPr>
                                    <m:t>𝑗</m:t>
                                  </m:r>
                                  <m:r>
                                    <a:rPr lang="zh-TW" altLang="en-US" i="0">
                                      <a:solidFill>
                                        <a:srgbClr val="FF6600"/>
                                      </a:solidFill>
                                      <a:latin typeface="Cambria Math" panose="02040503050406030204" pitchFamily="18" charset="0"/>
                                    </a:rPr>
                                    <m:t>∈</m:t>
                                  </m:r>
                                  <m:r>
                                    <a:rPr lang="zh-TW" altLang="en-US" i="1">
                                      <a:solidFill>
                                        <a:srgbClr val="FF6600"/>
                                      </a:solidFill>
                                      <a:latin typeface="Cambria Math" panose="02040503050406030204" pitchFamily="18" charset="0"/>
                                    </a:rPr>
                                    <m:t>𝑀𝐴𝑁</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𝐺𝐴𝑇</m:t>
                                  </m:r>
                                </m:sub>
                                <m:sup/>
                                <m:e>
                                  <m:sSub>
                                    <m:sSubPr>
                                      <m:ctrlPr>
                                        <a:rPr lang="zh-TW" altLang="en-US" i="1">
                                          <a:solidFill>
                                            <a:srgbClr val="FF6600"/>
                                          </a:solidFill>
                                          <a:latin typeface="Cambria Math" panose="02040503050406030204" pitchFamily="18" charset="0"/>
                                        </a:rPr>
                                      </m:ctrlPr>
                                    </m:sSubPr>
                                    <m:e>
                                      <m:r>
                                        <a:rPr lang="zh-TW" altLang="en-US" i="1">
                                          <a:solidFill>
                                            <a:srgbClr val="FF6600"/>
                                          </a:solidFill>
                                          <a:latin typeface="Cambria Math" panose="02040503050406030204" pitchFamily="18" charset="0"/>
                                        </a:rPr>
                                        <m:t>𝑜𝑡h𝑒𝑟𝑜𝑣𝑒𝑟𝑙𝑎𝑝</m:t>
                                      </m:r>
                                      <m:r>
                                        <m:rPr>
                                          <m:lit/>
                                        </m:rPr>
                                        <a:rPr lang="zh-TW" altLang="en-US" i="0">
                                          <a:solidFill>
                                            <a:srgbClr val="FF6600"/>
                                          </a:solidFill>
                                          <a:latin typeface="Cambria Math" panose="02040503050406030204" pitchFamily="18" charset="0"/>
                                        </a:rPr>
                                        <m:t>_</m:t>
                                      </m:r>
                                      <m:r>
                                        <a:rPr lang="zh-TW" altLang="en-US" i="1">
                                          <a:solidFill>
                                            <a:srgbClr val="FF6600"/>
                                          </a:solidFill>
                                          <a:latin typeface="Cambria Math" panose="02040503050406030204" pitchFamily="18" charset="0"/>
                                        </a:rPr>
                                        <m:t>𝑣𝑎𝑟</m:t>
                                      </m:r>
                                    </m:e>
                                    <m:sub>
                                      <m:r>
                                        <a:rPr lang="zh-TW" altLang="en-US" i="1">
                                          <a:solidFill>
                                            <a:srgbClr val="FF6600"/>
                                          </a:solidFill>
                                          <a:latin typeface="Cambria Math" panose="02040503050406030204" pitchFamily="18" charset="0"/>
                                        </a:rPr>
                                        <m:t>𝑖𝑗</m:t>
                                      </m:r>
                                    </m:sub>
                                  </m:sSub>
                                </m:e>
                              </m:nary>
                              <m:r>
                                <a:rPr lang="zh-TW" altLang="en-US" i="0">
                                  <a:latin typeface="Cambria Math" panose="02040503050406030204" pitchFamily="18" charset="0"/>
                                </a:rPr>
                                <m:t>+</m:t>
                              </m:r>
                              <m:nary>
                                <m:naryPr>
                                  <m:chr m:val="∑"/>
                                  <m:limLoc m:val="undOvr"/>
                                  <m:supHide m:val="on"/>
                                  <m:ctrlPr>
                                    <a:rPr lang="zh-TW" altLang="en-US" i="1" smtClean="0">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𝑗</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𝑀𝐴𝑁</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𝑂𝑅𝐵</m:t>
                                  </m:r>
                                </m:sub>
                                <m:sup/>
                                <m:e>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𝑜𝑡h𝑒𝑟𝑜𝑣𝑒𝑟𝑙𝑎𝑝</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𝑣𝑎𝑟</m:t>
                                      </m:r>
                                    </m:e>
                                    <m:sub>
                                      <m:r>
                                        <a:rPr lang="zh-TW" altLang="en-US" i="1">
                                          <a:solidFill>
                                            <a:srgbClr val="0070C0"/>
                                          </a:solidFill>
                                          <a:latin typeface="Cambria Math" panose="02040503050406030204" pitchFamily="18" charset="0"/>
                                        </a:rPr>
                                        <m:t>𝑖𝑗</m:t>
                                      </m:r>
                                    </m:sub>
                                  </m:sSub>
                                </m:e>
                              </m:nary>
                              <m:r>
                                <a:rPr lang="zh-TW" altLang="en-US" i="0">
                                  <a:latin typeface="Cambria Math" panose="02040503050406030204" pitchFamily="18" charset="0"/>
                                </a:rPr>
                                <m:t>+</m:t>
                              </m:r>
                              <m:nary>
                                <m:naryPr>
                                  <m:chr m:val="∑"/>
                                  <m:limLoc m:val="undOvr"/>
                                  <m:supHide m:val="on"/>
                                  <m:ctrlPr>
                                    <a:rPr lang="zh-TW" altLang="en-US" i="1" smtClean="0">
                                      <a:solidFill>
                                        <a:srgbClr val="0070C0"/>
                                      </a:solidFill>
                                      <a:latin typeface="Cambria Math" panose="02040503050406030204" pitchFamily="18" charset="0"/>
                                    </a:rPr>
                                  </m:ctrlPr>
                                </m:naryPr>
                                <m:sub>
                                  <m:r>
                                    <a:rPr lang="zh-TW" altLang="en-US" i="1">
                                      <a:solidFill>
                                        <a:srgbClr val="0070C0"/>
                                      </a:solidFill>
                                      <a:latin typeface="Cambria Math" panose="02040503050406030204" pitchFamily="18" charset="0"/>
                                    </a:rPr>
                                    <m:t>𝑗</m:t>
                                  </m:r>
                                  <m:r>
                                    <a:rPr lang="zh-TW" altLang="en-US" i="0">
                                      <a:solidFill>
                                        <a:srgbClr val="0070C0"/>
                                      </a:solidFill>
                                      <a:latin typeface="Cambria Math" panose="02040503050406030204" pitchFamily="18" charset="0"/>
                                    </a:rPr>
                                    <m:t>∈</m:t>
                                  </m:r>
                                  <m:r>
                                    <a:rPr lang="zh-TW" altLang="en-US" i="1">
                                      <a:solidFill>
                                        <a:srgbClr val="0070C0"/>
                                      </a:solidFill>
                                      <a:latin typeface="Cambria Math" panose="02040503050406030204" pitchFamily="18" charset="0"/>
                                    </a:rPr>
                                    <m:t>𝑀𝐴𝑁</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𝐺𝑂</m:t>
                                  </m:r>
                                </m:sub>
                                <m:sup/>
                                <m:e>
                                  <m:sSub>
                                    <m:sSubPr>
                                      <m:ctrlPr>
                                        <a:rPr lang="zh-TW" altLang="en-US" i="1">
                                          <a:solidFill>
                                            <a:srgbClr val="0070C0"/>
                                          </a:solidFill>
                                          <a:latin typeface="Cambria Math" panose="02040503050406030204" pitchFamily="18" charset="0"/>
                                        </a:rPr>
                                      </m:ctrlPr>
                                    </m:sSubPr>
                                    <m:e>
                                      <m:r>
                                        <a:rPr lang="zh-TW" altLang="en-US" i="1">
                                          <a:solidFill>
                                            <a:srgbClr val="0070C0"/>
                                          </a:solidFill>
                                          <a:latin typeface="Cambria Math" panose="02040503050406030204" pitchFamily="18" charset="0"/>
                                        </a:rPr>
                                        <m:t>𝑜𝑡h𝑒𝑟𝑜𝑣𝑒𝑟𝑙𝑎𝑝</m:t>
                                      </m:r>
                                      <m:r>
                                        <m:rPr>
                                          <m:lit/>
                                        </m:rPr>
                                        <a:rPr lang="zh-TW" altLang="en-US" i="0">
                                          <a:solidFill>
                                            <a:srgbClr val="0070C0"/>
                                          </a:solidFill>
                                          <a:latin typeface="Cambria Math" panose="02040503050406030204" pitchFamily="18" charset="0"/>
                                        </a:rPr>
                                        <m:t>_</m:t>
                                      </m:r>
                                      <m:r>
                                        <a:rPr lang="zh-TW" altLang="en-US" i="1">
                                          <a:solidFill>
                                            <a:srgbClr val="0070C0"/>
                                          </a:solidFill>
                                          <a:latin typeface="Cambria Math" panose="02040503050406030204" pitchFamily="18" charset="0"/>
                                        </a:rPr>
                                        <m:t>𝑣𝑎𝑟</m:t>
                                      </m:r>
                                    </m:e>
                                    <m:sub>
                                      <m:r>
                                        <a:rPr lang="zh-TW" altLang="en-US" i="1">
                                          <a:solidFill>
                                            <a:srgbClr val="0070C0"/>
                                          </a:solidFill>
                                          <a:latin typeface="Cambria Math" panose="02040503050406030204" pitchFamily="18" charset="0"/>
                                        </a:rPr>
                                        <m:t>𝑖𝑗</m:t>
                                      </m:r>
                                    </m:sub>
                                  </m:sSub>
                                </m:e>
                              </m:nary>
                              <m:r>
                                <a:rPr lang="zh-TW" altLang="en-US" i="0">
                                  <a:latin typeface="Cambria Math" panose="02040503050406030204" pitchFamily="18" charset="0"/>
                                </a:rPr>
                                <m:t>+</m:t>
                              </m:r>
                              <m:nary>
                                <m:naryPr>
                                  <m:chr m:val="∑"/>
                                  <m:limLoc m:val="undOvr"/>
                                  <m:supHide m:val="on"/>
                                  <m:ctrlPr>
                                    <a:rPr lang="zh-TW" altLang="en-US" i="1" smtClean="0">
                                      <a:solidFill>
                                        <a:srgbClr val="00B050"/>
                                      </a:solidFill>
                                      <a:latin typeface="Cambria Math" panose="02040503050406030204" pitchFamily="18" charset="0"/>
                                    </a:rPr>
                                  </m:ctrlPr>
                                </m:naryPr>
                                <m:sub>
                                  <m:r>
                                    <a:rPr lang="zh-TW" altLang="en-US" i="1">
                                      <a:solidFill>
                                        <a:srgbClr val="00B050"/>
                                      </a:solidFill>
                                      <a:latin typeface="Cambria Math" panose="02040503050406030204" pitchFamily="18" charset="0"/>
                                    </a:rPr>
                                    <m:t>𝑗</m:t>
                                  </m:r>
                                  <m:r>
                                    <a:rPr lang="zh-TW" altLang="en-US" i="0">
                                      <a:solidFill>
                                        <a:srgbClr val="00B050"/>
                                      </a:solidFill>
                                      <a:latin typeface="Cambria Math" panose="02040503050406030204" pitchFamily="18" charset="0"/>
                                    </a:rPr>
                                    <m:t>∈</m:t>
                                  </m:r>
                                  <m:r>
                                    <a:rPr lang="zh-TW" altLang="en-US" i="1">
                                      <a:solidFill>
                                        <a:srgbClr val="00B050"/>
                                      </a:solidFill>
                                      <a:latin typeface="Cambria Math" panose="02040503050406030204" pitchFamily="18" charset="0"/>
                                    </a:rPr>
                                    <m:t>𝑅𝑆𝐼</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𝑅𝐸𝐶</m:t>
                                  </m:r>
                                </m:sub>
                                <m:sup/>
                                <m:e>
                                  <m:sSub>
                                    <m:sSubPr>
                                      <m:ctrlPr>
                                        <a:rPr lang="zh-TW" altLang="en-US" i="1">
                                          <a:solidFill>
                                            <a:srgbClr val="00B050"/>
                                          </a:solidFill>
                                          <a:latin typeface="Cambria Math" panose="02040503050406030204" pitchFamily="18" charset="0"/>
                                        </a:rPr>
                                      </m:ctrlPr>
                                    </m:sSubPr>
                                    <m:e>
                                      <m:r>
                                        <a:rPr lang="zh-TW" altLang="en-US" i="1">
                                          <a:solidFill>
                                            <a:srgbClr val="00B050"/>
                                          </a:solidFill>
                                          <a:latin typeface="Cambria Math" panose="02040503050406030204" pitchFamily="18" charset="0"/>
                                        </a:rPr>
                                        <m:t>𝑜𝑡h𝑒𝑟𝑜𝑣𝑒𝑟𝑙𝑎𝑝</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𝑣𝑎𝑟</m:t>
                                      </m:r>
                                    </m:e>
                                    <m:sub>
                                      <m:r>
                                        <a:rPr lang="zh-TW" altLang="en-US" i="1">
                                          <a:solidFill>
                                            <a:srgbClr val="00B050"/>
                                          </a:solidFill>
                                          <a:latin typeface="Cambria Math" panose="02040503050406030204" pitchFamily="18" charset="0"/>
                                        </a:rPr>
                                        <m:t>𝑖𝑗</m:t>
                                      </m:r>
                                    </m:sub>
                                  </m:sSub>
                                </m:e>
                              </m:nary>
                              <m:r>
                                <a:rPr lang="zh-TW" altLang="en-US" i="0">
                                  <a:latin typeface="Cambria Math" panose="02040503050406030204" pitchFamily="18" charset="0"/>
                                </a:rPr>
                                <m:t>+</m:t>
                              </m:r>
                              <m:nary>
                                <m:naryPr>
                                  <m:chr m:val="∑"/>
                                  <m:limLoc m:val="undOvr"/>
                                  <m:supHide m:val="on"/>
                                  <m:ctrlPr>
                                    <a:rPr lang="zh-TW" altLang="en-US" i="1" smtClean="0">
                                      <a:solidFill>
                                        <a:srgbClr val="00B050"/>
                                      </a:solidFill>
                                      <a:latin typeface="Cambria Math" panose="02040503050406030204" pitchFamily="18" charset="0"/>
                                    </a:rPr>
                                  </m:ctrlPr>
                                </m:naryPr>
                                <m:sub>
                                  <m:r>
                                    <a:rPr lang="zh-TW" altLang="en-US" i="1">
                                      <a:solidFill>
                                        <a:srgbClr val="00B050"/>
                                      </a:solidFill>
                                      <a:latin typeface="Cambria Math" panose="02040503050406030204" pitchFamily="18" charset="0"/>
                                    </a:rPr>
                                    <m:t>𝑗</m:t>
                                  </m:r>
                                  <m:r>
                                    <a:rPr lang="zh-TW" altLang="en-US" i="0">
                                      <a:solidFill>
                                        <a:srgbClr val="00B050"/>
                                      </a:solidFill>
                                      <a:latin typeface="Cambria Math" panose="02040503050406030204" pitchFamily="18" charset="0"/>
                                    </a:rPr>
                                    <m:t>∈</m:t>
                                  </m:r>
                                  <m:r>
                                    <a:rPr lang="zh-TW" altLang="en-US" i="1">
                                      <a:solidFill>
                                        <a:srgbClr val="00B050"/>
                                      </a:solidFill>
                                      <a:latin typeface="Cambria Math" panose="02040503050406030204" pitchFamily="18" charset="0"/>
                                    </a:rPr>
                                    <m:t>𝑅𝑆𝐼</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𝑃𝐵𝐾</m:t>
                                  </m:r>
                                </m:sub>
                                <m:sup/>
                                <m:e>
                                  <m:sSub>
                                    <m:sSubPr>
                                      <m:ctrlPr>
                                        <a:rPr lang="zh-TW" altLang="en-US" i="1">
                                          <a:solidFill>
                                            <a:srgbClr val="00B050"/>
                                          </a:solidFill>
                                          <a:latin typeface="Cambria Math" panose="02040503050406030204" pitchFamily="18" charset="0"/>
                                        </a:rPr>
                                      </m:ctrlPr>
                                    </m:sSubPr>
                                    <m:e>
                                      <m:r>
                                        <a:rPr lang="zh-TW" altLang="en-US" i="1">
                                          <a:solidFill>
                                            <a:srgbClr val="00B050"/>
                                          </a:solidFill>
                                          <a:latin typeface="Cambria Math" panose="02040503050406030204" pitchFamily="18" charset="0"/>
                                        </a:rPr>
                                        <m:t>𝑜𝑡h𝑒𝑟𝑜𝑣𝑒𝑟𝑙𝑎𝑝</m:t>
                                      </m:r>
                                      <m:r>
                                        <m:rPr>
                                          <m:lit/>
                                        </m:rPr>
                                        <a:rPr lang="zh-TW" altLang="en-US" i="0">
                                          <a:solidFill>
                                            <a:srgbClr val="00B050"/>
                                          </a:solidFill>
                                          <a:latin typeface="Cambria Math" panose="02040503050406030204" pitchFamily="18" charset="0"/>
                                        </a:rPr>
                                        <m:t>_</m:t>
                                      </m:r>
                                      <m:r>
                                        <a:rPr lang="zh-TW" altLang="en-US" i="1">
                                          <a:solidFill>
                                            <a:srgbClr val="00B050"/>
                                          </a:solidFill>
                                          <a:latin typeface="Cambria Math" panose="02040503050406030204" pitchFamily="18" charset="0"/>
                                        </a:rPr>
                                        <m:t>𝑣𝑎𝑟</m:t>
                                      </m:r>
                                    </m:e>
                                    <m:sub>
                                      <m:r>
                                        <a:rPr lang="zh-TW" altLang="en-US" i="1">
                                          <a:solidFill>
                                            <a:srgbClr val="00B050"/>
                                          </a:solidFill>
                                          <a:latin typeface="Cambria Math" panose="02040503050406030204" pitchFamily="18" charset="0"/>
                                        </a:rPr>
                                        <m:t>𝑖𝑗</m:t>
                                      </m:r>
                                    </m:sub>
                                  </m:sSub>
                                </m:e>
                              </m:nary>
                            </m:e>
                          </m:d>
                        </m:e>
                      </m:nary>
                    </m:oMath>
                  </m:oMathPara>
                </a14:m>
                <a:endParaRPr lang="zh-TW" altLang="en-US" dirty="0"/>
              </a:p>
            </p:txBody>
          </p:sp>
        </mc:Choice>
        <mc:Fallback xmlns="">
          <p:sp>
            <p:nvSpPr>
              <p:cNvPr id="3" name="文字方塊 2">
                <a:extLst>
                  <a:ext uri="{FF2B5EF4-FFF2-40B4-BE49-F238E27FC236}">
                    <a16:creationId xmlns:a16="http://schemas.microsoft.com/office/drawing/2014/main" id="{76368C1E-C806-1AE3-2C13-CD503E899781}"/>
                  </a:ext>
                </a:extLst>
              </p:cNvPr>
              <p:cNvSpPr txBox="1">
                <a:spLocks noRot="1" noChangeAspect="1" noMove="1" noResize="1" noEditPoints="1" noAdjustHandles="1" noChangeArrowheads="1" noChangeShapeType="1" noTextEdit="1"/>
              </p:cNvSpPr>
              <p:nvPr/>
            </p:nvSpPr>
            <p:spPr>
              <a:xfrm>
                <a:off x="0" y="2904105"/>
                <a:ext cx="6180293" cy="2085379"/>
              </a:xfrm>
              <a:prstGeom prst="rect">
                <a:avLst/>
              </a:prstGeom>
              <a:blipFill>
                <a:blip r:embed="rId3"/>
                <a:stretch>
                  <a:fillRect/>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C8E9AD0-70AC-56FF-FB0E-261B983C9988}"/>
              </a:ext>
            </a:extLst>
          </p:cNvPr>
          <p:cNvSpPr txBox="1"/>
          <p:nvPr/>
        </p:nvSpPr>
        <p:spPr>
          <a:xfrm>
            <a:off x="5737353" y="2985950"/>
            <a:ext cx="3541580" cy="307777"/>
          </a:xfrm>
          <a:prstGeom prst="rect">
            <a:avLst/>
          </a:prstGeom>
          <a:noFill/>
        </p:spPr>
        <p:txBody>
          <a:bodyPr wrap="square" rtlCol="0">
            <a:spAutoFit/>
          </a:bodyPr>
          <a:lstStyle/>
          <a:p>
            <a:r>
              <a:rPr lang="zh-TW" altLang="en-US"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 偵測</a:t>
            </a:r>
            <a:r>
              <a:rPr lang="en-US" altLang="zh-TW"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Attitude Maneuver</a:t>
            </a:r>
            <a:r>
              <a:rPr lang="zh-TW" altLang="en-US"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間不可重疊（左）</a:t>
            </a:r>
          </a:p>
        </p:txBody>
      </p:sp>
      <p:sp>
        <p:nvSpPr>
          <p:cNvPr id="7" name="文字方塊 6">
            <a:extLst>
              <a:ext uri="{FF2B5EF4-FFF2-40B4-BE49-F238E27FC236}">
                <a16:creationId xmlns:a16="http://schemas.microsoft.com/office/drawing/2014/main" id="{70E8EC30-B104-BB08-4BE1-13EB343BB7EF}"/>
              </a:ext>
            </a:extLst>
          </p:cNvPr>
          <p:cNvSpPr txBox="1"/>
          <p:nvPr/>
        </p:nvSpPr>
        <p:spPr>
          <a:xfrm>
            <a:off x="5737353" y="3293727"/>
            <a:ext cx="3541580" cy="307777"/>
          </a:xfrm>
          <a:prstGeom prst="rect">
            <a:avLst/>
          </a:prstGeom>
          <a:noFill/>
        </p:spPr>
        <p:txBody>
          <a:bodyPr wrap="square" rtlCol="0">
            <a:spAutoFit/>
          </a:bodyPr>
          <a:lstStyle/>
          <a:p>
            <a:r>
              <a:rPr lang="zh-TW" altLang="en-US"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 偵測與</a:t>
            </a:r>
            <a:r>
              <a:rPr lang="en-US" altLang="zh-TW"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GAT Maneuver</a:t>
            </a:r>
            <a:r>
              <a:rPr lang="zh-TW" altLang="en-US" dirty="0">
                <a:solidFill>
                  <a:srgbClr val="FF6600"/>
                </a:solidFill>
                <a:latin typeface="Times New Roman" panose="02020603050405020304" pitchFamily="18" charset="0"/>
                <a:ea typeface="標楷體" panose="03000509000000000000" pitchFamily="65" charset="-120"/>
                <a:cs typeface="Times New Roman" panose="02020603050405020304" pitchFamily="18" charset="0"/>
              </a:rPr>
              <a:t>不可重疊（右）</a:t>
            </a:r>
          </a:p>
        </p:txBody>
      </p:sp>
      <p:sp>
        <p:nvSpPr>
          <p:cNvPr id="8" name="文字方塊 7">
            <a:extLst>
              <a:ext uri="{FF2B5EF4-FFF2-40B4-BE49-F238E27FC236}">
                <a16:creationId xmlns:a16="http://schemas.microsoft.com/office/drawing/2014/main" id="{164FA2C7-9806-B1F0-56A3-79214EFB3EDE}"/>
              </a:ext>
            </a:extLst>
          </p:cNvPr>
          <p:cNvSpPr txBox="1"/>
          <p:nvPr/>
        </p:nvSpPr>
        <p:spPr>
          <a:xfrm>
            <a:off x="5203179" y="3695330"/>
            <a:ext cx="4011018" cy="600164"/>
          </a:xfrm>
          <a:prstGeom prst="rect">
            <a:avLst/>
          </a:prstGeom>
          <a:noFill/>
        </p:spPr>
        <p:txBody>
          <a:bodyPr wrap="square" rtlCol="0">
            <a:spAutoFit/>
          </a:bodyPr>
          <a:lstStyle/>
          <a:p>
            <a:pPr>
              <a:spcAft>
                <a:spcPts val="600"/>
              </a:spcAft>
            </a:pP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偵測與</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Orbit Maneuver</a:t>
            </a: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不可重疊（左）</a:t>
            </a:r>
            <a:endPar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偵測與</a:t>
            </a:r>
            <a:r>
              <a:rPr lang="en-US" altLang="zh-TW"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GOHOME Maneuver</a:t>
            </a:r>
            <a:r>
              <a:rPr lang="zh-TW" altLang="en-US"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不可重疊（右）</a:t>
            </a:r>
          </a:p>
        </p:txBody>
      </p:sp>
      <p:sp>
        <p:nvSpPr>
          <p:cNvPr id="12" name="文字方塊 11">
            <a:extLst>
              <a:ext uri="{FF2B5EF4-FFF2-40B4-BE49-F238E27FC236}">
                <a16:creationId xmlns:a16="http://schemas.microsoft.com/office/drawing/2014/main" id="{E70645D6-1CCF-7B5A-B6A3-AC0B69B26488}"/>
              </a:ext>
            </a:extLst>
          </p:cNvPr>
          <p:cNvSpPr txBox="1"/>
          <p:nvPr/>
        </p:nvSpPr>
        <p:spPr>
          <a:xfrm>
            <a:off x="5203179" y="4389320"/>
            <a:ext cx="4011018" cy="600164"/>
          </a:xfrm>
          <a:prstGeom prst="rect">
            <a:avLst/>
          </a:prstGeom>
          <a:noFill/>
        </p:spPr>
        <p:txBody>
          <a:bodyPr wrap="square" rtlCol="0">
            <a:spAutoFit/>
          </a:bodyPr>
          <a:lstStyle/>
          <a:p>
            <a:pPr>
              <a:spcAft>
                <a:spcPts val="600"/>
              </a:spcAft>
            </a:pP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 偵測與</a:t>
            </a:r>
            <a:r>
              <a:rPr lang="en-US" altLang="zh-TW"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RSI Record</a:t>
            </a: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不可重疊（左）</a:t>
            </a:r>
            <a:endParaRPr lang="en-US" altLang="zh-TW"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 偵測與</a:t>
            </a:r>
            <a:r>
              <a:rPr lang="en-US" altLang="zh-TW"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RSI Playback</a:t>
            </a:r>
            <a:r>
              <a:rPr lang="zh-TW" altLang="en-US"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不可重疊（右）</a:t>
            </a:r>
          </a:p>
        </p:txBody>
      </p:sp>
      <p:sp>
        <p:nvSpPr>
          <p:cNvPr id="13" name="Google Shape;230;p30">
            <a:extLst>
              <a:ext uri="{FF2B5EF4-FFF2-40B4-BE49-F238E27FC236}">
                <a16:creationId xmlns:a16="http://schemas.microsoft.com/office/drawing/2014/main" id="{52CFC1BA-2741-1D93-9DC7-347F008D1E8A}"/>
              </a:ext>
            </a:extLst>
          </p:cNvPr>
          <p:cNvSpPr/>
          <p:nvPr/>
        </p:nvSpPr>
        <p:spPr>
          <a:xfrm>
            <a:off x="3261638"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4;p30">
            <a:hlinkClick r:id="" action="ppaction://hlinkshowjump?jump=firstslide"/>
            <a:extLst>
              <a:ext uri="{FF2B5EF4-FFF2-40B4-BE49-F238E27FC236}">
                <a16:creationId xmlns:a16="http://schemas.microsoft.com/office/drawing/2014/main" id="{FC4A0C4C-94A2-D59E-8F12-98F15A53742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Google Shape;234;p30">
            <a:hlinkClick r:id="" action="ppaction://hlinkshowjump?jump=firstslide"/>
            <a:extLst>
              <a:ext uri="{FF2B5EF4-FFF2-40B4-BE49-F238E27FC236}">
                <a16:creationId xmlns:a16="http://schemas.microsoft.com/office/drawing/2014/main" id="{DA25EF2F-EA02-C9A1-AF70-734F3EA775CA}"/>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矩形 15">
            <a:hlinkClick r:id="rId4" action="ppaction://hlinksldjump"/>
            <a:extLst>
              <a:ext uri="{FF2B5EF4-FFF2-40B4-BE49-F238E27FC236}">
                <a16:creationId xmlns:a16="http://schemas.microsoft.com/office/drawing/2014/main" id="{073FAC5D-4EEF-06B9-4A7E-2CE55E628CC9}"/>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16">
            <a:hlinkClick r:id="rId5" action="ppaction://hlinksldjump"/>
            <a:extLst>
              <a:ext uri="{FF2B5EF4-FFF2-40B4-BE49-F238E27FC236}">
                <a16:creationId xmlns:a16="http://schemas.microsoft.com/office/drawing/2014/main" id="{2740812B-F9B3-408E-8F23-7BBD557C7B31}"/>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Google Shape;234;p30">
            <a:hlinkClick r:id="" action="ppaction://hlinkshowjump?jump=firstslide"/>
            <a:extLst>
              <a:ext uri="{FF2B5EF4-FFF2-40B4-BE49-F238E27FC236}">
                <a16:creationId xmlns:a16="http://schemas.microsoft.com/office/drawing/2014/main" id="{1DDD50DE-BC39-7F53-862C-4523FE9D695D}"/>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6" action="ppaction://hlinksldjump"/>
            <a:extLst>
              <a:ext uri="{FF2B5EF4-FFF2-40B4-BE49-F238E27FC236}">
                <a16:creationId xmlns:a16="http://schemas.microsoft.com/office/drawing/2014/main" id="{6BBC2DD0-62B5-D4BE-687F-240E657CCFE0}"/>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Google Shape;234;p30">
            <a:hlinkClick r:id="" action="ppaction://hlinkshowjump?jump=firstslide"/>
            <a:extLst>
              <a:ext uri="{FF2B5EF4-FFF2-40B4-BE49-F238E27FC236}">
                <a16:creationId xmlns:a16="http://schemas.microsoft.com/office/drawing/2014/main" id="{06DC0F47-C7FE-AD82-5053-38F00E3C6F7A}"/>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矩形 34">
            <a:hlinkClick r:id="rId7" action="ppaction://hlinksldjump"/>
            <a:extLst>
              <a:ext uri="{FF2B5EF4-FFF2-40B4-BE49-F238E27FC236}">
                <a16:creationId xmlns:a16="http://schemas.microsoft.com/office/drawing/2014/main" id="{FE2EB914-65CE-C48A-3990-CEBC3A8C4674}"/>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Google Shape;234;p30">
            <a:hlinkClick r:id="" action="ppaction://hlinkshowjump?jump=firstslide"/>
            <a:extLst>
              <a:ext uri="{FF2B5EF4-FFF2-40B4-BE49-F238E27FC236}">
                <a16:creationId xmlns:a16="http://schemas.microsoft.com/office/drawing/2014/main" id="{5AFC9988-D817-4FC7-0BD0-508465C4B005}"/>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矩形 36">
            <a:hlinkClick r:id="rId8" action="ppaction://hlinksldjump"/>
            <a:extLst>
              <a:ext uri="{FF2B5EF4-FFF2-40B4-BE49-F238E27FC236}">
                <a16:creationId xmlns:a16="http://schemas.microsoft.com/office/drawing/2014/main" id="{DFCB58FE-2DD0-85B7-011E-2B717C85F78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 name="Google Shape;234;p30">
            <a:hlinkClick r:id="" action="ppaction://hlinkshowjump?jump=firstslide"/>
            <a:extLst>
              <a:ext uri="{FF2B5EF4-FFF2-40B4-BE49-F238E27FC236}">
                <a16:creationId xmlns:a16="http://schemas.microsoft.com/office/drawing/2014/main" id="{75EDB056-4982-3CE7-B9F4-D6C088B77DA5}"/>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矩形 38">
            <a:hlinkClick r:id="rId9" action="ppaction://hlinksldjump"/>
            <a:extLst>
              <a:ext uri="{FF2B5EF4-FFF2-40B4-BE49-F238E27FC236}">
                <a16:creationId xmlns:a16="http://schemas.microsoft.com/office/drawing/2014/main" id="{054F5C99-60EA-D9F5-5473-4652EF96E81E}"/>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511050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2232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177776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測試流程</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050" name="圖片 1">
            <a:extLst>
              <a:ext uri="{FF2B5EF4-FFF2-40B4-BE49-F238E27FC236}">
                <a16:creationId xmlns:a16="http://schemas.microsoft.com/office/drawing/2014/main" id="{5F27629C-B2AF-B85D-EA2D-E2358A72B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68" y="2217284"/>
            <a:ext cx="8119905" cy="178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字方塊 1">
            <a:extLst>
              <a:ext uri="{FF2B5EF4-FFF2-40B4-BE49-F238E27FC236}">
                <a16:creationId xmlns:a16="http://schemas.microsoft.com/office/drawing/2014/main" id="{D7B03A16-760B-A3D4-9C80-59ABDA8BE50D}"/>
              </a:ext>
            </a:extLst>
          </p:cNvPr>
          <p:cNvSpPr txBox="1"/>
          <p:nvPr/>
        </p:nvSpPr>
        <p:spPr>
          <a:xfrm>
            <a:off x="0" y="1160971"/>
            <a:ext cx="2589452" cy="600164"/>
          </a:xfrm>
          <a:prstGeom prst="rect">
            <a:avLst/>
          </a:prstGeom>
          <a:noFill/>
        </p:spPr>
        <p:txBody>
          <a:bodyPr wrap="square" rtlCol="0">
            <a:spAutoFit/>
          </a:bodyPr>
          <a:lstStyle/>
          <a:p>
            <a:pPr>
              <a:spcAft>
                <a:spcPts val="600"/>
              </a:spcAft>
            </a:pPr>
            <a:r>
              <a:rPr lang="zh-TW" altLang="en-US" dirty="0">
                <a:latin typeface="標楷體" panose="03000509000000000000" pitchFamily="65" charset="-120"/>
                <a:ea typeface="標楷體" panose="03000509000000000000" pitchFamily="65" charset="-120"/>
              </a:rPr>
              <a:t>測試人員：太空中心人員</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開發人員：清大</a:t>
            </a:r>
          </a:p>
        </p:txBody>
      </p:sp>
      <p:sp>
        <p:nvSpPr>
          <p:cNvPr id="3" name="Google Shape;230;p30">
            <a:extLst>
              <a:ext uri="{FF2B5EF4-FFF2-40B4-BE49-F238E27FC236}">
                <a16:creationId xmlns:a16="http://schemas.microsoft.com/office/drawing/2014/main" id="{CA7819CF-3661-D2D9-4B83-D86B8E31C8CD}"/>
              </a:ext>
            </a:extLst>
          </p:cNvPr>
          <p:cNvSpPr/>
          <p:nvPr/>
        </p:nvSpPr>
        <p:spPr>
          <a:xfrm>
            <a:off x="4669646"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4;p30">
            <a:hlinkClick r:id="" action="ppaction://hlinkshowjump?jump=firstslide"/>
            <a:extLst>
              <a:ext uri="{FF2B5EF4-FFF2-40B4-BE49-F238E27FC236}">
                <a16:creationId xmlns:a16="http://schemas.microsoft.com/office/drawing/2014/main" id="{30791BE2-E932-7942-2891-74FA09FBDE83}"/>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Google Shape;234;p30">
            <a:hlinkClick r:id="" action="ppaction://hlinkshowjump?jump=firstslide"/>
            <a:extLst>
              <a:ext uri="{FF2B5EF4-FFF2-40B4-BE49-F238E27FC236}">
                <a16:creationId xmlns:a16="http://schemas.microsoft.com/office/drawing/2014/main" id="{8EC907EC-4463-9290-303D-3E2211FBBE4D}"/>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矩形 19">
            <a:hlinkClick r:id="rId4" action="ppaction://hlinksldjump"/>
            <a:extLst>
              <a:ext uri="{FF2B5EF4-FFF2-40B4-BE49-F238E27FC236}">
                <a16:creationId xmlns:a16="http://schemas.microsoft.com/office/drawing/2014/main" id="{815A882A-623C-7F8F-FC41-34BA77F6D8C3}"/>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hlinkClick r:id="rId5" action="ppaction://hlinksldjump"/>
            <a:extLst>
              <a:ext uri="{FF2B5EF4-FFF2-40B4-BE49-F238E27FC236}">
                <a16:creationId xmlns:a16="http://schemas.microsoft.com/office/drawing/2014/main" id="{76DF1ACF-2FF1-6EAF-D46A-C94C1FB69113}"/>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Google Shape;234;p30">
            <a:hlinkClick r:id="" action="ppaction://hlinkshowjump?jump=firstslide"/>
            <a:extLst>
              <a:ext uri="{FF2B5EF4-FFF2-40B4-BE49-F238E27FC236}">
                <a16:creationId xmlns:a16="http://schemas.microsoft.com/office/drawing/2014/main" id="{FED10A1D-E61B-4D9B-3799-31F3E026E523}"/>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矩形 23">
            <a:hlinkClick r:id="rId6" action="ppaction://hlinksldjump"/>
            <a:extLst>
              <a:ext uri="{FF2B5EF4-FFF2-40B4-BE49-F238E27FC236}">
                <a16:creationId xmlns:a16="http://schemas.microsoft.com/office/drawing/2014/main" id="{2A092D31-DA08-C501-8780-6F648E84D339}"/>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Google Shape;234;p30">
            <a:hlinkClick r:id="" action="ppaction://hlinkshowjump?jump=firstslide"/>
            <a:extLst>
              <a:ext uri="{FF2B5EF4-FFF2-40B4-BE49-F238E27FC236}">
                <a16:creationId xmlns:a16="http://schemas.microsoft.com/office/drawing/2014/main" id="{A45E3021-03AB-AB4B-8859-6C1B79101AA4}"/>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7" action="ppaction://hlinksldjump"/>
            <a:extLst>
              <a:ext uri="{FF2B5EF4-FFF2-40B4-BE49-F238E27FC236}">
                <a16:creationId xmlns:a16="http://schemas.microsoft.com/office/drawing/2014/main" id="{289F12EB-7E29-D67F-5438-055865BCB0FA}"/>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234;p30">
            <a:hlinkClick r:id="" action="ppaction://hlinkshowjump?jump=firstslide"/>
            <a:extLst>
              <a:ext uri="{FF2B5EF4-FFF2-40B4-BE49-F238E27FC236}">
                <a16:creationId xmlns:a16="http://schemas.microsoft.com/office/drawing/2014/main" id="{45546D41-3094-9060-C7E0-1CEC90AFFA33}"/>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8" action="ppaction://hlinksldjump"/>
            <a:extLst>
              <a:ext uri="{FF2B5EF4-FFF2-40B4-BE49-F238E27FC236}">
                <a16:creationId xmlns:a16="http://schemas.microsoft.com/office/drawing/2014/main" id="{2742B78E-B230-B30C-67FE-E0E8FDEA5352}"/>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DB22E8BC-97D6-90F5-36B9-6D2F9EE0E422}"/>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9" action="ppaction://hlinksldjump"/>
            <a:extLst>
              <a:ext uri="{FF2B5EF4-FFF2-40B4-BE49-F238E27FC236}">
                <a16:creationId xmlns:a16="http://schemas.microsoft.com/office/drawing/2014/main" id="{4E998163-EF6D-4D70-AD45-AEB0C795EC35}"/>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232503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4536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4338854"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測試項目與測試結果（</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1/2</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88050AFE-1B42-0020-90E8-90E10D775B2A}"/>
              </a:ext>
            </a:extLst>
          </p:cNvPr>
          <p:cNvGraphicFramePr>
            <a:graphicFrameLocks noGrp="1"/>
          </p:cNvGraphicFramePr>
          <p:nvPr>
            <p:extLst>
              <p:ext uri="{D42A27DB-BD31-4B8C-83A1-F6EECF244321}">
                <p14:modId xmlns:p14="http://schemas.microsoft.com/office/powerpoint/2010/main" val="2719776517"/>
              </p:ext>
            </p:extLst>
          </p:nvPr>
        </p:nvGraphicFramePr>
        <p:xfrm>
          <a:off x="113288" y="1160617"/>
          <a:ext cx="8917423" cy="3924000"/>
        </p:xfrm>
        <a:graphic>
          <a:graphicData uri="http://schemas.openxmlformats.org/drawingml/2006/table">
            <a:tbl>
              <a:tblPr firstRow="1" firstCol="1" bandRow="1"/>
              <a:tblGrid>
                <a:gridCol w="1319002">
                  <a:extLst>
                    <a:ext uri="{9D8B030D-6E8A-4147-A177-3AD203B41FA5}">
                      <a16:colId xmlns:a16="http://schemas.microsoft.com/office/drawing/2014/main" val="1362296293"/>
                    </a:ext>
                  </a:extLst>
                </a:gridCol>
                <a:gridCol w="3455299">
                  <a:extLst>
                    <a:ext uri="{9D8B030D-6E8A-4147-A177-3AD203B41FA5}">
                      <a16:colId xmlns:a16="http://schemas.microsoft.com/office/drawing/2014/main" val="3622545700"/>
                    </a:ext>
                  </a:extLst>
                </a:gridCol>
                <a:gridCol w="1051965">
                  <a:extLst>
                    <a:ext uri="{9D8B030D-6E8A-4147-A177-3AD203B41FA5}">
                      <a16:colId xmlns:a16="http://schemas.microsoft.com/office/drawing/2014/main" val="3778041790"/>
                    </a:ext>
                  </a:extLst>
                </a:gridCol>
                <a:gridCol w="3091157">
                  <a:extLst>
                    <a:ext uri="{9D8B030D-6E8A-4147-A177-3AD203B41FA5}">
                      <a16:colId xmlns:a16="http://schemas.microsoft.com/office/drawing/2014/main" val="3895275064"/>
                    </a:ext>
                  </a:extLst>
                </a:gridCol>
              </a:tblGrid>
              <a:tr h="288000">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需求</a:t>
                      </a:r>
                      <a:r>
                        <a:rPr lang="en-US" sz="1400" b="1" kern="100" dirty="0">
                          <a:solidFill>
                            <a:srgbClr val="000000"/>
                          </a:solidFill>
                          <a:effectLst/>
                          <a:latin typeface="Times New Roman" panose="02020603050405020304" pitchFamily="18" charset="0"/>
                          <a:ea typeface="標楷體" panose="03000509000000000000" pitchFamily="65" charset="-120"/>
                        </a:rPr>
                        <a:t>ID</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需求內容</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通過</a:t>
                      </a:r>
                      <a:r>
                        <a:rPr lang="en-US" sz="1400" b="1" kern="100" dirty="0">
                          <a:solidFill>
                            <a:srgbClr val="000000"/>
                          </a:solidFill>
                          <a:effectLst/>
                          <a:latin typeface="Times New Roman" panose="02020603050405020304" pitchFamily="18" charset="0"/>
                          <a:ea typeface="標楷體" panose="03000509000000000000" pitchFamily="65" charset="-120"/>
                        </a:rPr>
                        <a:t>/</a:t>
                      </a:r>
                      <a:r>
                        <a:rPr lang="zh-TW" sz="1400" b="1" kern="100" dirty="0">
                          <a:solidFill>
                            <a:srgbClr val="000000"/>
                          </a:solidFill>
                          <a:effectLst/>
                          <a:latin typeface="Times New Roman" panose="02020603050405020304" pitchFamily="18" charset="0"/>
                          <a:ea typeface="標楷體" panose="03000509000000000000" pitchFamily="65" charset="-120"/>
                        </a:rPr>
                        <a:t>開發中</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備註</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extLst>
                  <a:ext uri="{0D108BD9-81ED-4DB2-BD59-A6C34878D82A}">
                    <a16:rowId xmlns:a16="http://schemas.microsoft.com/office/drawing/2014/main" val="2142401637"/>
                  </a:ext>
                </a:extLst>
              </a:tr>
              <a:tr h="360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01</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可提供星系衛星任務長期規劃與發射支援。</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44491"/>
                  </a:ext>
                </a:extLst>
              </a:tr>
              <a:tr h="360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02</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可對福衛八號取像活動進行規劃與緊急調度。</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altLang="en-US"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1565325"/>
                  </a:ext>
                </a:extLst>
              </a:tr>
              <a:tr h="504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03</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可支援福</a:t>
                      </a:r>
                      <a:r>
                        <a:rPr lang="zh-TW" altLang="en-US" sz="1400" kern="100" dirty="0">
                          <a:effectLst/>
                          <a:latin typeface="Times New Roman" panose="02020603050405020304" pitchFamily="18" charset="0"/>
                          <a:ea typeface="標楷體" panose="03000509000000000000" pitchFamily="65" charset="-120"/>
                        </a:rPr>
                        <a:t>衛</a:t>
                      </a:r>
                      <a:r>
                        <a:rPr lang="zh-TW" sz="1400" kern="100" dirty="0">
                          <a:effectLst/>
                          <a:latin typeface="Times New Roman" panose="02020603050405020304" pitchFamily="18" charset="0"/>
                          <a:ea typeface="標楷體" panose="03000509000000000000" pitchFamily="65" charset="-120"/>
                        </a:rPr>
                        <a:t>八號科學資料活動進行長期規劃與調度。</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14268"/>
                  </a:ext>
                </a:extLst>
              </a:tr>
              <a:tr h="504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04</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可依照活動優先順序提供緊急規劃與異常現象的調度。</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altLang="en-US" sz="1400" kern="100" dirty="0">
                          <a:effectLst/>
                          <a:latin typeface="標楷體" panose="03000509000000000000" pitchFamily="65" charset="-120"/>
                          <a:ea typeface="標楷體" panose="03000509000000000000" pitchFamily="65" charset="-120"/>
                        </a:rPr>
                        <a:t>通過</a:t>
                      </a:r>
                      <a:endParaRPr lang="zh-TW" sz="1400" kern="100" dirty="0">
                        <a:effectLst/>
                        <a:latin typeface="標楷體" panose="03000509000000000000" pitchFamily="65" charset="-120"/>
                        <a:ea typeface="標楷體" panose="03000509000000000000" pitchFamily="65"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70836"/>
                  </a:ext>
                </a:extLst>
              </a:tr>
              <a:tr h="360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05</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可依任務需要支援正常任務操作長期規劃。</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512008"/>
                  </a:ext>
                </a:extLst>
              </a:tr>
              <a:tr h="504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06</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可對多任務星系排程所需排程規則進行定義、新增、修改與刪除。</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00071"/>
                  </a:ext>
                </a:extLst>
              </a:tr>
              <a:tr h="504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07</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可對多任務星系排程所需衛星活動進行定義、新增、修改與刪除。</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248781"/>
                  </a:ext>
                </a:extLst>
              </a:tr>
              <a:tr h="540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08</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可對多任務操作星系重新排程策略進行新增、修改與刪除。</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6735736"/>
                  </a:ext>
                </a:extLst>
              </a:tr>
            </a:tbl>
          </a:graphicData>
        </a:graphic>
      </p:graphicFrame>
      <p:sp>
        <p:nvSpPr>
          <p:cNvPr id="18" name="Google Shape;230;p30">
            <a:extLst>
              <a:ext uri="{FF2B5EF4-FFF2-40B4-BE49-F238E27FC236}">
                <a16:creationId xmlns:a16="http://schemas.microsoft.com/office/drawing/2014/main" id="{07577209-702A-ECCB-0D45-EB00C5D1AC94}"/>
              </a:ext>
            </a:extLst>
          </p:cNvPr>
          <p:cNvSpPr/>
          <p:nvPr/>
        </p:nvSpPr>
        <p:spPr>
          <a:xfrm>
            <a:off x="6061470" y="-6262"/>
            <a:ext cx="886688"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4;p30">
            <a:hlinkClick r:id="" action="ppaction://hlinkshowjump?jump=firstslide"/>
            <a:extLst>
              <a:ext uri="{FF2B5EF4-FFF2-40B4-BE49-F238E27FC236}">
                <a16:creationId xmlns:a16="http://schemas.microsoft.com/office/drawing/2014/main" id="{56368C84-F5D7-7974-F1F3-9D50E29FBFCD}"/>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Google Shape;234;p30">
            <a:hlinkClick r:id="" action="ppaction://hlinkshowjump?jump=firstslide"/>
            <a:extLst>
              <a:ext uri="{FF2B5EF4-FFF2-40B4-BE49-F238E27FC236}">
                <a16:creationId xmlns:a16="http://schemas.microsoft.com/office/drawing/2014/main" id="{79F912CE-5E40-FE55-4D35-6D45C94FDC7F}"/>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矩形 20">
            <a:hlinkClick r:id="rId3" action="ppaction://hlinksldjump"/>
            <a:extLst>
              <a:ext uri="{FF2B5EF4-FFF2-40B4-BE49-F238E27FC236}">
                <a16:creationId xmlns:a16="http://schemas.microsoft.com/office/drawing/2014/main" id="{B25B5F35-6A1F-A449-EA5D-F02B97A8008C}"/>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hlinkClick r:id="rId4" action="ppaction://hlinksldjump"/>
            <a:extLst>
              <a:ext uri="{FF2B5EF4-FFF2-40B4-BE49-F238E27FC236}">
                <a16:creationId xmlns:a16="http://schemas.microsoft.com/office/drawing/2014/main" id="{939EACA0-1491-262B-53B3-6A9FAD70BAEC}"/>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Google Shape;234;p30">
            <a:hlinkClick r:id="" action="ppaction://hlinkshowjump?jump=firstslide"/>
            <a:extLst>
              <a:ext uri="{FF2B5EF4-FFF2-40B4-BE49-F238E27FC236}">
                <a16:creationId xmlns:a16="http://schemas.microsoft.com/office/drawing/2014/main" id="{B7196470-A25A-9660-6147-958FB4FC4C61}"/>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矩形 23">
            <a:hlinkClick r:id="rId5" action="ppaction://hlinksldjump"/>
            <a:extLst>
              <a:ext uri="{FF2B5EF4-FFF2-40B4-BE49-F238E27FC236}">
                <a16:creationId xmlns:a16="http://schemas.microsoft.com/office/drawing/2014/main" id="{348A120B-9983-45F5-6CCB-DDD0A66C0B84}"/>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Google Shape;234;p30">
            <a:hlinkClick r:id="" action="ppaction://hlinkshowjump?jump=firstslide"/>
            <a:extLst>
              <a:ext uri="{FF2B5EF4-FFF2-40B4-BE49-F238E27FC236}">
                <a16:creationId xmlns:a16="http://schemas.microsoft.com/office/drawing/2014/main" id="{7926B132-A438-88DE-AC6F-2B876709929D}"/>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6" action="ppaction://hlinksldjump"/>
            <a:extLst>
              <a:ext uri="{FF2B5EF4-FFF2-40B4-BE49-F238E27FC236}">
                <a16:creationId xmlns:a16="http://schemas.microsoft.com/office/drawing/2014/main" id="{C8C0E02D-02D1-010D-87F2-460BEC495FE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234;p30">
            <a:hlinkClick r:id="" action="ppaction://hlinkshowjump?jump=firstslide"/>
            <a:extLst>
              <a:ext uri="{FF2B5EF4-FFF2-40B4-BE49-F238E27FC236}">
                <a16:creationId xmlns:a16="http://schemas.microsoft.com/office/drawing/2014/main" id="{ED72CE4A-FCF6-F96B-AB6D-F5EE06250566}"/>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7" action="ppaction://hlinksldjump"/>
            <a:extLst>
              <a:ext uri="{FF2B5EF4-FFF2-40B4-BE49-F238E27FC236}">
                <a16:creationId xmlns:a16="http://schemas.microsoft.com/office/drawing/2014/main" id="{931B8431-C44A-B875-41B0-59CF8228995D}"/>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48EE8CF4-D286-534B-3212-0AC5F2C6CBFB}"/>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8" action="ppaction://hlinksldjump"/>
            <a:extLst>
              <a:ext uri="{FF2B5EF4-FFF2-40B4-BE49-F238E27FC236}">
                <a16:creationId xmlns:a16="http://schemas.microsoft.com/office/drawing/2014/main" id="{B1A8269C-BBB9-A149-EEF2-C155E96D70C1}"/>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597363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34" name="Google Shape;241;p30">
            <a:extLst>
              <a:ext uri="{FF2B5EF4-FFF2-40B4-BE49-F238E27FC236}">
                <a16:creationId xmlns:a16="http://schemas.microsoft.com/office/drawing/2014/main" id="{17EADF56-D11F-78F5-1C1C-34550CF18205}"/>
              </a:ext>
            </a:extLst>
          </p:cNvPr>
          <p:cNvSpPr/>
          <p:nvPr/>
        </p:nvSpPr>
        <p:spPr>
          <a:xfrm>
            <a:off x="1211550" y="-697125"/>
            <a:ext cx="320100" cy="32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42;p30">
            <a:extLst>
              <a:ext uri="{FF2B5EF4-FFF2-40B4-BE49-F238E27FC236}">
                <a16:creationId xmlns:a16="http://schemas.microsoft.com/office/drawing/2014/main" id="{83EF4302-9F4B-C695-F253-6392E62C0A70}"/>
              </a:ext>
            </a:extLst>
          </p:cNvPr>
          <p:cNvSpPr/>
          <p:nvPr/>
        </p:nvSpPr>
        <p:spPr>
          <a:xfrm>
            <a:off x="7612350" y="-697125"/>
            <a:ext cx="320100" cy="32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 name="表格 1">
            <a:extLst>
              <a:ext uri="{FF2B5EF4-FFF2-40B4-BE49-F238E27FC236}">
                <a16:creationId xmlns:a16="http://schemas.microsoft.com/office/drawing/2014/main" id="{F752E2DE-08E5-CC96-8A5B-6E24DC4F6558}"/>
              </a:ext>
            </a:extLst>
          </p:cNvPr>
          <p:cNvGraphicFramePr>
            <a:graphicFrameLocks noGrp="1"/>
          </p:cNvGraphicFramePr>
          <p:nvPr>
            <p:extLst>
              <p:ext uri="{D42A27DB-BD31-4B8C-83A1-F6EECF244321}">
                <p14:modId xmlns:p14="http://schemas.microsoft.com/office/powerpoint/2010/main" val="4260524607"/>
              </p:ext>
            </p:extLst>
          </p:nvPr>
        </p:nvGraphicFramePr>
        <p:xfrm>
          <a:off x="133144" y="756017"/>
          <a:ext cx="8917423" cy="4320000"/>
        </p:xfrm>
        <a:graphic>
          <a:graphicData uri="http://schemas.openxmlformats.org/drawingml/2006/table">
            <a:tbl>
              <a:tblPr firstRow="1" firstCol="1" bandRow="1"/>
              <a:tblGrid>
                <a:gridCol w="1319002">
                  <a:extLst>
                    <a:ext uri="{9D8B030D-6E8A-4147-A177-3AD203B41FA5}">
                      <a16:colId xmlns:a16="http://schemas.microsoft.com/office/drawing/2014/main" val="1362296293"/>
                    </a:ext>
                  </a:extLst>
                </a:gridCol>
                <a:gridCol w="3455299">
                  <a:extLst>
                    <a:ext uri="{9D8B030D-6E8A-4147-A177-3AD203B41FA5}">
                      <a16:colId xmlns:a16="http://schemas.microsoft.com/office/drawing/2014/main" val="3622545700"/>
                    </a:ext>
                  </a:extLst>
                </a:gridCol>
                <a:gridCol w="1051965">
                  <a:extLst>
                    <a:ext uri="{9D8B030D-6E8A-4147-A177-3AD203B41FA5}">
                      <a16:colId xmlns:a16="http://schemas.microsoft.com/office/drawing/2014/main" val="3778041790"/>
                    </a:ext>
                  </a:extLst>
                </a:gridCol>
                <a:gridCol w="3091157">
                  <a:extLst>
                    <a:ext uri="{9D8B030D-6E8A-4147-A177-3AD203B41FA5}">
                      <a16:colId xmlns:a16="http://schemas.microsoft.com/office/drawing/2014/main" val="3895275064"/>
                    </a:ext>
                  </a:extLst>
                </a:gridCol>
              </a:tblGrid>
              <a:tr h="288000">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需求</a:t>
                      </a:r>
                      <a:r>
                        <a:rPr lang="en-US" sz="1400" b="1" kern="100" dirty="0">
                          <a:solidFill>
                            <a:srgbClr val="000000"/>
                          </a:solidFill>
                          <a:effectLst/>
                          <a:latin typeface="Times New Roman" panose="02020603050405020304" pitchFamily="18" charset="0"/>
                          <a:ea typeface="標楷體" panose="03000509000000000000" pitchFamily="65" charset="-120"/>
                        </a:rPr>
                        <a:t>ID</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需求內容</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通過</a:t>
                      </a:r>
                      <a:r>
                        <a:rPr lang="en-US" sz="1400" b="1" kern="100" dirty="0">
                          <a:solidFill>
                            <a:srgbClr val="000000"/>
                          </a:solidFill>
                          <a:effectLst/>
                          <a:latin typeface="Times New Roman" panose="02020603050405020304" pitchFamily="18" charset="0"/>
                          <a:ea typeface="標楷體" panose="03000509000000000000" pitchFamily="65" charset="-120"/>
                        </a:rPr>
                        <a:t>/</a:t>
                      </a:r>
                      <a:r>
                        <a:rPr lang="zh-TW" sz="1400" b="1" kern="100" dirty="0">
                          <a:solidFill>
                            <a:srgbClr val="000000"/>
                          </a:solidFill>
                          <a:effectLst/>
                          <a:latin typeface="Times New Roman" panose="02020603050405020304" pitchFamily="18" charset="0"/>
                          <a:ea typeface="標楷體" panose="03000509000000000000" pitchFamily="65" charset="-120"/>
                        </a:rPr>
                        <a:t>開發中</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tc>
                  <a:txBody>
                    <a:bodyPr/>
                    <a:lstStyle/>
                    <a:p>
                      <a:pPr algn="ctr">
                        <a:lnSpc>
                          <a:spcPct val="100000"/>
                        </a:lnSpc>
                      </a:pPr>
                      <a:r>
                        <a:rPr lang="zh-TW" sz="1400" b="1" kern="100" dirty="0">
                          <a:solidFill>
                            <a:srgbClr val="000000"/>
                          </a:solidFill>
                          <a:effectLst/>
                          <a:latin typeface="Times New Roman" panose="02020603050405020304" pitchFamily="18" charset="0"/>
                          <a:ea typeface="標楷體" panose="03000509000000000000" pitchFamily="65" charset="-120"/>
                        </a:rPr>
                        <a:t>備註</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7E6E6"/>
                    </a:solidFill>
                  </a:tcPr>
                </a:tc>
                <a:extLst>
                  <a:ext uri="{0D108BD9-81ED-4DB2-BD59-A6C34878D82A}">
                    <a16:rowId xmlns:a16="http://schemas.microsoft.com/office/drawing/2014/main" val="2142401637"/>
                  </a:ext>
                </a:extLst>
              </a:tr>
              <a:tr h="468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標楷體" panose="03000509000000000000" pitchFamily="65" charset="-120"/>
                        </a:rPr>
                        <a:t>MCC000. 02. 09</a:t>
                      </a:r>
                      <a:endParaRPr lang="zh-TW" altLang="zh-TW" sz="1400" kern="100" dirty="0">
                        <a:effectLst/>
                        <a:latin typeface="Times New Roman" panose="02020603050405020304" pitchFamily="18" charset="0"/>
                        <a:ea typeface="+mn-ea"/>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altLang="en-US" sz="1400" kern="100" dirty="0">
                          <a:effectLst/>
                          <a:latin typeface="標楷體" panose="03000509000000000000" pitchFamily="65" charset="-120"/>
                          <a:ea typeface="標楷體" panose="03000509000000000000" pitchFamily="65" charset="-120"/>
                        </a:rPr>
                        <a:t>可對多任務星系排程所需操作限制進行定義、新增、修改與刪除。</a:t>
                      </a:r>
                      <a:endParaRPr lang="zh-TW" sz="1400" kern="100" dirty="0">
                        <a:effectLst/>
                        <a:latin typeface="標楷體" panose="03000509000000000000" pitchFamily="65" charset="-120"/>
                        <a:ea typeface="標楷體" panose="03000509000000000000" pitchFamily="65"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altLang="en-US" sz="1400" kern="100" dirty="0">
                          <a:effectLst/>
                          <a:latin typeface="標楷體" panose="03000509000000000000" pitchFamily="65" charset="-120"/>
                          <a:ea typeface="標楷體" panose="03000509000000000000" pitchFamily="65" charset="-120"/>
                        </a:rPr>
                        <a:t>通過</a:t>
                      </a:r>
                      <a:endParaRPr lang="zh-TW" sz="1400" kern="100" dirty="0">
                        <a:effectLst/>
                        <a:latin typeface="標楷體" panose="03000509000000000000" pitchFamily="65" charset="-120"/>
                        <a:ea typeface="標楷體" panose="03000509000000000000" pitchFamily="65"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0723351"/>
                  </a:ext>
                </a:extLst>
              </a:tr>
              <a:tr h="468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10</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可提供多任務操作的調度和長期任務規劃，包括快速重新規劃。</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915808"/>
                  </a:ext>
                </a:extLst>
              </a:tr>
              <a:tr h="648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11</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使用</a:t>
                      </a:r>
                      <a:r>
                        <a:rPr lang="en-US" sz="1400" kern="100" dirty="0" err="1">
                          <a:effectLst/>
                          <a:latin typeface="Times New Roman" panose="02020603050405020304" pitchFamily="18" charset="0"/>
                          <a:ea typeface="標楷體" panose="03000509000000000000" pitchFamily="65" charset="-120"/>
                        </a:rPr>
                        <a:t>Postgresql</a:t>
                      </a:r>
                      <a:r>
                        <a:rPr lang="zh-TW" sz="1400" kern="100" dirty="0">
                          <a:effectLst/>
                          <a:latin typeface="Times New Roman" panose="02020603050405020304" pitchFamily="18" charset="0"/>
                          <a:ea typeface="標楷體" panose="03000509000000000000" pitchFamily="65" charset="-120"/>
                        </a:rPr>
                        <a:t>資料庫儲存所需資訊，並將排程結果寫入資料庫中。</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962435"/>
                  </a:ext>
                </a:extLst>
              </a:tr>
              <a:tr h="648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12</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若因資源限制或操作規則衝突而無法安排的活動將儲存於</a:t>
                      </a:r>
                      <a:r>
                        <a:rPr lang="zh-TW" altLang="en-US" sz="1400" kern="100" dirty="0">
                          <a:effectLst/>
                          <a:latin typeface="Times New Roman" panose="02020603050405020304" pitchFamily="18" charset="0"/>
                          <a:ea typeface="標楷體" panose="03000509000000000000" pitchFamily="65" charset="-120"/>
                        </a:rPr>
                        <a:t>未</a:t>
                      </a:r>
                      <a:r>
                        <a:rPr lang="zh-TW" sz="1400" kern="100" dirty="0">
                          <a:effectLst/>
                          <a:latin typeface="Times New Roman" panose="02020603050405020304" pitchFamily="18" charset="0"/>
                          <a:ea typeface="標楷體" panose="03000509000000000000" pitchFamily="65" charset="-120"/>
                        </a:rPr>
                        <a:t>排程的資料庫中，及記錄衝突或限制條件違反原因。</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altLang="en-US"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834968"/>
                  </a:ext>
                </a:extLst>
              </a:tr>
              <a:tr h="468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13</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可根據衛星與地面活動優先級的規則與約束解決衝突。</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a:effectLst/>
                          <a:latin typeface="Times New Roman" panose="02020603050405020304" pitchFamily="18" charset="0"/>
                          <a:ea typeface="標楷體" panose="03000509000000000000" pitchFamily="65" charset="-120"/>
                        </a:rPr>
                        <a:t>通過</a:t>
                      </a:r>
                      <a:endParaRPr lang="zh-TW" sz="1400" kern="10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944467"/>
                  </a:ext>
                </a:extLst>
              </a:tr>
              <a:tr h="864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14</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可對衛星相關資源包含衛星電量（</a:t>
                      </a:r>
                      <a:r>
                        <a:rPr lang="en-US" sz="1400" kern="100" dirty="0">
                          <a:effectLst/>
                          <a:latin typeface="Times New Roman" panose="02020603050405020304" pitchFamily="18" charset="0"/>
                          <a:ea typeface="標楷體" panose="03000509000000000000" pitchFamily="65" charset="-120"/>
                        </a:rPr>
                        <a:t>power/duty cycles</a:t>
                      </a:r>
                      <a:r>
                        <a:rPr lang="zh-TW" sz="1400" kern="100" dirty="0">
                          <a:effectLst/>
                          <a:latin typeface="Times New Roman" panose="02020603050405020304" pitchFamily="18" charset="0"/>
                          <a:ea typeface="標楷體" panose="03000509000000000000" pitchFamily="65" charset="-120"/>
                        </a:rPr>
                        <a:t>），記憶體容量（</a:t>
                      </a:r>
                      <a:r>
                        <a:rPr lang="en-US" sz="1400" kern="100" dirty="0">
                          <a:effectLst/>
                          <a:latin typeface="Times New Roman" panose="02020603050405020304" pitchFamily="18" charset="0"/>
                          <a:ea typeface="標楷體" panose="03000509000000000000" pitchFamily="65" charset="-120"/>
                        </a:rPr>
                        <a:t>Solid State Recorder</a:t>
                      </a:r>
                      <a:r>
                        <a:rPr lang="zh-TW" sz="1400" kern="100" dirty="0">
                          <a:effectLst/>
                          <a:latin typeface="Times New Roman" panose="02020603050405020304" pitchFamily="18" charset="0"/>
                          <a:ea typeface="標楷體" panose="03000509000000000000" pitchFamily="65" charset="-120"/>
                        </a:rPr>
                        <a:t>）與衛星指令個數與序列（</a:t>
                      </a:r>
                      <a:r>
                        <a:rPr lang="en-US" sz="1400" kern="100" dirty="0">
                          <a:effectLst/>
                          <a:latin typeface="Times New Roman" panose="02020603050405020304" pitchFamily="18" charset="0"/>
                          <a:ea typeface="標楷體" panose="03000509000000000000" pitchFamily="65" charset="-120"/>
                        </a:rPr>
                        <a:t>TTQ/MPQ</a:t>
                      </a:r>
                      <a:r>
                        <a:rPr lang="zh-TW" sz="1400" kern="100" dirty="0">
                          <a:effectLst/>
                          <a:latin typeface="Times New Roman" panose="02020603050405020304" pitchFamily="18" charset="0"/>
                          <a:ea typeface="標楷體" panose="03000509000000000000" pitchFamily="65" charset="-120"/>
                        </a:rPr>
                        <a:t>）等進行管理。</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altLang="en-US" sz="1400" kern="100" dirty="0">
                          <a:effectLst/>
                          <a:latin typeface="Times New Roman" panose="02020603050405020304" pitchFamily="18" charset="0"/>
                          <a:ea typeface="標楷體" panose="03000509000000000000" pitchFamily="65" charset="-120"/>
                        </a:rPr>
                        <a:t>通過</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39595"/>
                  </a:ext>
                </a:extLst>
              </a:tr>
              <a:tr h="468000">
                <a:tc>
                  <a:txBody>
                    <a:bodyPr/>
                    <a:lstStyle/>
                    <a:p>
                      <a:pPr algn="ctr">
                        <a:lnSpc>
                          <a:spcPct val="100000"/>
                        </a:lnSpc>
                      </a:pPr>
                      <a:r>
                        <a:rPr lang="en-US" sz="1400" kern="100" dirty="0">
                          <a:effectLst/>
                          <a:latin typeface="Times New Roman" panose="02020603050405020304" pitchFamily="18" charset="0"/>
                          <a:ea typeface="標楷體" panose="03000509000000000000" pitchFamily="65" charset="-120"/>
                        </a:rPr>
                        <a:t>MCC000. 02. 15</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zh-TW" sz="1400" kern="100" dirty="0">
                          <a:effectLst/>
                          <a:latin typeface="Times New Roman" panose="02020603050405020304" pitchFamily="18" charset="0"/>
                          <a:ea typeface="標楷體" panose="03000509000000000000" pitchFamily="65" charset="-120"/>
                        </a:rPr>
                        <a:t>可根據任務需求支援星系操作對地面站使用進行最佳化選定。</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zh-TW" sz="1400" kern="100">
                          <a:effectLst/>
                          <a:latin typeface="Times New Roman" panose="02020603050405020304" pitchFamily="18" charset="0"/>
                          <a:ea typeface="標楷體" panose="03000509000000000000" pitchFamily="65" charset="-120"/>
                        </a:rPr>
                        <a:t>通過</a:t>
                      </a:r>
                      <a:endParaRPr lang="zh-TW" sz="1400" kern="10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just">
                        <a:lnSpc>
                          <a:spcPct val="100000"/>
                        </a:lnSpc>
                      </a:pPr>
                      <a:r>
                        <a:rPr lang="en-US" sz="1400" kern="100" dirty="0">
                          <a:effectLst/>
                          <a:latin typeface="Times New Roman" panose="02020603050405020304" pitchFamily="18" charset="0"/>
                          <a:ea typeface="標楷體" panose="03000509000000000000" pitchFamily="65" charset="-120"/>
                        </a:rPr>
                        <a:t> </a:t>
                      </a:r>
                      <a:endParaRPr lang="zh-TW" sz="1400" kern="100" dirty="0">
                        <a:effectLst/>
                        <a:latin typeface="Times New Roman" panose="02020603050405020304" pitchFamily="18" charset="0"/>
                        <a:ea typeface="新細明體" panose="02020500000000000000" pitchFamily="18" charset="-120"/>
                      </a:endParaRPr>
                    </a:p>
                  </a:txBody>
                  <a:tcPr marL="24910" marR="2491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0640229"/>
                  </a:ext>
                </a:extLst>
              </a:tr>
            </a:tbl>
          </a:graphicData>
        </a:graphic>
      </p:graphicFrame>
      <p:sp>
        <p:nvSpPr>
          <p:cNvPr id="20" name="Google Shape;3042;p38">
            <a:extLst>
              <a:ext uri="{FF2B5EF4-FFF2-40B4-BE49-F238E27FC236}">
                <a16:creationId xmlns:a16="http://schemas.microsoft.com/office/drawing/2014/main" id="{60B1F205-0EC7-5CA5-12ED-23BD95DB3550}"/>
              </a:ext>
            </a:extLst>
          </p:cNvPr>
          <p:cNvSpPr/>
          <p:nvPr/>
        </p:nvSpPr>
        <p:spPr>
          <a:xfrm>
            <a:off x="-8092" y="555638"/>
            <a:ext cx="4536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030;p38">
            <a:extLst>
              <a:ext uri="{FF2B5EF4-FFF2-40B4-BE49-F238E27FC236}">
                <a16:creationId xmlns:a16="http://schemas.microsoft.com/office/drawing/2014/main" id="{EFFE209A-472C-E123-D5CD-EE601BB0E717}"/>
              </a:ext>
            </a:extLst>
          </p:cNvPr>
          <p:cNvSpPr txBox="1">
            <a:spLocks noGrp="1"/>
          </p:cNvSpPr>
          <p:nvPr>
            <p:ph type="title"/>
          </p:nvPr>
        </p:nvSpPr>
        <p:spPr>
          <a:xfrm>
            <a:off x="14661" y="26562"/>
            <a:ext cx="4338854"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測試項目與測試結果（</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2/2</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374443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1. </a:t>
            </a:r>
            <a:r>
              <a:rPr lang="en-US" altLang="zh-TW" sz="1600" b="1" dirty="0" err="1">
                <a:solidFill>
                  <a:srgbClr val="C00000"/>
                </a:solidFill>
                <a:latin typeface="Times New Roman" panose="02020603050405020304" pitchFamily="18" charset="0"/>
                <a:ea typeface="標楷體" panose="03000509000000000000" pitchFamily="65" charset="-120"/>
              </a:rPr>
              <a:t>addResourceChange</a:t>
            </a:r>
            <a:r>
              <a:rPr lang="zh-TW" altLang="en-US" sz="1600" b="1" dirty="0">
                <a:solidFill>
                  <a:srgbClr val="C00000"/>
                </a:solidFill>
                <a:latin typeface="Times New Roman" panose="02020603050405020304" pitchFamily="18" charset="0"/>
                <a:ea typeface="標楷體" panose="03000509000000000000" pitchFamily="65" charset="-120"/>
              </a:rPr>
              <a:t>微調功能檔名檢查機制不完善</a:t>
            </a:r>
          </a:p>
        </p:txBody>
      </p:sp>
      <p:sp>
        <p:nvSpPr>
          <p:cNvPr id="18" name="文字方塊 17">
            <a:extLst>
              <a:ext uri="{FF2B5EF4-FFF2-40B4-BE49-F238E27FC236}">
                <a16:creationId xmlns:a16="http://schemas.microsoft.com/office/drawing/2014/main" id="{AAAE6CFB-4AEE-2874-93A1-56937C1CF849}"/>
              </a:ext>
            </a:extLst>
          </p:cNvPr>
          <p:cNvSpPr txBox="1"/>
          <p:nvPr/>
        </p:nvSpPr>
        <p:spPr>
          <a:xfrm>
            <a:off x="135112" y="1109240"/>
            <a:ext cx="8628561" cy="4040017"/>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使用者透過</a:t>
            </a:r>
            <a:r>
              <a:rPr lang="en-US" altLang="zh-TW" dirty="0" err="1">
                <a:latin typeface="Times New Roman" panose="02020603050405020304" pitchFamily="18" charset="0"/>
                <a:ea typeface="標楷體" panose="03000509000000000000" pitchFamily="65" charset="-120"/>
              </a:rPr>
              <a:t>addResourceChange</a:t>
            </a:r>
            <a:r>
              <a:rPr lang="zh-TW" altLang="en-US" dirty="0">
                <a:latin typeface="Times New Roman" panose="02020603050405020304" pitchFamily="18" charset="0"/>
                <a:ea typeface="標楷體" panose="03000509000000000000" pitchFamily="65" charset="-120"/>
              </a:rPr>
              <a:t>嘗試調整</a:t>
            </a:r>
            <a:r>
              <a:rPr lang="en-US" altLang="zh-TW" dirty="0">
                <a:latin typeface="Times New Roman" panose="02020603050405020304" pitchFamily="18" charset="0"/>
                <a:ea typeface="標楷體" panose="03000509000000000000" pitchFamily="65" charset="-120"/>
              </a:rPr>
              <a:t>RSI Delete</a:t>
            </a:r>
            <a:r>
              <a:rPr lang="zh-TW" altLang="en-US" dirty="0">
                <a:latin typeface="Times New Roman" panose="02020603050405020304" pitchFamily="18" charset="0"/>
                <a:ea typeface="標楷體" panose="03000509000000000000" pitchFamily="65" charset="-120"/>
              </a:rPr>
              <a:t>的執行時間，照理而言系統會先檢查移動後是否可能造成檔名使用問題。</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進行調整前並未檢查到檔名不可行的問題，導致移動後再執行其他排程功能便會跳出檔名使用錯誤。</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確認問題</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原本檢查的機制是會在檢查檔名前先將活動按開始時間先後順序做排序，再去創建活動於模型中，而創建過程便會檢查檔名是否將會有或是已經有重複使用的狀況。</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solidFill>
                  <a:srgbClr val="C00000"/>
                </a:solidFill>
                <a:latin typeface="Times New Roman" panose="02020603050405020304" pitchFamily="18" charset="0"/>
                <a:ea typeface="標楷體" panose="03000509000000000000" pitchFamily="65" charset="-120"/>
              </a:rPr>
              <a:t>活動排序時並無將</a:t>
            </a:r>
            <a:r>
              <a:rPr lang="en-US" altLang="zh-TW" dirty="0">
                <a:solidFill>
                  <a:srgbClr val="C00000"/>
                </a:solidFill>
                <a:latin typeface="Times New Roman" panose="02020603050405020304" pitchFamily="18" charset="0"/>
                <a:ea typeface="標楷體" panose="03000509000000000000" pitchFamily="65" charset="-120"/>
              </a:rPr>
              <a:t>RSI Delete</a:t>
            </a:r>
            <a:r>
              <a:rPr lang="zh-TW" altLang="en-US" dirty="0">
                <a:solidFill>
                  <a:srgbClr val="C00000"/>
                </a:solidFill>
                <a:latin typeface="Times New Roman" panose="02020603050405020304" pitchFamily="18" charset="0"/>
                <a:ea typeface="標楷體" panose="03000509000000000000" pitchFamily="65" charset="-120"/>
              </a:rPr>
              <a:t>的開始時間設定為</a:t>
            </a:r>
            <a:r>
              <a:rPr lang="en-US" altLang="zh-TW" dirty="0" err="1">
                <a:solidFill>
                  <a:srgbClr val="C00000"/>
                </a:solidFill>
                <a:latin typeface="Times New Roman" panose="02020603050405020304" pitchFamily="18" charset="0"/>
                <a:ea typeface="標楷體" panose="03000509000000000000" pitchFamily="65" charset="-120"/>
              </a:rPr>
              <a:t>addResourceChange</a:t>
            </a:r>
            <a:r>
              <a:rPr lang="zh-TW" altLang="en-US" dirty="0">
                <a:solidFill>
                  <a:srgbClr val="C00000"/>
                </a:solidFill>
                <a:latin typeface="Times New Roman" panose="02020603050405020304" pitchFamily="18" charset="0"/>
                <a:ea typeface="標楷體" panose="03000509000000000000" pitchFamily="65" charset="-120"/>
              </a:rPr>
              <a:t>更新後的時間</a:t>
            </a:r>
            <a:r>
              <a:rPr lang="zh-TW" altLang="en-US" dirty="0">
                <a:latin typeface="Times New Roman" panose="02020603050405020304" pitchFamily="18" charset="0"/>
                <a:ea typeface="標楷體" panose="03000509000000000000" pitchFamily="65" charset="-120"/>
              </a:rPr>
              <a:t>，因此排序上會出錯。</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將</a:t>
            </a:r>
            <a:r>
              <a:rPr lang="en-US" altLang="zh-TW" dirty="0">
                <a:latin typeface="Times New Roman" panose="02020603050405020304" pitchFamily="18" charset="0"/>
                <a:ea typeface="標楷體" panose="03000509000000000000" pitchFamily="65" charset="-120"/>
              </a:rPr>
              <a:t>RSI Delete</a:t>
            </a:r>
            <a:r>
              <a:rPr lang="zh-TW" altLang="en-US" dirty="0">
                <a:latin typeface="Times New Roman" panose="02020603050405020304" pitchFamily="18" charset="0"/>
                <a:ea typeface="標楷體" panose="03000509000000000000" pitchFamily="65" charset="-120"/>
              </a:rPr>
              <a:t>的開始時間設定為</a:t>
            </a:r>
            <a:r>
              <a:rPr lang="en-US" altLang="zh-TW" dirty="0" err="1">
                <a:latin typeface="Times New Roman" panose="02020603050405020304" pitchFamily="18" charset="0"/>
                <a:ea typeface="標楷體" panose="03000509000000000000" pitchFamily="65" charset="-120"/>
              </a:rPr>
              <a:t>addResourceChange</a:t>
            </a:r>
            <a:r>
              <a:rPr lang="zh-TW" altLang="en-US" dirty="0">
                <a:latin typeface="Times New Roman" panose="02020603050405020304" pitchFamily="18" charset="0"/>
                <a:ea typeface="標楷體" panose="03000509000000000000" pitchFamily="65" charset="-120"/>
              </a:rPr>
              <a:t>更新後的時間再去做排序以及後續的活動創建。</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問題已排除。</a:t>
            </a:r>
          </a:p>
        </p:txBody>
      </p:sp>
      <p:sp>
        <p:nvSpPr>
          <p:cNvPr id="19" name="Google Shape;230;p30">
            <a:extLst>
              <a:ext uri="{FF2B5EF4-FFF2-40B4-BE49-F238E27FC236}">
                <a16:creationId xmlns:a16="http://schemas.microsoft.com/office/drawing/2014/main" id="{E1AD1932-A923-94FB-88D8-1ECDE6D6B033}"/>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848E7050-8394-39E3-8A0D-D04D2C8EFDC6}"/>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E5351F16-DD03-1667-C861-B018E4702D45}"/>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0DF78DE2-70C9-3F1C-4634-D47E5ACB8C9C}"/>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CCEF75AE-1B0F-5A56-9149-216DB3AE465D}"/>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9674B14A-389B-C86B-6B09-BEDD10D50399}"/>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5" action="ppaction://hlinksldjump"/>
            <a:extLst>
              <a:ext uri="{FF2B5EF4-FFF2-40B4-BE49-F238E27FC236}">
                <a16:creationId xmlns:a16="http://schemas.microsoft.com/office/drawing/2014/main" id="{575A58EB-B565-6FCD-E803-4E0C70248A39}"/>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234;p30">
            <a:hlinkClick r:id="" action="ppaction://hlinkshowjump?jump=firstslide"/>
            <a:extLst>
              <a:ext uri="{FF2B5EF4-FFF2-40B4-BE49-F238E27FC236}">
                <a16:creationId xmlns:a16="http://schemas.microsoft.com/office/drawing/2014/main" id="{D145CCE3-2495-A442-7ACC-36F18667C623}"/>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6" action="ppaction://hlinksldjump"/>
            <a:extLst>
              <a:ext uri="{FF2B5EF4-FFF2-40B4-BE49-F238E27FC236}">
                <a16:creationId xmlns:a16="http://schemas.microsoft.com/office/drawing/2014/main" id="{DC02B532-B992-1973-9482-AE24F728E7B7}"/>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387C9168-1D1B-4B8E-E3EE-BAE6991A7708}"/>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7" action="ppaction://hlinksldjump"/>
            <a:extLst>
              <a:ext uri="{FF2B5EF4-FFF2-40B4-BE49-F238E27FC236}">
                <a16:creationId xmlns:a16="http://schemas.microsoft.com/office/drawing/2014/main" id="{DFB7A253-3A87-8823-4558-0DF0DFC40AD3}"/>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52389E0D-E838-8E65-040F-90B07E0B628C}"/>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8" action="ppaction://hlinksldjump"/>
            <a:extLst>
              <a:ext uri="{FF2B5EF4-FFF2-40B4-BE49-F238E27FC236}">
                <a16:creationId xmlns:a16="http://schemas.microsoft.com/office/drawing/2014/main" id="{A630E50D-03D3-E3CF-2D96-09A47AE048B5}"/>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83296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2/13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2. </a:t>
            </a:r>
            <a:r>
              <a:rPr lang="zh-TW" altLang="en-US" sz="1600" b="1" dirty="0">
                <a:solidFill>
                  <a:srgbClr val="C00000"/>
                </a:solidFill>
                <a:latin typeface="Times New Roman" panose="02020603050405020304" pitchFamily="18" charset="0"/>
                <a:ea typeface="標楷體" panose="03000509000000000000" pitchFamily="65" charset="-120"/>
              </a:rPr>
              <a:t>調整時間確定性活動重疊限制</a:t>
            </a:r>
          </a:p>
        </p:txBody>
      </p:sp>
      <p:sp>
        <p:nvSpPr>
          <p:cNvPr id="18" name="文字方塊 17">
            <a:extLst>
              <a:ext uri="{FF2B5EF4-FFF2-40B4-BE49-F238E27FC236}">
                <a16:creationId xmlns:a16="http://schemas.microsoft.com/office/drawing/2014/main" id="{C34B61AB-DB6D-53BD-DAA9-7BCCCBFEAEBD}"/>
              </a:ext>
            </a:extLst>
          </p:cNvPr>
          <p:cNvSpPr txBox="1"/>
          <p:nvPr/>
        </p:nvSpPr>
        <p:spPr>
          <a:xfrm>
            <a:off x="86560" y="1239533"/>
            <a:ext cx="8628561" cy="3347519"/>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測試人員測試反應，當待排程的活動中有活動重疊，便有可能使整體排程時間較長，因此希望可以針對這部分做調整。</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透過前處理的方式檢查已經</a:t>
            </a:r>
            <a:r>
              <a:rPr lang="zh-TW" altLang="en-US" dirty="0">
                <a:solidFill>
                  <a:srgbClr val="C00000"/>
                </a:solidFill>
                <a:latin typeface="Times New Roman" panose="02020603050405020304" pitchFamily="18" charset="0"/>
                <a:ea typeface="標楷體" panose="03000509000000000000" pitchFamily="65" charset="-120"/>
              </a:rPr>
              <a:t>確定執行起迄時間的活動</a:t>
            </a:r>
            <a:r>
              <a:rPr lang="zh-TW" altLang="en-US" dirty="0">
                <a:latin typeface="Times New Roman" panose="02020603050405020304" pitchFamily="18" charset="0"/>
                <a:ea typeface="標楷體" panose="03000509000000000000" pitchFamily="65" charset="-120"/>
              </a:rPr>
              <a:t>間，是否有重疊的現象。</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若發現有重疊，便會將重疊的兩活動間按照</a:t>
            </a:r>
            <a:r>
              <a:rPr lang="en-US" altLang="zh-TW" b="1" dirty="0" err="1">
                <a:solidFill>
                  <a:srgbClr val="C00000"/>
                </a:solidFill>
                <a:latin typeface="Times New Roman" panose="02020603050405020304" pitchFamily="18" charset="0"/>
                <a:ea typeface="標楷體" panose="03000509000000000000" pitchFamily="65" charset="-120"/>
              </a:rPr>
              <a:t>schedueled</a:t>
            </a:r>
            <a:r>
              <a:rPr lang="zh-TW" altLang="en-US" dirty="0">
                <a:latin typeface="Times New Roman" panose="02020603050405020304" pitchFamily="18" charset="0"/>
                <a:ea typeface="標楷體" panose="03000509000000000000" pitchFamily="65" charset="-120"/>
              </a:rPr>
              <a:t>（活動是否已排程，已排程優先）→</a:t>
            </a:r>
            <a:r>
              <a:rPr lang="en-US" altLang="zh-TW" b="1" dirty="0" err="1">
                <a:solidFill>
                  <a:srgbClr val="C00000"/>
                </a:solidFill>
                <a:latin typeface="Times New Roman" panose="02020603050405020304" pitchFamily="18" charset="0"/>
                <a:ea typeface="標楷體" panose="03000509000000000000" pitchFamily="65" charset="-120"/>
              </a:rPr>
              <a:t>config.priority</a:t>
            </a:r>
            <a:r>
              <a:rPr lang="zh-TW" altLang="en-US" dirty="0">
                <a:latin typeface="Times New Roman" panose="02020603050405020304" pitchFamily="18" charset="0"/>
                <a:ea typeface="標楷體" panose="03000509000000000000" pitchFamily="65" charset="-120"/>
              </a:rPr>
              <a:t>（使用者於</a:t>
            </a:r>
            <a:r>
              <a:rPr lang="en-US" altLang="zh-TW" dirty="0">
                <a:latin typeface="Times New Roman" panose="02020603050405020304" pitchFamily="18" charset="0"/>
                <a:ea typeface="標楷體" panose="03000509000000000000" pitchFamily="65" charset="-120"/>
              </a:rPr>
              <a:t>config</a:t>
            </a:r>
            <a:r>
              <a:rPr lang="zh-TW" altLang="en-US" dirty="0">
                <a:latin typeface="Times New Roman" panose="02020603050405020304" pitchFamily="18" charset="0"/>
                <a:ea typeface="標楷體" panose="03000509000000000000" pitchFamily="65" charset="-120"/>
              </a:rPr>
              <a:t>中設定各活動類型的優先順序，順序較高者優先）→</a:t>
            </a:r>
            <a:r>
              <a:rPr lang="zh-TW" altLang="en-US" b="1" dirty="0">
                <a:solidFill>
                  <a:srgbClr val="C00000"/>
                </a:solidFill>
                <a:latin typeface="Times New Roman" panose="02020603050405020304" pitchFamily="18" charset="0"/>
                <a:ea typeface="標楷體" panose="03000509000000000000" pitchFamily="65" charset="-120"/>
              </a:rPr>
              <a:t>活動</a:t>
            </a:r>
            <a:r>
              <a:rPr lang="en-US" altLang="zh-TW" b="1" dirty="0" err="1">
                <a:solidFill>
                  <a:srgbClr val="C00000"/>
                </a:solidFill>
                <a:latin typeface="Times New Roman" panose="02020603050405020304" pitchFamily="18" charset="0"/>
                <a:ea typeface="標楷體" panose="03000509000000000000" pitchFamily="65" charset="-120"/>
              </a:rPr>
              <a:t>starttime</a:t>
            </a:r>
            <a:r>
              <a:rPr lang="zh-TW" altLang="en-US" dirty="0">
                <a:latin typeface="Times New Roman" panose="02020603050405020304" pitchFamily="18" charset="0"/>
                <a:ea typeface="標楷體" panose="03000509000000000000" pitchFamily="65" charset="-120"/>
              </a:rPr>
              <a:t>（活動開始時間較早者優先）進行排序，排序較前的將會強制執行，排序較後面者則強制不執行。</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效能問題有獲得改善。</a:t>
            </a:r>
          </a:p>
        </p:txBody>
      </p:sp>
      <p:sp>
        <p:nvSpPr>
          <p:cNvPr id="19" name="Google Shape;230;p30">
            <a:extLst>
              <a:ext uri="{FF2B5EF4-FFF2-40B4-BE49-F238E27FC236}">
                <a16:creationId xmlns:a16="http://schemas.microsoft.com/office/drawing/2014/main" id="{D2477B9C-46E7-0C76-00F7-8C0A38D3D0C0}"/>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865EC020-B2B1-DF9A-8B4D-B748A360B270}"/>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D52A490B-048A-26A9-AA53-2AB9625EB36F}"/>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94E494F1-BFCE-1DF3-E03D-F593ECBA74EC}"/>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C2463AE4-3993-F960-E382-AD7FDF7E9FA9}"/>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0F9274A8-CB6D-45AB-A7A8-3C23D402B9A6}"/>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3E2C10EF-6D0B-33D9-D0B7-800C5444C03F}"/>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4AD2AD50-8296-52F3-61C3-292A953D16FA}"/>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2302EB51-E9CB-3B27-4499-6D637526D2B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ACFCCFF0-C264-CC37-31C7-385A2F870C5D}"/>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9388C49E-1257-D2C9-043E-7BA2FCC1A58C}"/>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D623363F-96C6-CB79-A578-6AC8001F5A90}"/>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F9C9E79E-0EFD-6B2B-5A41-E89B4F636C22}"/>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79300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3/13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2. </a:t>
            </a:r>
            <a:r>
              <a:rPr lang="zh-TW" altLang="en-US" sz="1600" b="1" dirty="0">
                <a:solidFill>
                  <a:srgbClr val="C00000"/>
                </a:solidFill>
                <a:latin typeface="Times New Roman" panose="02020603050405020304" pitchFamily="18" charset="0"/>
                <a:ea typeface="標楷體" panose="03000509000000000000" pitchFamily="65" charset="-120"/>
              </a:rPr>
              <a:t>調整時間確定性活動重疊限制</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C20D467F-B70D-5405-CC28-CFCB253529A1}"/>
                  </a:ext>
                </a:extLst>
              </p:cNvPr>
              <p:cNvGraphicFramePr>
                <a:graphicFrameLocks noGrp="1"/>
              </p:cNvGraphicFramePr>
              <p:nvPr>
                <p:extLst>
                  <p:ext uri="{D42A27DB-BD31-4B8C-83A1-F6EECF244321}">
                    <p14:modId xmlns:p14="http://schemas.microsoft.com/office/powerpoint/2010/main" val="3410062159"/>
                  </p:ext>
                </p:extLst>
              </p:nvPr>
            </p:nvGraphicFramePr>
            <p:xfrm>
              <a:off x="807489" y="1669469"/>
              <a:ext cx="7405110" cy="2276285"/>
            </p:xfrm>
            <a:graphic>
              <a:graphicData uri="http://schemas.openxmlformats.org/drawingml/2006/table">
                <a:tbl>
                  <a:tblPr firstRow="1" firstCol="1" bandRow="1">
                    <a:tableStyleId>{8B193ECF-1327-48E1-8871-2513AA109082}</a:tableStyleId>
                  </a:tblPr>
                  <a:tblGrid>
                    <a:gridCol w="4491977">
                      <a:extLst>
                        <a:ext uri="{9D8B030D-6E8A-4147-A177-3AD203B41FA5}">
                          <a16:colId xmlns:a16="http://schemas.microsoft.com/office/drawing/2014/main" val="4226184481"/>
                        </a:ext>
                      </a:extLst>
                    </a:gridCol>
                    <a:gridCol w="2913133">
                      <a:extLst>
                        <a:ext uri="{9D8B030D-6E8A-4147-A177-3AD203B41FA5}">
                          <a16:colId xmlns:a16="http://schemas.microsoft.com/office/drawing/2014/main" val="1247088669"/>
                        </a:ext>
                      </a:extLst>
                    </a:gridCol>
                  </a:tblGrid>
                  <a:tr h="323850">
                    <a:tc gridSpan="2">
                      <a:txBody>
                        <a:bodyPr/>
                        <a:lstStyle/>
                        <a:p>
                          <a:pPr algn="l"/>
                          <a:r>
                            <a:rPr lang="zh-TW" alt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原先</a:t>
                          </a:r>
                          <a:r>
                            <a:rPr lang="zh-TW" sz="1400" b="1" kern="0" dirty="0">
                              <a:effectLst/>
                              <a:latin typeface="Times New Roman" panose="02020603050405020304" pitchFamily="18" charset="0"/>
                              <a:ea typeface="標楷體" panose="03000509000000000000" pitchFamily="65" charset="-120"/>
                              <a:cs typeface="Times New Roman" panose="02020603050405020304" pitchFamily="18" charset="0"/>
                            </a:rPr>
                            <a:t>活動重疊限制</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3915209408"/>
                      </a:ext>
                    </a:extLst>
                  </a:tr>
                  <a:tr h="0">
                    <a:tc>
                      <a:txBody>
                        <a:bodyPr/>
                        <a:lstStyle/>
                        <a:p>
                          <a:pPr algn="l">
                            <a:lnSpc>
                              <a:spcPct val="15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𝑑𝑢𝑟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r>
                                  <a:rPr lang="en-US" sz="1400" kern="0">
                                    <a:effectLst/>
                                    <a:latin typeface="Cambria Math" panose="02040503050406030204" pitchFamily="18" charset="0"/>
                                  </a:rPr>
                                  <m:t>𝑀</m:t>
                                </m:r>
                                <m:r>
                                  <a:rPr lang="en-US" sz="1400" kern="0">
                                    <a:effectLst/>
                                    <a:latin typeface="Cambria Math" panose="02040503050406030204" pitchFamily="18" charset="0"/>
                                  </a:rPr>
                                  <m:t>(1−</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l">
                            <a:lnSpc>
                              <a:spcPct val="150000"/>
                            </a:lnSpc>
                            <a:spcBef>
                              <a:spcPts val="600"/>
                            </a:spcBef>
                            <a:spcAft>
                              <a:spcPts val="600"/>
                            </a:spcAft>
                          </a:pP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𝑖</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A,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78030482"/>
                      </a:ext>
                    </a:extLst>
                  </a:tr>
                  <a:tr h="0">
                    <a:tc>
                      <a:txBody>
                        <a:bodyPr/>
                        <a:lstStyle/>
                        <a:p>
                          <a:pPr algn="l">
                            <a:lnSpc>
                              <a:spcPct val="15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𝑑𝑢𝑟</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r>
                                  <a:rPr lang="en-US" sz="1400" kern="0">
                                    <a:effectLst/>
                                    <a:latin typeface="Cambria Math" panose="02040503050406030204" pitchFamily="18" charset="0"/>
                                  </a:rPr>
                                  <m:t>𝑀</m:t>
                                </m:r>
                                <m:r>
                                  <a:rPr lang="en-US" sz="1400" kern="0">
                                    <a:effectLst/>
                                    <a:latin typeface="Cambria Math" panose="02040503050406030204" pitchFamily="18" charset="0"/>
                                  </a:rPr>
                                  <m:t>(1−</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𝑏</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l">
                            <a:lnSpc>
                              <a:spcPct val="150000"/>
                            </a:lnSpc>
                            <a:spcBef>
                              <a:spcPts val="600"/>
                            </a:spcBef>
                            <a:spcAft>
                              <a:spcPts val="600"/>
                            </a:spcAft>
                          </a:pP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𝑖</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A,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377660407"/>
                      </a:ext>
                    </a:extLst>
                  </a:tr>
                  <a:tr h="0">
                    <a:tc>
                      <a:txBody>
                        <a:bodyPr/>
                        <a:lstStyle/>
                        <a:p>
                          <a:pPr algn="l">
                            <a:lnSpc>
                              <a:spcPct val="15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𝑏</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+1</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l">
                            <a:lnSpc>
                              <a:spcPct val="150000"/>
                            </a:lnSpc>
                            <a:spcBef>
                              <a:spcPts val="600"/>
                            </a:spcBef>
                            <a:spcAft>
                              <a:spcPts val="600"/>
                            </a:spcAft>
                          </a:pP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𝑖</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A,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𝐴𝐶𝑇𝐼𝑉𝐼𝑇𝑌</m:t>
                              </m:r>
                            </m:oMath>
                          </a14:m>
                          <a:r>
                            <a:rPr lang="zh-TW" sz="1400" kern="0" dirty="0">
                              <a:effectLst/>
                              <a:latin typeface="Times New Roman" panose="02020603050405020304" pitchFamily="18" charset="0"/>
                              <a:ea typeface="標楷體" panose="03000509000000000000" pitchFamily="65" charset="-120"/>
                              <a:cs typeface="Times New Roman" panose="02020603050405020304" pitchFamily="18" charset="0"/>
                            </a:rPr>
                            <a:t>的其一子集合</a:t>
                          </a:r>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B</a:t>
                          </a:r>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240372189"/>
                      </a:ext>
                    </a:extLst>
                  </a:tr>
                </a:tbl>
              </a:graphicData>
            </a:graphic>
          </p:graphicFrame>
        </mc:Choice>
        <mc:Fallback xmlns="">
          <p:graphicFrame>
            <p:nvGraphicFramePr>
              <p:cNvPr id="19" name="表格 18">
                <a:extLst>
                  <a:ext uri="{FF2B5EF4-FFF2-40B4-BE49-F238E27FC236}">
                    <a16:creationId xmlns:a16="http://schemas.microsoft.com/office/drawing/2014/main" id="{C20D467F-B70D-5405-CC28-CFCB253529A1}"/>
                  </a:ext>
                </a:extLst>
              </p:cNvPr>
              <p:cNvGraphicFramePr>
                <a:graphicFrameLocks noGrp="1"/>
              </p:cNvGraphicFramePr>
              <p:nvPr>
                <p:extLst>
                  <p:ext uri="{D42A27DB-BD31-4B8C-83A1-F6EECF244321}">
                    <p14:modId xmlns:p14="http://schemas.microsoft.com/office/powerpoint/2010/main" val="3410062159"/>
                  </p:ext>
                </p:extLst>
              </p:nvPr>
            </p:nvGraphicFramePr>
            <p:xfrm>
              <a:off x="807489" y="1669469"/>
              <a:ext cx="7405110" cy="2290001"/>
            </p:xfrm>
            <a:graphic>
              <a:graphicData uri="http://schemas.openxmlformats.org/drawingml/2006/table">
                <a:tbl>
                  <a:tblPr firstRow="1" firstCol="1" bandRow="1">
                    <a:tableStyleId>{8B193ECF-1327-48E1-8871-2513AA109082}</a:tableStyleId>
                  </a:tblPr>
                  <a:tblGrid>
                    <a:gridCol w="4491977">
                      <a:extLst>
                        <a:ext uri="{9D8B030D-6E8A-4147-A177-3AD203B41FA5}">
                          <a16:colId xmlns:a16="http://schemas.microsoft.com/office/drawing/2014/main" val="4226184481"/>
                        </a:ext>
                      </a:extLst>
                    </a:gridCol>
                    <a:gridCol w="2913133">
                      <a:extLst>
                        <a:ext uri="{9D8B030D-6E8A-4147-A177-3AD203B41FA5}">
                          <a16:colId xmlns:a16="http://schemas.microsoft.com/office/drawing/2014/main" val="1247088669"/>
                        </a:ext>
                      </a:extLst>
                    </a:gridCol>
                  </a:tblGrid>
                  <a:tr h="323850">
                    <a:tc gridSpan="2">
                      <a:txBody>
                        <a:bodyPr/>
                        <a:lstStyle/>
                        <a:p>
                          <a:pPr algn="l"/>
                          <a:r>
                            <a:rPr lang="zh-TW" alt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原先</a:t>
                          </a:r>
                          <a:r>
                            <a:rPr lang="zh-TW" sz="1400" b="1" kern="0" dirty="0">
                              <a:effectLst/>
                              <a:latin typeface="Times New Roman" panose="02020603050405020304" pitchFamily="18" charset="0"/>
                              <a:ea typeface="標楷體" panose="03000509000000000000" pitchFamily="65" charset="-120"/>
                              <a:cs typeface="Times New Roman" panose="02020603050405020304" pitchFamily="18" charset="0"/>
                            </a:rPr>
                            <a:t>活動重疊限制</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3915209408"/>
                      </a:ext>
                    </a:extLst>
                  </a:tr>
                  <a:tr h="663067">
                    <a:tc>
                      <a:txBody>
                        <a:bodyPr/>
                        <a:lstStyle/>
                        <a:p>
                          <a:endParaRPr lang="zh-TW"/>
                        </a:p>
                      </a:txBody>
                      <a:tcPr marL="68580" marR="68580" marT="0" marB="0" anchor="ctr">
                        <a:blipFill>
                          <a:blip r:embed="rId3"/>
                          <a:stretch>
                            <a:fillRect l="-136" t="-48624" r="-64905" b="-213761"/>
                          </a:stretch>
                        </a:blipFill>
                      </a:tcPr>
                    </a:tc>
                    <a:tc>
                      <a:txBody>
                        <a:bodyPr/>
                        <a:lstStyle/>
                        <a:p>
                          <a:endParaRPr lang="zh-TW"/>
                        </a:p>
                      </a:txBody>
                      <a:tcPr marL="68580" marR="68580" marT="0" marB="0" anchor="ctr">
                        <a:blipFill>
                          <a:blip r:embed="rId3"/>
                          <a:stretch>
                            <a:fillRect l="-154603" t="-48624" r="-209" b="-213761"/>
                          </a:stretch>
                        </a:blipFill>
                      </a:tcPr>
                    </a:tc>
                    <a:extLst>
                      <a:ext uri="{0D108BD9-81ED-4DB2-BD59-A6C34878D82A}">
                        <a16:rowId xmlns:a16="http://schemas.microsoft.com/office/drawing/2014/main" val="278030482"/>
                      </a:ext>
                    </a:extLst>
                  </a:tr>
                  <a:tr h="700659">
                    <a:tc>
                      <a:txBody>
                        <a:bodyPr/>
                        <a:lstStyle/>
                        <a:p>
                          <a:endParaRPr lang="zh-TW"/>
                        </a:p>
                      </a:txBody>
                      <a:tcPr marL="68580" marR="68580" marT="0" marB="0" anchor="ctr">
                        <a:blipFill>
                          <a:blip r:embed="rId3"/>
                          <a:stretch>
                            <a:fillRect l="-136" t="-139655" r="-64905" b="-100862"/>
                          </a:stretch>
                        </a:blipFill>
                      </a:tcPr>
                    </a:tc>
                    <a:tc>
                      <a:txBody>
                        <a:bodyPr/>
                        <a:lstStyle/>
                        <a:p>
                          <a:endParaRPr lang="zh-TW"/>
                        </a:p>
                      </a:txBody>
                      <a:tcPr marL="68580" marR="68580" marT="0" marB="0" anchor="ctr">
                        <a:blipFill>
                          <a:blip r:embed="rId3"/>
                          <a:stretch>
                            <a:fillRect l="-154603" t="-139655" r="-209" b="-100862"/>
                          </a:stretch>
                        </a:blipFill>
                      </a:tcPr>
                    </a:tc>
                    <a:extLst>
                      <a:ext uri="{0D108BD9-81ED-4DB2-BD59-A6C34878D82A}">
                        <a16:rowId xmlns:a16="http://schemas.microsoft.com/office/drawing/2014/main" val="1377660407"/>
                      </a:ext>
                    </a:extLst>
                  </a:tr>
                  <a:tr h="602425">
                    <a:tc>
                      <a:txBody>
                        <a:bodyPr/>
                        <a:lstStyle/>
                        <a:p>
                          <a:endParaRPr lang="zh-TW"/>
                        </a:p>
                      </a:txBody>
                      <a:tcPr marL="68580" marR="68580" marT="0" marB="0" anchor="ctr">
                        <a:blipFill>
                          <a:blip r:embed="rId3"/>
                          <a:stretch>
                            <a:fillRect l="-136" t="-280808" r="-64905" b="-18182"/>
                          </a:stretch>
                        </a:blipFill>
                      </a:tcPr>
                    </a:tc>
                    <a:tc>
                      <a:txBody>
                        <a:bodyPr/>
                        <a:lstStyle/>
                        <a:p>
                          <a:endParaRPr lang="zh-TW"/>
                        </a:p>
                      </a:txBody>
                      <a:tcPr marL="68580" marR="68580" marT="0" marB="0" anchor="ctr">
                        <a:blipFill>
                          <a:blip r:embed="rId3"/>
                          <a:stretch>
                            <a:fillRect l="-154603" t="-280808" r="-209" b="-18182"/>
                          </a:stretch>
                        </a:blipFill>
                      </a:tcPr>
                    </a:tc>
                    <a:extLst>
                      <a:ext uri="{0D108BD9-81ED-4DB2-BD59-A6C34878D82A}">
                        <a16:rowId xmlns:a16="http://schemas.microsoft.com/office/drawing/2014/main" val="3240372189"/>
                      </a:ext>
                    </a:extLst>
                  </a:tr>
                </a:tbl>
              </a:graphicData>
            </a:graphic>
          </p:graphicFrame>
        </mc:Fallback>
      </mc:AlternateContent>
      <p:sp>
        <p:nvSpPr>
          <p:cNvPr id="20" name="Google Shape;230;p30">
            <a:extLst>
              <a:ext uri="{FF2B5EF4-FFF2-40B4-BE49-F238E27FC236}">
                <a16:creationId xmlns:a16="http://schemas.microsoft.com/office/drawing/2014/main" id="{256EC45D-7E93-550A-E5D7-8A4F2C08715F}"/>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4;p30">
            <a:hlinkClick r:id="" action="ppaction://hlinkshowjump?jump=firstslide"/>
            <a:extLst>
              <a:ext uri="{FF2B5EF4-FFF2-40B4-BE49-F238E27FC236}">
                <a16:creationId xmlns:a16="http://schemas.microsoft.com/office/drawing/2014/main" id="{E0DD68C3-FC39-179E-83C7-CC0E0EE7ECC6}"/>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Google Shape;234;p30">
            <a:hlinkClick r:id="" action="ppaction://hlinkshowjump?jump=firstslide"/>
            <a:extLst>
              <a:ext uri="{FF2B5EF4-FFF2-40B4-BE49-F238E27FC236}">
                <a16:creationId xmlns:a16="http://schemas.microsoft.com/office/drawing/2014/main" id="{73357A45-2C2E-D0C5-D140-5CA46E42907B}"/>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矩形 22">
            <a:hlinkClick r:id="rId4" action="ppaction://hlinksldjump"/>
            <a:extLst>
              <a:ext uri="{FF2B5EF4-FFF2-40B4-BE49-F238E27FC236}">
                <a16:creationId xmlns:a16="http://schemas.microsoft.com/office/drawing/2014/main" id="{C703539F-FB95-C2B3-2473-510306879ACE}"/>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hlinkClick r:id="rId5" action="ppaction://hlinksldjump"/>
            <a:extLst>
              <a:ext uri="{FF2B5EF4-FFF2-40B4-BE49-F238E27FC236}">
                <a16:creationId xmlns:a16="http://schemas.microsoft.com/office/drawing/2014/main" id="{541AE3A4-EDEC-5150-73B5-07DA07D2FC5D}"/>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Google Shape;234;p30">
            <a:hlinkClick r:id="" action="ppaction://hlinkshowjump?jump=firstslide"/>
            <a:extLst>
              <a:ext uri="{FF2B5EF4-FFF2-40B4-BE49-F238E27FC236}">
                <a16:creationId xmlns:a16="http://schemas.microsoft.com/office/drawing/2014/main" id="{6F6494A8-79E3-7BD8-AD67-B3870750B72E}"/>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6" action="ppaction://hlinksldjump"/>
            <a:extLst>
              <a:ext uri="{FF2B5EF4-FFF2-40B4-BE49-F238E27FC236}">
                <a16:creationId xmlns:a16="http://schemas.microsoft.com/office/drawing/2014/main" id="{E905208C-7620-4C22-BD11-D636D4BEBE1D}"/>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234;p30">
            <a:hlinkClick r:id="" action="ppaction://hlinkshowjump?jump=firstslide"/>
            <a:extLst>
              <a:ext uri="{FF2B5EF4-FFF2-40B4-BE49-F238E27FC236}">
                <a16:creationId xmlns:a16="http://schemas.microsoft.com/office/drawing/2014/main" id="{9900B113-55AA-7833-5930-0E83BC3FC0F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7" action="ppaction://hlinksldjump"/>
            <a:extLst>
              <a:ext uri="{FF2B5EF4-FFF2-40B4-BE49-F238E27FC236}">
                <a16:creationId xmlns:a16="http://schemas.microsoft.com/office/drawing/2014/main" id="{4147BB0B-4609-00FF-4247-E034D296A01A}"/>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A2AB6400-A648-C72B-F4F6-73422082C71B}"/>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8" action="ppaction://hlinksldjump"/>
            <a:extLst>
              <a:ext uri="{FF2B5EF4-FFF2-40B4-BE49-F238E27FC236}">
                <a16:creationId xmlns:a16="http://schemas.microsoft.com/office/drawing/2014/main" id="{80349163-5DF1-C541-70A3-9006BB86EA7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A9AD0D6E-E348-B965-30D9-43ED7B81944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9" action="ppaction://hlinksldjump"/>
            <a:extLst>
              <a:ext uri="{FF2B5EF4-FFF2-40B4-BE49-F238E27FC236}">
                <a16:creationId xmlns:a16="http://schemas.microsoft.com/office/drawing/2014/main" id="{5D96FC55-DC96-5098-4717-3171D3BDA6CF}"/>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4082471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4/13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3. </a:t>
            </a:r>
            <a:r>
              <a:rPr lang="zh-TW" altLang="en-US" sz="1600" b="1" dirty="0">
                <a:solidFill>
                  <a:srgbClr val="C00000"/>
                </a:solidFill>
                <a:latin typeface="Times New Roman" panose="02020603050405020304" pitchFamily="18" charset="0"/>
                <a:ea typeface="標楷體" panose="03000509000000000000" pitchFamily="65" charset="-120"/>
              </a:rPr>
              <a:t>檔名安排出現重複使用狀況</a:t>
            </a:r>
          </a:p>
        </p:txBody>
      </p:sp>
      <p:sp>
        <p:nvSpPr>
          <p:cNvPr id="18" name="文字方塊 17">
            <a:extLst>
              <a:ext uri="{FF2B5EF4-FFF2-40B4-BE49-F238E27FC236}">
                <a16:creationId xmlns:a16="http://schemas.microsoft.com/office/drawing/2014/main" id="{58A5599B-2A75-E499-960B-AEC61AE2BDC6}"/>
              </a:ext>
            </a:extLst>
          </p:cNvPr>
          <p:cNvSpPr txBox="1"/>
          <p:nvPr/>
        </p:nvSpPr>
        <p:spPr>
          <a:xfrm>
            <a:off x="22753" y="1100750"/>
            <a:ext cx="9008888" cy="669863"/>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當有一組需要重新排程的拍照活動夾於已排程的拍照活動間，檔名的安排上可能會出現重複使用的狀況。</a:t>
            </a:r>
            <a:endParaRPr lang="en-US" altLang="zh-TW" dirty="0">
              <a:latin typeface="Times New Roman" panose="02020603050405020304" pitchFamily="18" charset="0"/>
              <a:ea typeface="標楷體" panose="03000509000000000000" pitchFamily="65" charset="-120"/>
            </a:endParaRPr>
          </a:p>
        </p:txBody>
      </p:sp>
      <p:sp>
        <p:nvSpPr>
          <p:cNvPr id="19" name="Google Shape;230;p30">
            <a:extLst>
              <a:ext uri="{FF2B5EF4-FFF2-40B4-BE49-F238E27FC236}">
                <a16:creationId xmlns:a16="http://schemas.microsoft.com/office/drawing/2014/main" id="{66DBD482-29D0-76B9-FD11-556B753F5FAE}"/>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17D5BFC0-9430-5935-77D1-EFDFAACE09A0}"/>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35DBB8D5-4519-F12E-C11D-A07240C592B4}"/>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4A4894D7-4A06-8805-336B-89C0A97657C4}"/>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87504287-52F9-F2EB-94C7-CAB435C6CA0A}"/>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F7F78332-8783-26AB-80AF-FDB777494D8A}"/>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26B1ACDB-36C0-BB1A-154A-F52F1F3BA2C7}"/>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4AFE99F2-DC0E-040E-2CBE-E5EAC5503AD5}"/>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2B5349BE-4853-BEDF-C41D-B6420ABA0467}"/>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DD838FB3-36C1-9319-699D-3CAD32FB538D}"/>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0478BA8F-465F-C3D5-361A-3003B33A8E00}"/>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585465C8-C923-0D13-CE3C-A934A336C813}"/>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B216D7FA-610D-92A0-8EB5-616A0FDEA5C5}"/>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887510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5/13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3. </a:t>
            </a:r>
            <a:r>
              <a:rPr lang="zh-TW" altLang="en-US" sz="1600" b="1" dirty="0">
                <a:solidFill>
                  <a:srgbClr val="C00000"/>
                </a:solidFill>
                <a:latin typeface="Times New Roman" panose="02020603050405020304" pitchFamily="18" charset="0"/>
                <a:ea typeface="標楷體" panose="03000509000000000000" pitchFamily="65" charset="-120"/>
              </a:rPr>
              <a:t>檔名安排出現重複使用狀況</a:t>
            </a:r>
          </a:p>
        </p:txBody>
      </p:sp>
      <p:graphicFrame>
        <p:nvGraphicFramePr>
          <p:cNvPr id="19" name="表格 18">
            <a:extLst>
              <a:ext uri="{FF2B5EF4-FFF2-40B4-BE49-F238E27FC236}">
                <a16:creationId xmlns:a16="http://schemas.microsoft.com/office/drawing/2014/main" id="{548C4A69-CC07-5C4B-1B56-637A7570BF8A}"/>
              </a:ext>
            </a:extLst>
          </p:cNvPr>
          <p:cNvGraphicFramePr>
            <a:graphicFrameLocks noGrp="1"/>
          </p:cNvGraphicFramePr>
          <p:nvPr>
            <p:extLst>
              <p:ext uri="{D42A27DB-BD31-4B8C-83A1-F6EECF244321}">
                <p14:modId xmlns:p14="http://schemas.microsoft.com/office/powerpoint/2010/main" val="3520385248"/>
              </p:ext>
            </p:extLst>
          </p:nvPr>
        </p:nvGraphicFramePr>
        <p:xfrm>
          <a:off x="711330" y="1443570"/>
          <a:ext cx="8140581" cy="3416298"/>
        </p:xfrm>
        <a:graphic>
          <a:graphicData uri="http://schemas.openxmlformats.org/drawingml/2006/table">
            <a:tbl>
              <a:tblPr firstRow="1" firstCol="1" bandRow="1">
                <a:tableStyleId>{8B193ECF-1327-48E1-8871-2513AA109082}</a:tableStyleId>
              </a:tblPr>
              <a:tblGrid>
                <a:gridCol w="586750">
                  <a:extLst>
                    <a:ext uri="{9D8B030D-6E8A-4147-A177-3AD203B41FA5}">
                      <a16:colId xmlns:a16="http://schemas.microsoft.com/office/drawing/2014/main" val="1957703246"/>
                    </a:ext>
                  </a:extLst>
                </a:gridCol>
                <a:gridCol w="1640596">
                  <a:extLst>
                    <a:ext uri="{9D8B030D-6E8A-4147-A177-3AD203B41FA5}">
                      <a16:colId xmlns:a16="http://schemas.microsoft.com/office/drawing/2014/main" val="21025459"/>
                    </a:ext>
                  </a:extLst>
                </a:gridCol>
                <a:gridCol w="1640596">
                  <a:extLst>
                    <a:ext uri="{9D8B030D-6E8A-4147-A177-3AD203B41FA5}">
                      <a16:colId xmlns:a16="http://schemas.microsoft.com/office/drawing/2014/main" val="3121064130"/>
                    </a:ext>
                  </a:extLst>
                </a:gridCol>
                <a:gridCol w="853450">
                  <a:extLst>
                    <a:ext uri="{9D8B030D-6E8A-4147-A177-3AD203B41FA5}">
                      <a16:colId xmlns:a16="http://schemas.microsoft.com/office/drawing/2014/main" val="1243925021"/>
                    </a:ext>
                  </a:extLst>
                </a:gridCol>
                <a:gridCol w="912188">
                  <a:extLst>
                    <a:ext uri="{9D8B030D-6E8A-4147-A177-3AD203B41FA5}">
                      <a16:colId xmlns:a16="http://schemas.microsoft.com/office/drawing/2014/main" val="1774784185"/>
                    </a:ext>
                  </a:extLst>
                </a:gridCol>
                <a:gridCol w="855038">
                  <a:extLst>
                    <a:ext uri="{9D8B030D-6E8A-4147-A177-3AD203B41FA5}">
                      <a16:colId xmlns:a16="http://schemas.microsoft.com/office/drawing/2014/main" val="3857629047"/>
                    </a:ext>
                  </a:extLst>
                </a:gridCol>
                <a:gridCol w="1651963">
                  <a:extLst>
                    <a:ext uri="{9D8B030D-6E8A-4147-A177-3AD203B41FA5}">
                      <a16:colId xmlns:a16="http://schemas.microsoft.com/office/drawing/2014/main" val="4006183118"/>
                    </a:ext>
                  </a:extLst>
                </a:gridCol>
              </a:tblGrid>
              <a:tr h="425331">
                <a:tc>
                  <a:txBody>
                    <a:bodyPr/>
                    <a:lstStyle/>
                    <a:p>
                      <a:pPr algn="ctr">
                        <a:lnSpc>
                          <a:spcPct val="150000"/>
                        </a:lnSpc>
                        <a:spcBef>
                          <a:spcPts val="600"/>
                        </a:spcBef>
                        <a:spcAft>
                          <a:spcPts val="600"/>
                        </a:spcAft>
                      </a:pPr>
                      <a:r>
                        <a:rPr lang="en-US" sz="1400" b="1" kern="100" dirty="0">
                          <a:effectLst/>
                          <a:latin typeface="Times New Roman" panose="02020603050405020304" pitchFamily="18" charset="0"/>
                          <a:cs typeface="Times New Roman" panose="02020603050405020304" pitchFamily="18" charset="0"/>
                        </a:rPr>
                        <a:t>id</a:t>
                      </a:r>
                      <a:endParaRPr 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dirty="0" err="1">
                          <a:effectLst/>
                          <a:latin typeface="Times New Roman" panose="02020603050405020304" pitchFamily="18" charset="0"/>
                          <a:cs typeface="Times New Roman" panose="02020603050405020304" pitchFamily="18" charset="0"/>
                        </a:rPr>
                        <a:t>starttime</a:t>
                      </a:r>
                      <a:endParaRPr 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a:effectLst/>
                          <a:latin typeface="Times New Roman" panose="02020603050405020304" pitchFamily="18" charset="0"/>
                          <a:cs typeface="Times New Roman" panose="02020603050405020304" pitchFamily="18" charset="0"/>
                        </a:rPr>
                        <a:t>endtime</a:t>
                      </a:r>
                      <a:endParaRPr lang="zh-TW" sz="1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a:effectLst/>
                          <a:latin typeface="Times New Roman" panose="02020603050405020304" pitchFamily="18" charset="0"/>
                          <a:cs typeface="Times New Roman" panose="02020603050405020304" pitchFamily="18" charset="0"/>
                        </a:rPr>
                        <a:t>name</a:t>
                      </a:r>
                      <a:endParaRPr lang="zh-TW" sz="1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a:effectLst/>
                          <a:latin typeface="Times New Roman" panose="02020603050405020304" pitchFamily="18" charset="0"/>
                          <a:cs typeface="Times New Roman" panose="02020603050405020304" pitchFamily="18" charset="0"/>
                        </a:rPr>
                        <a:t>arlentryid</a:t>
                      </a:r>
                      <a:endParaRPr lang="zh-TW" sz="1400" b="1"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dirty="0">
                          <a:effectLst/>
                          <a:latin typeface="Times New Roman" panose="02020603050405020304" pitchFamily="18" charset="0"/>
                          <a:cs typeface="Times New Roman" panose="02020603050405020304" pitchFamily="18" charset="0"/>
                        </a:rPr>
                        <a:t>scheduled</a:t>
                      </a:r>
                      <a:endParaRPr 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tc>
                  <a:txBody>
                    <a:bodyPr/>
                    <a:lstStyle/>
                    <a:p>
                      <a:pPr algn="ctr">
                        <a:lnSpc>
                          <a:spcPct val="150000"/>
                        </a:lnSpc>
                        <a:spcBef>
                          <a:spcPts val="600"/>
                        </a:spcBef>
                        <a:spcAft>
                          <a:spcPts val="600"/>
                        </a:spcAft>
                      </a:pPr>
                      <a:r>
                        <a:rPr lang="en-US" sz="1400" b="1" kern="100" dirty="0">
                          <a:effectLst/>
                          <a:latin typeface="Times New Roman" panose="02020603050405020304" pitchFamily="18" charset="0"/>
                          <a:cs typeface="Times New Roman" panose="02020603050405020304" pitchFamily="18" charset="0"/>
                        </a:rPr>
                        <a:t>filename</a:t>
                      </a:r>
                      <a:endParaRPr 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bg1">
                        <a:lumMod val="85000"/>
                      </a:schemeClr>
                    </a:solidFill>
                  </a:tcPr>
                </a:tc>
                <a:extLst>
                  <a:ext uri="{0D108BD9-81ED-4DB2-BD59-A6C34878D82A}">
                    <a16:rowId xmlns:a16="http://schemas.microsoft.com/office/drawing/2014/main" val="3371353932"/>
                  </a:ext>
                </a:extLst>
              </a:tr>
              <a:tr h="425331">
                <a:tc gridSpan="7">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3419322"/>
                  </a:ext>
                </a:extLst>
              </a:tr>
              <a:tr h="641409">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10202</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12:04:15</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12:04:27</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RSI_REC</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73056</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96, 97, 98, 99, 100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extLst>
                  <a:ext uri="{0D108BD9-81ED-4DB2-BD59-A6C34878D82A}">
                    <a16:rowId xmlns:a16="http://schemas.microsoft.com/office/drawing/2014/main" val="1209056505"/>
                  </a:ext>
                </a:extLst>
              </a:tr>
              <a:tr h="641409">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10210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12:07:46</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12:07:58</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RSI_REC</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73057</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1</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96, 97, 98, 99, 100</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extLst>
                  <a:ext uri="{0D108BD9-81ED-4DB2-BD59-A6C34878D82A}">
                    <a16:rowId xmlns:a16="http://schemas.microsoft.com/office/drawing/2014/main" val="2427286858"/>
                  </a:ext>
                </a:extLst>
              </a:tr>
              <a:tr h="641409">
                <a:tc>
                  <a:txBody>
                    <a:bodyPr/>
                    <a:lstStyle/>
                    <a:p>
                      <a:pPr algn="ctr">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10216</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2025-11-01 16:51:11</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a:effectLst/>
                          <a:latin typeface="Times New Roman" panose="02020603050405020304" pitchFamily="18" charset="0"/>
                          <a:cs typeface="Times New Roman" panose="02020603050405020304" pitchFamily="18" charset="0"/>
                        </a:rPr>
                        <a:t>2025-11-01 16:51:13</a:t>
                      </a:r>
                      <a:endParaRPr lang="zh-TW" sz="1400" kern="10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RSI_DEL</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73057</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1</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-(96, 97, 98, 99, 100)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chemeClr val="tx2">
                        <a:lumMod val="20000"/>
                        <a:lumOff val="80000"/>
                      </a:schemeClr>
                    </a:solidFill>
                  </a:tcPr>
                </a:tc>
                <a:extLst>
                  <a:ext uri="{0D108BD9-81ED-4DB2-BD59-A6C34878D82A}">
                    <a16:rowId xmlns:a16="http://schemas.microsoft.com/office/drawing/2014/main" val="4251001389"/>
                  </a:ext>
                </a:extLst>
              </a:tr>
              <a:tr h="641409">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10208</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16:51:15</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2025-11-01 16:51:17</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RSI_DEL</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73056</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ctr">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tc>
                  <a:txBody>
                    <a:bodyPr/>
                    <a:lstStyle/>
                    <a:p>
                      <a:pPr algn="just">
                        <a:lnSpc>
                          <a:spcPct val="150000"/>
                        </a:lnSpc>
                        <a:spcBef>
                          <a:spcPts val="600"/>
                        </a:spcBef>
                        <a:spcAft>
                          <a:spcPts val="600"/>
                        </a:spcAft>
                      </a:pPr>
                      <a:r>
                        <a:rPr lang="en-US" sz="1400" kern="100" dirty="0">
                          <a:effectLst/>
                          <a:latin typeface="Times New Roman" panose="02020603050405020304" pitchFamily="18" charset="0"/>
                          <a:cs typeface="Times New Roman" panose="02020603050405020304" pitchFamily="18" charset="0"/>
                        </a:rPr>
                        <a:t>-(96, 97, 98, 99, 100)</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48900" marR="48900" marT="7641" marB="0" anchor="ctr">
                    <a:solidFill>
                      <a:srgbClr val="D9ECFB"/>
                    </a:solidFill>
                  </a:tcPr>
                </a:tc>
                <a:extLst>
                  <a:ext uri="{0D108BD9-81ED-4DB2-BD59-A6C34878D82A}">
                    <a16:rowId xmlns:a16="http://schemas.microsoft.com/office/drawing/2014/main" val="4160090412"/>
                  </a:ext>
                </a:extLst>
              </a:tr>
            </a:tbl>
          </a:graphicData>
        </a:graphic>
      </p:graphicFrame>
      <p:sp>
        <p:nvSpPr>
          <p:cNvPr id="20" name="文字方塊 19">
            <a:extLst>
              <a:ext uri="{FF2B5EF4-FFF2-40B4-BE49-F238E27FC236}">
                <a16:creationId xmlns:a16="http://schemas.microsoft.com/office/drawing/2014/main" id="{D7B8B9B4-E838-CD05-45EC-D048B35391D5}"/>
              </a:ext>
            </a:extLst>
          </p:cNvPr>
          <p:cNvSpPr txBox="1"/>
          <p:nvPr/>
        </p:nvSpPr>
        <p:spPr>
          <a:xfrm>
            <a:off x="124975" y="1838368"/>
            <a:ext cx="400110" cy="2800832"/>
          </a:xfrm>
          <a:prstGeom prst="rect">
            <a:avLst/>
          </a:prstGeom>
          <a:noFill/>
        </p:spPr>
        <p:txBody>
          <a:bodyPr vert="eaVert" wrap="square" rtlCol="0">
            <a:spAutoFit/>
          </a:bodyPr>
          <a:lstStyle/>
          <a:p>
            <a:r>
              <a:rPr lang="zh-TW" altLang="en-US" b="1" dirty="0">
                <a:latin typeface="標楷體" panose="03000509000000000000" pitchFamily="65" charset="-120"/>
                <a:ea typeface="標楷體" panose="03000509000000000000" pitchFamily="65" charset="-120"/>
              </a:rPr>
              <a:t>檔名安排出現重複使用狀況示意表</a:t>
            </a:r>
          </a:p>
        </p:txBody>
      </p:sp>
      <p:sp>
        <p:nvSpPr>
          <p:cNvPr id="21" name="Google Shape;230;p30">
            <a:extLst>
              <a:ext uri="{FF2B5EF4-FFF2-40B4-BE49-F238E27FC236}">
                <a16:creationId xmlns:a16="http://schemas.microsoft.com/office/drawing/2014/main" id="{FA85424B-4E77-3A2F-4793-65F278930F17}"/>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4;p30">
            <a:hlinkClick r:id="" action="ppaction://hlinkshowjump?jump=firstslide"/>
            <a:extLst>
              <a:ext uri="{FF2B5EF4-FFF2-40B4-BE49-F238E27FC236}">
                <a16:creationId xmlns:a16="http://schemas.microsoft.com/office/drawing/2014/main" id="{787686D1-EDC0-5A28-96B4-ABC235F1AC46}"/>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Google Shape;234;p30">
            <a:hlinkClick r:id="" action="ppaction://hlinkshowjump?jump=firstslide"/>
            <a:extLst>
              <a:ext uri="{FF2B5EF4-FFF2-40B4-BE49-F238E27FC236}">
                <a16:creationId xmlns:a16="http://schemas.microsoft.com/office/drawing/2014/main" id="{4AAA1DD9-E2D7-BFCA-4159-22B606BE20C9}"/>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矩形 23">
            <a:hlinkClick r:id="rId3" action="ppaction://hlinksldjump"/>
            <a:extLst>
              <a:ext uri="{FF2B5EF4-FFF2-40B4-BE49-F238E27FC236}">
                <a16:creationId xmlns:a16="http://schemas.microsoft.com/office/drawing/2014/main" id="{260B55E5-966D-0864-9506-2C0CE030333E}"/>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4" action="ppaction://hlinksldjump"/>
            <a:extLst>
              <a:ext uri="{FF2B5EF4-FFF2-40B4-BE49-F238E27FC236}">
                <a16:creationId xmlns:a16="http://schemas.microsoft.com/office/drawing/2014/main" id="{ECD2784D-5427-7208-8F4A-7247DCC92A1E}"/>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B17080C6-9EC8-74EF-821E-9FC59DEE0C3E}"/>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5" action="ppaction://hlinksldjump"/>
            <a:extLst>
              <a:ext uri="{FF2B5EF4-FFF2-40B4-BE49-F238E27FC236}">
                <a16:creationId xmlns:a16="http://schemas.microsoft.com/office/drawing/2014/main" id="{B9655090-B222-C741-1AA5-6E9FDA0278BC}"/>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27606553-B303-D3DD-03CA-28939174B8FA}"/>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6186653F-44EE-4A0E-CDF5-2B4BC271B924}"/>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2CD709B1-7929-CE84-0BB9-FE0BA7C70729}"/>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E7601C06-8CA0-0F30-093B-D9B57FB5720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9434B4BE-A605-01A2-4F6D-F4BD2CF20733}"/>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763B44C1-EC6B-E5D9-05B1-8B4DDA930BD6}"/>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784476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6/13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3. </a:t>
            </a:r>
            <a:r>
              <a:rPr lang="zh-TW" altLang="en-US" sz="1600" b="1" dirty="0">
                <a:solidFill>
                  <a:srgbClr val="C00000"/>
                </a:solidFill>
                <a:latin typeface="Times New Roman" panose="02020603050405020304" pitchFamily="18" charset="0"/>
                <a:ea typeface="標楷體" panose="03000509000000000000" pitchFamily="65" charset="-120"/>
              </a:rPr>
              <a:t>檔名安排出現重複使用狀況</a:t>
            </a:r>
          </a:p>
        </p:txBody>
      </p:sp>
      <p:sp>
        <p:nvSpPr>
          <p:cNvPr id="18" name="文字方塊 17">
            <a:extLst>
              <a:ext uri="{FF2B5EF4-FFF2-40B4-BE49-F238E27FC236}">
                <a16:creationId xmlns:a16="http://schemas.microsoft.com/office/drawing/2014/main" id="{58A5599B-2A75-E499-960B-AEC61AE2BDC6}"/>
              </a:ext>
            </a:extLst>
          </p:cNvPr>
          <p:cNvSpPr txBox="1"/>
          <p:nvPr/>
        </p:nvSpPr>
        <p:spPr>
          <a:xfrm>
            <a:off x="22753" y="1100750"/>
            <a:ext cx="9008888" cy="307052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當有一組需要重新排程的拍照活動夾於已排程的拍照活動間，檔名的安排上可能會出現重複使用的狀況。</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確認問題</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因檔名的安排是於後處理進行，並且會按照排程過後的開始時間發生先後將拍照系列活動做排序再安排檔名。</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過去並未考慮到若新舊排程活動摻雜時，需要重新考量順序的問題。</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在安排新排程活動的檔名時，會考慮到後方是否有舊排程的活動，來調整陣列的順序，避免問題發生。</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問題已排除。</a:t>
            </a:r>
          </a:p>
        </p:txBody>
      </p:sp>
      <p:sp>
        <p:nvSpPr>
          <p:cNvPr id="19" name="Google Shape;230;p30">
            <a:extLst>
              <a:ext uri="{FF2B5EF4-FFF2-40B4-BE49-F238E27FC236}">
                <a16:creationId xmlns:a16="http://schemas.microsoft.com/office/drawing/2014/main" id="{89DD5AA9-0D03-5140-4677-4F435967E1AA}"/>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65EFA444-C1B4-F28B-0DD5-F08EDF81319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CB832A6C-B23A-6431-F7AE-7E3E0F81EDBA}"/>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018F9CFE-6AD7-55AE-DC81-EE3C6AD1F5DD}"/>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732B4747-EF6E-E194-B6B9-BC3458A5746C}"/>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DEC07173-D42B-6123-1367-86F3B93079DD}"/>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6A2ABA4A-F31F-7ED4-22E9-9BA5AB828A63}"/>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4B625FEE-81BC-4E53-DC29-35B46518A277}"/>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C8BB4FBD-7642-4F54-85FC-21FB459E1713}"/>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FB1BF9C5-99B0-70CA-5A32-67CFE9DB3814}"/>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98FDA228-5933-21A7-0543-F8858297A408}"/>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B80F9AF8-1AAC-793E-B16A-85DD75404BDE}"/>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15AB033A-6FCC-AA26-D82C-000B3EEB1AEF}"/>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09060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7/13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4. Duty Cycle</a:t>
            </a:r>
            <a:r>
              <a:rPr lang="zh-TW" altLang="en-US" sz="1600" b="1" dirty="0">
                <a:solidFill>
                  <a:srgbClr val="C00000"/>
                </a:solidFill>
                <a:latin typeface="Times New Roman" panose="02020603050405020304" pitchFamily="18" charset="0"/>
                <a:ea typeface="標楷體" panose="03000509000000000000" pitchFamily="65" charset="-120"/>
              </a:rPr>
              <a:t>相關限制造成模型無解</a:t>
            </a:r>
          </a:p>
        </p:txBody>
      </p:sp>
      <p:sp>
        <p:nvSpPr>
          <p:cNvPr id="18" name="文字方塊 17">
            <a:extLst>
              <a:ext uri="{FF2B5EF4-FFF2-40B4-BE49-F238E27FC236}">
                <a16:creationId xmlns:a16="http://schemas.microsoft.com/office/drawing/2014/main" id="{3F3C7320-109A-EBA7-A3F3-AF459731A689}"/>
              </a:ext>
            </a:extLst>
          </p:cNvPr>
          <p:cNvSpPr txBox="1"/>
          <p:nvPr/>
        </p:nvSpPr>
        <p:spPr>
          <a:xfrm>
            <a:off x="22753" y="1100750"/>
            <a:ext cx="9008888" cy="993029"/>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en-US" altLang="zh-TW" dirty="0">
                <a:latin typeface="Times New Roman" panose="02020603050405020304" pitchFamily="18" charset="0"/>
                <a:ea typeface="標楷體" panose="03000509000000000000" pitchFamily="65" charset="-120"/>
              </a:rPr>
              <a:t>duty cycle</a:t>
            </a:r>
            <a:r>
              <a:rPr lang="zh-TW" altLang="en-US" dirty="0">
                <a:latin typeface="Times New Roman" panose="02020603050405020304" pitchFamily="18" charset="0"/>
                <a:ea typeface="標楷體" panose="03000509000000000000" pitchFamily="65" charset="-120"/>
              </a:rPr>
              <a:t>限制主要用來限制</a:t>
            </a:r>
            <a:r>
              <a:rPr lang="en-US" altLang="zh-TW" dirty="0">
                <a:latin typeface="Times New Roman" panose="02020603050405020304" pitchFamily="18" charset="0"/>
                <a:ea typeface="標楷體" panose="03000509000000000000" pitchFamily="65" charset="-120"/>
              </a:rPr>
              <a:t>RSI Record</a:t>
            </a:r>
            <a:r>
              <a:rPr lang="zh-TW" altLang="en-US" dirty="0">
                <a:latin typeface="Times New Roman" panose="02020603050405020304" pitchFamily="18" charset="0"/>
                <a:ea typeface="標楷體" panose="03000509000000000000" pitchFamily="65" charset="-120"/>
              </a:rPr>
              <a:t>以及</a:t>
            </a:r>
            <a:r>
              <a:rPr lang="en-US" altLang="zh-TW" dirty="0">
                <a:latin typeface="Times New Roman" panose="02020603050405020304" pitchFamily="18" charset="0"/>
                <a:ea typeface="標楷體" panose="03000509000000000000" pitchFamily="65" charset="-120"/>
              </a:rPr>
              <a:t>RSI Playback</a:t>
            </a:r>
            <a:r>
              <a:rPr lang="zh-TW" altLang="en-US" dirty="0">
                <a:latin typeface="Times New Roman" panose="02020603050405020304" pitchFamily="18" charset="0"/>
                <a:ea typeface="標楷體" panose="03000509000000000000" pitchFamily="65" charset="-120"/>
              </a:rPr>
              <a:t>分別於一個</a:t>
            </a:r>
            <a:r>
              <a:rPr lang="en-US" altLang="zh-TW" dirty="0">
                <a:latin typeface="Times New Roman" panose="02020603050405020304" pitchFamily="18" charset="0"/>
                <a:ea typeface="標楷體" panose="03000509000000000000" pitchFamily="65" charset="-120"/>
              </a:rPr>
              <a:t>duty cycle</a:t>
            </a:r>
            <a:r>
              <a:rPr lang="zh-TW" altLang="en-US" dirty="0">
                <a:latin typeface="Times New Roman" panose="02020603050405020304" pitchFamily="18" charset="0"/>
                <a:ea typeface="標楷體" panose="03000509000000000000" pitchFamily="65" charset="-120"/>
              </a:rPr>
              <a:t>中可以執行的時長。</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相關限制式如下頁表所示。</a:t>
            </a:r>
            <a:endParaRPr lang="en-US" altLang="zh-TW" dirty="0">
              <a:latin typeface="Times New Roman" panose="02020603050405020304" pitchFamily="18" charset="0"/>
              <a:ea typeface="標楷體" panose="03000509000000000000" pitchFamily="65" charset="-120"/>
            </a:endParaRPr>
          </a:p>
        </p:txBody>
      </p:sp>
      <p:sp>
        <p:nvSpPr>
          <p:cNvPr id="19" name="Google Shape;230;p30">
            <a:extLst>
              <a:ext uri="{FF2B5EF4-FFF2-40B4-BE49-F238E27FC236}">
                <a16:creationId xmlns:a16="http://schemas.microsoft.com/office/drawing/2014/main" id="{1408A672-C420-86F6-FA5E-68ED1782A0D5}"/>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EEF95AA9-E041-167C-9E1D-B83AA4A51281}"/>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4327D4C3-A077-DC1F-6821-0C80BF03FDFA}"/>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4B6F0C35-F56F-852D-84DA-379B94B5E1F0}"/>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4FBF46A0-DB8F-56FF-BF53-CB02267A82E0}"/>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75742894-83C4-2890-1F97-A8E1C2E84C4F}"/>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FE877B46-DBC1-AEC3-8D2C-F41541F2D5F1}"/>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F07BC829-4A83-D3AF-057D-9B4DBB300E1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9254EFBF-3271-7026-6ED9-0D7B69AC47C6}"/>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4AD43B12-42FD-3211-BD04-D789A2AF9B25}"/>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C3D596A9-AE4F-247F-7A10-530EB76BA654}"/>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6741EDF3-5974-84DF-E630-3EA23AF9E48C}"/>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D3115BDB-967C-5F9D-F15F-44586831882C}"/>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892140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8/13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4. Duty Cycle</a:t>
            </a:r>
            <a:r>
              <a:rPr lang="zh-TW" altLang="en-US" sz="1600" b="1" dirty="0">
                <a:solidFill>
                  <a:srgbClr val="C00000"/>
                </a:solidFill>
                <a:latin typeface="Times New Roman" panose="02020603050405020304" pitchFamily="18" charset="0"/>
                <a:ea typeface="標楷體" panose="03000509000000000000" pitchFamily="65" charset="-120"/>
              </a:rPr>
              <a:t>相關限制造成模型無解</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4E4A93BF-63A1-167E-AE3A-A103C1E9CA9C}"/>
                  </a:ext>
                </a:extLst>
              </p:cNvPr>
              <p:cNvGraphicFramePr>
                <a:graphicFrameLocks noGrp="1"/>
              </p:cNvGraphicFramePr>
              <p:nvPr>
                <p:extLst>
                  <p:ext uri="{D42A27DB-BD31-4B8C-83A1-F6EECF244321}">
                    <p14:modId xmlns:p14="http://schemas.microsoft.com/office/powerpoint/2010/main" val="858865703"/>
                  </p:ext>
                </p:extLst>
              </p:nvPr>
            </p:nvGraphicFramePr>
            <p:xfrm>
              <a:off x="180901" y="1298751"/>
              <a:ext cx="6446325" cy="3597553"/>
            </p:xfrm>
            <a:graphic>
              <a:graphicData uri="http://schemas.openxmlformats.org/drawingml/2006/table">
                <a:tbl>
                  <a:tblPr firstRow="1" firstCol="1" bandRow="1">
                    <a:tableStyleId>{8B193ECF-1327-48E1-8871-2513AA109082}</a:tableStyleId>
                  </a:tblPr>
                  <a:tblGrid>
                    <a:gridCol w="4591050">
                      <a:extLst>
                        <a:ext uri="{9D8B030D-6E8A-4147-A177-3AD203B41FA5}">
                          <a16:colId xmlns:a16="http://schemas.microsoft.com/office/drawing/2014/main" val="2026323258"/>
                        </a:ext>
                      </a:extLst>
                    </a:gridCol>
                    <a:gridCol w="1855275">
                      <a:extLst>
                        <a:ext uri="{9D8B030D-6E8A-4147-A177-3AD203B41FA5}">
                          <a16:colId xmlns:a16="http://schemas.microsoft.com/office/drawing/2014/main" val="255294283"/>
                        </a:ext>
                      </a:extLst>
                    </a:gridCol>
                  </a:tblGrid>
                  <a:tr h="324000">
                    <a:tc gridSpan="2">
                      <a:txBody>
                        <a:bodyPr/>
                        <a:lstStyle/>
                        <a:p>
                          <a:pPr algn="just"/>
                          <a:r>
                            <a:rPr lang="en-US" sz="1400" b="1" kern="0" dirty="0" err="1">
                              <a:effectLst/>
                              <a:latin typeface="Times New Roman" panose="02020603050405020304" pitchFamily="18" charset="0"/>
                              <a:ea typeface="標楷體" panose="03000509000000000000" pitchFamily="65" charset="-120"/>
                              <a:cs typeface="Times New Roman" panose="02020603050405020304" pitchFamily="18" charset="0"/>
                            </a:rPr>
                            <a:t>duty_cycle</a:t>
                          </a:r>
                          <a:r>
                            <a:rPr 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(time)</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4211291283"/>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l">
                            <a:lnSpc>
                              <a:spcPct val="150000"/>
                            </a:lnSpc>
                          </a:pPr>
                          <a14:m>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a14:m>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702731272"/>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𝑒𝑛𝑑</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𝑒𝑛𝑑</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r>
                                  <a:rPr lang="en-US" sz="1400" kern="0">
                                    <a:effectLst/>
                                    <a:latin typeface="Cambria Math" panose="02040503050406030204" pitchFamily="18" charset="0"/>
                                  </a:rPr>
                                  <m:t>𝑀</m:t>
                                </m:r>
                                <m:r>
                                  <a:rPr lang="en-US" sz="1400" kern="0">
                                    <a:effectLst/>
                                    <a:latin typeface="Cambria Math" panose="02040503050406030204" pitchFamily="18" charset="0"/>
                                  </a:rPr>
                                  <m:t>(1−</m:t>
                                </m:r>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l">
                            <a:lnSpc>
                              <a:spcPct val="150000"/>
                            </a:lnSpc>
                          </a:pPr>
                          <a14:m>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a14:m>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884465236"/>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nary>
                                  <m:naryPr>
                                    <m:chr m:val="∑"/>
                                    <m:limLoc m:val="undOvr"/>
                                    <m:supHide m:val="on"/>
                                    <m:ctrlPr>
                                      <a:rPr lang="zh-TW" sz="1400" i="1" kern="100">
                                        <a:effectLst/>
                                        <a:latin typeface="Cambria Math" panose="02040503050406030204" pitchFamily="18" charset="0"/>
                                      </a:rPr>
                                    </m:ctrlPr>
                                  </m:naryPr>
                                  <m:sub>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sub>
                                  <m:sup/>
                                  <m:e>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e>
                                </m:nary>
                                <m:r>
                                  <a:rPr lang="en-US" sz="1400" kern="0">
                                    <a:effectLst/>
                                    <a:latin typeface="Cambria Math" panose="02040503050406030204" pitchFamily="18" charset="0"/>
                                  </a:rPr>
                                  <m:t>=0</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just">
                            <a:lnSpc>
                              <a:spcPct val="150000"/>
                            </a:lnSpc>
                          </a:pPr>
                          <a14:m>
                            <m:oMathPara xmlns:m="http://schemas.openxmlformats.org/officeDocument/2006/math">
                              <m:oMathParaPr>
                                <m:jc m:val="left"/>
                              </m:oMathParaPr>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i="1"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m:oMathPara>
                          </a14:m>
                          <a:endParaRPr lang="zh-TW" sz="1400" i="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993604417"/>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nary>
                                  <m:naryPr>
                                    <m:chr m:val="∑"/>
                                    <m:limLoc m:val="undOvr"/>
                                    <m:supHide m:val="on"/>
                                    <m:ctrlPr>
                                      <a:rPr lang="zh-TW" sz="1400" i="1" kern="100" smtClean="0">
                                        <a:effectLst/>
                                        <a:latin typeface="Cambria Math" panose="02040503050406030204" pitchFamily="18" charset="0"/>
                                      </a:rPr>
                                    </m:ctrlPr>
                                  </m:naryPr>
                                  <m:sub>
                                    <m:r>
                                      <a:rPr lang="en-US" sz="1400" i="1" kern="0">
                                        <a:effectLst/>
                                        <a:latin typeface="Cambria Math" panose="02040503050406030204" pitchFamily="18" charset="0"/>
                                      </a:rPr>
                                      <m:t>𝑖</m:t>
                                    </m:r>
                                    <m:r>
                                      <a:rPr lang="en-US" sz="1400" i="1" ker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sub>
                                  <m:sup/>
                                  <m:e>
                                    <m:sSub>
                                      <m:sSubPr>
                                        <m:ctrlPr>
                                          <a:rPr lang="zh-TW" sz="1400" i="1" kern="100">
                                            <a:effectLst/>
                                            <a:latin typeface="Cambria Math" panose="02040503050406030204" pitchFamily="18" charset="0"/>
                                          </a:rPr>
                                        </m:ctrlPr>
                                      </m:sSubPr>
                                      <m:e>
                                        <m:r>
                                          <a:rPr lang="en-US" sz="1400" i="1" kern="0">
                                            <a:effectLst/>
                                            <a:latin typeface="Cambria Math" panose="02040503050406030204" pitchFamily="18" charset="0"/>
                                          </a:rPr>
                                          <m:t>𝑎𝑐𝑡𝑖𝑣𝑖𝑡𝑦</m:t>
                                        </m:r>
                                        <m:r>
                                          <a:rPr lang="en-US" sz="1400" i="1" kern="0">
                                            <a:effectLst/>
                                            <a:latin typeface="Cambria Math" panose="02040503050406030204" pitchFamily="18" charset="0"/>
                                          </a:rPr>
                                          <m:t>_</m:t>
                                        </m:r>
                                        <m:r>
                                          <a:rPr lang="en-US" sz="1400" i="1" kern="0">
                                            <a:effectLst/>
                                            <a:latin typeface="Cambria Math" panose="02040503050406030204" pitchFamily="18" charset="0"/>
                                          </a:rPr>
                                          <m:t>𝑑𝑢𝑟</m:t>
                                        </m:r>
                                      </m:e>
                                      <m:sub>
                                        <m:r>
                                          <a:rPr lang="en-US" sz="1400" i="1" kern="0">
                                            <a:effectLst/>
                                            <a:latin typeface="Cambria Math" panose="02040503050406030204" pitchFamily="18" charset="0"/>
                                          </a:rPr>
                                          <m:t>𝑖</m:t>
                                        </m:r>
                                      </m:sub>
                                    </m:sSub>
                                  </m:e>
                                </m:nary>
                                <m:r>
                                  <a:rPr lang="en-US" sz="1400" i="1"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i="1" kern="0">
                                        <a:effectLst/>
                                        <a:latin typeface="Cambria Math" panose="02040503050406030204" pitchFamily="18" charset="0"/>
                                      </a:rPr>
                                      <m:t>𝑑𝑢𝑡𝑦</m:t>
                                    </m:r>
                                    <m:r>
                                      <a:rPr lang="en-US" sz="1400" i="1" kern="0">
                                        <a:effectLst/>
                                        <a:latin typeface="Cambria Math" panose="02040503050406030204" pitchFamily="18" charset="0"/>
                                      </a:rPr>
                                      <m:t>_</m:t>
                                    </m:r>
                                    <m:r>
                                      <a:rPr lang="en-US" sz="1400" i="1" kern="0">
                                        <a:effectLst/>
                                        <a:latin typeface="Cambria Math" panose="02040503050406030204" pitchFamily="18" charset="0"/>
                                      </a:rPr>
                                      <m:t>𝑤𝑖𝑛𝑑𝑜𝑤</m:t>
                                    </m:r>
                                    <m:r>
                                      <a:rPr lang="en-US" sz="1400" i="1" kern="0">
                                        <a:effectLst/>
                                        <a:latin typeface="Cambria Math" panose="02040503050406030204" pitchFamily="18" charset="0"/>
                                      </a:rPr>
                                      <m:t>_</m:t>
                                    </m:r>
                                    <m:r>
                                      <a:rPr lang="en-US" sz="1400" i="1" kern="0">
                                        <a:effectLst/>
                                        <a:latin typeface="Cambria Math" panose="02040503050406030204" pitchFamily="18" charset="0"/>
                                      </a:rPr>
                                      <m:t>𝑣𝑎𝑟</m:t>
                                    </m:r>
                                  </m:e>
                                  <m:sub>
                                    <m:r>
                                      <a:rPr lang="en-US" sz="1400" i="1" kern="0">
                                        <a:effectLst/>
                                        <a:latin typeface="Cambria Math" panose="02040503050406030204" pitchFamily="18" charset="0"/>
                                      </a:rPr>
                                      <m:t>𝑖𝑗</m:t>
                                    </m:r>
                                  </m:sub>
                                </m:sSub>
                                <m:r>
                                  <a:rPr lang="en-US" sz="1400" kern="0">
                                    <a:effectLst/>
                                    <a:latin typeface="Cambria Math" panose="02040503050406030204" pitchFamily="18" charset="0"/>
                                  </a:rPr>
                                  <m:t>≤</m:t>
                                </m:r>
                                <m:r>
                                  <a:rPr lang="en-US" sz="1400" kern="0">
                                    <a:effectLst/>
                                    <a:latin typeface="Cambria Math" panose="02040503050406030204" pitchFamily="18" charset="0"/>
                                  </a:rPr>
                                  <m:t>𝑡𝑖𝑚𝑒</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tc>
                      <a:txBody>
                        <a:bodyPr/>
                        <a:lstStyle/>
                        <a:p>
                          <a:pPr algn="just">
                            <a:lnSpc>
                              <a:spcPct val="150000"/>
                            </a:lnSpc>
                          </a:pPr>
                          <a14:m>
                            <m:oMathPara xmlns:m="http://schemas.openxmlformats.org/officeDocument/2006/math">
                              <m:oMathParaPr>
                                <m:jc m:val="left"/>
                              </m:oMathParaPr>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304500399"/>
                      </a:ext>
                    </a:extLst>
                  </a:tr>
                </a:tbl>
              </a:graphicData>
            </a:graphic>
          </p:graphicFrame>
        </mc:Choice>
        <mc:Fallback xmlns="">
          <p:graphicFrame>
            <p:nvGraphicFramePr>
              <p:cNvPr id="19" name="表格 18">
                <a:extLst>
                  <a:ext uri="{FF2B5EF4-FFF2-40B4-BE49-F238E27FC236}">
                    <a16:creationId xmlns:a16="http://schemas.microsoft.com/office/drawing/2014/main" id="{4E4A93BF-63A1-167E-AE3A-A103C1E9CA9C}"/>
                  </a:ext>
                </a:extLst>
              </p:cNvPr>
              <p:cNvGraphicFramePr>
                <a:graphicFrameLocks noGrp="1"/>
              </p:cNvGraphicFramePr>
              <p:nvPr>
                <p:extLst>
                  <p:ext uri="{D42A27DB-BD31-4B8C-83A1-F6EECF244321}">
                    <p14:modId xmlns:p14="http://schemas.microsoft.com/office/powerpoint/2010/main" val="858865703"/>
                  </p:ext>
                </p:extLst>
              </p:nvPr>
            </p:nvGraphicFramePr>
            <p:xfrm>
              <a:off x="180901" y="1298751"/>
              <a:ext cx="6446325" cy="3597553"/>
            </p:xfrm>
            <a:graphic>
              <a:graphicData uri="http://schemas.openxmlformats.org/drawingml/2006/table">
                <a:tbl>
                  <a:tblPr firstRow="1" firstCol="1" bandRow="1">
                    <a:tableStyleId>{8B193ECF-1327-48E1-8871-2513AA109082}</a:tableStyleId>
                  </a:tblPr>
                  <a:tblGrid>
                    <a:gridCol w="4591050">
                      <a:extLst>
                        <a:ext uri="{9D8B030D-6E8A-4147-A177-3AD203B41FA5}">
                          <a16:colId xmlns:a16="http://schemas.microsoft.com/office/drawing/2014/main" val="2026323258"/>
                        </a:ext>
                      </a:extLst>
                    </a:gridCol>
                    <a:gridCol w="1855275">
                      <a:extLst>
                        <a:ext uri="{9D8B030D-6E8A-4147-A177-3AD203B41FA5}">
                          <a16:colId xmlns:a16="http://schemas.microsoft.com/office/drawing/2014/main" val="255294283"/>
                        </a:ext>
                      </a:extLst>
                    </a:gridCol>
                  </a:tblGrid>
                  <a:tr h="324000">
                    <a:tc gridSpan="2">
                      <a:txBody>
                        <a:bodyPr/>
                        <a:lstStyle/>
                        <a:p>
                          <a:pPr algn="just"/>
                          <a:r>
                            <a:rPr lang="en-US" sz="1400" b="1" kern="0" dirty="0" err="1">
                              <a:effectLst/>
                              <a:latin typeface="Times New Roman" panose="02020603050405020304" pitchFamily="18" charset="0"/>
                              <a:ea typeface="標楷體" panose="03000509000000000000" pitchFamily="65" charset="-120"/>
                              <a:cs typeface="Times New Roman" panose="02020603050405020304" pitchFamily="18" charset="0"/>
                            </a:rPr>
                            <a:t>duty_cycle</a:t>
                          </a:r>
                          <a:r>
                            <a:rPr 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(time)</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4211291283"/>
                      </a:ext>
                    </a:extLst>
                  </a:tr>
                  <a:tr h="658495">
                    <a:tc>
                      <a:txBody>
                        <a:bodyPr/>
                        <a:lstStyle/>
                        <a:p>
                          <a:endParaRPr lang="zh-TW"/>
                        </a:p>
                      </a:txBody>
                      <a:tcPr marL="68580" marR="68580" marT="0" marB="0" anchor="ctr">
                        <a:blipFill>
                          <a:blip r:embed="rId3"/>
                          <a:stretch>
                            <a:fillRect l="-133" t="-50000" r="-40584" b="-399074"/>
                          </a:stretch>
                        </a:blipFill>
                      </a:tcPr>
                    </a:tc>
                    <a:tc>
                      <a:txBody>
                        <a:bodyPr/>
                        <a:lstStyle/>
                        <a:p>
                          <a:endParaRPr lang="zh-TW"/>
                        </a:p>
                      </a:txBody>
                      <a:tcPr marL="68580" marR="68580" marT="0" marB="0" anchor="ctr">
                        <a:blipFill>
                          <a:blip r:embed="rId3"/>
                          <a:stretch>
                            <a:fillRect l="-247541" t="-50000" r="-328" b="-399074"/>
                          </a:stretch>
                        </a:blipFill>
                      </a:tcPr>
                    </a:tc>
                    <a:extLst>
                      <a:ext uri="{0D108BD9-81ED-4DB2-BD59-A6C34878D82A}">
                        <a16:rowId xmlns:a16="http://schemas.microsoft.com/office/drawing/2014/main" val="2702731272"/>
                      </a:ext>
                    </a:extLst>
                  </a:tr>
                  <a:tr h="1004253">
                    <a:tc>
                      <a:txBody>
                        <a:bodyPr/>
                        <a:lstStyle/>
                        <a:p>
                          <a:endParaRPr lang="zh-TW"/>
                        </a:p>
                      </a:txBody>
                      <a:tcPr marL="68580" marR="68580" marT="0" marB="0" anchor="ctr">
                        <a:blipFill>
                          <a:blip r:embed="rId3"/>
                          <a:stretch>
                            <a:fillRect l="-133" t="-98182" r="-40584" b="-161212"/>
                          </a:stretch>
                        </a:blipFill>
                      </a:tcPr>
                    </a:tc>
                    <a:tc>
                      <a:txBody>
                        <a:bodyPr/>
                        <a:lstStyle/>
                        <a:p>
                          <a:endParaRPr lang="zh-TW"/>
                        </a:p>
                      </a:txBody>
                      <a:tcPr marL="68580" marR="68580" marT="0" marB="0" anchor="ctr">
                        <a:blipFill>
                          <a:blip r:embed="rId3"/>
                          <a:stretch>
                            <a:fillRect l="-247541" t="-98182" r="-328" b="-161212"/>
                          </a:stretch>
                        </a:blipFill>
                      </a:tcPr>
                    </a:tc>
                    <a:extLst>
                      <a:ext uri="{0D108BD9-81ED-4DB2-BD59-A6C34878D82A}">
                        <a16:rowId xmlns:a16="http://schemas.microsoft.com/office/drawing/2014/main" val="1884465236"/>
                      </a:ext>
                    </a:extLst>
                  </a:tr>
                  <a:tr h="812864">
                    <a:tc>
                      <a:txBody>
                        <a:bodyPr/>
                        <a:lstStyle/>
                        <a:p>
                          <a:endParaRPr lang="zh-TW"/>
                        </a:p>
                      </a:txBody>
                      <a:tcPr marL="68580" marR="68580" marT="0" marB="0" anchor="ctr">
                        <a:blipFill>
                          <a:blip r:embed="rId3"/>
                          <a:stretch>
                            <a:fillRect l="-133" t="-244030" r="-40584" b="-98507"/>
                          </a:stretch>
                        </a:blipFill>
                      </a:tcPr>
                    </a:tc>
                    <a:tc>
                      <a:txBody>
                        <a:bodyPr/>
                        <a:lstStyle/>
                        <a:p>
                          <a:endParaRPr lang="zh-TW"/>
                        </a:p>
                      </a:txBody>
                      <a:tcPr marL="68580" marR="68580" marT="0" marB="0" anchor="ctr">
                        <a:blipFill>
                          <a:blip r:embed="rId3"/>
                          <a:stretch>
                            <a:fillRect l="-247541" t="-244030" r="-328" b="-98507"/>
                          </a:stretch>
                        </a:blipFill>
                      </a:tcPr>
                    </a:tc>
                    <a:extLst>
                      <a:ext uri="{0D108BD9-81ED-4DB2-BD59-A6C34878D82A}">
                        <a16:rowId xmlns:a16="http://schemas.microsoft.com/office/drawing/2014/main" val="3993604417"/>
                      </a:ext>
                    </a:extLst>
                  </a:tr>
                  <a:tr h="797941">
                    <a:tc>
                      <a:txBody>
                        <a:bodyPr/>
                        <a:lstStyle/>
                        <a:p>
                          <a:endParaRPr lang="zh-TW"/>
                        </a:p>
                      </a:txBody>
                      <a:tcPr marL="68580" marR="68580" marT="0" marB="0" anchor="ctr">
                        <a:blipFill>
                          <a:blip r:embed="rId3"/>
                          <a:stretch>
                            <a:fillRect l="-133" t="-351908" r="-40584" b="-763"/>
                          </a:stretch>
                        </a:blipFill>
                      </a:tcPr>
                    </a:tc>
                    <a:tc>
                      <a:txBody>
                        <a:bodyPr/>
                        <a:lstStyle/>
                        <a:p>
                          <a:endParaRPr lang="zh-TW"/>
                        </a:p>
                      </a:txBody>
                      <a:tcPr marL="68580" marR="68580" marT="0" marB="0" anchor="ctr">
                        <a:blipFill>
                          <a:blip r:embed="rId3"/>
                          <a:stretch>
                            <a:fillRect l="-247541" t="-351908" r="-328" b="-763"/>
                          </a:stretch>
                        </a:blipFill>
                      </a:tcPr>
                    </a:tc>
                    <a:extLst>
                      <a:ext uri="{0D108BD9-81ED-4DB2-BD59-A6C34878D82A}">
                        <a16:rowId xmlns:a16="http://schemas.microsoft.com/office/drawing/2014/main" val="2304500399"/>
                      </a:ext>
                    </a:extLst>
                  </a:tr>
                </a:tbl>
              </a:graphicData>
            </a:graphic>
          </p:graphicFrame>
        </mc:Fallback>
      </mc:AlternateContent>
      <p:sp>
        <p:nvSpPr>
          <p:cNvPr id="20" name="右大括弧 19">
            <a:extLst>
              <a:ext uri="{FF2B5EF4-FFF2-40B4-BE49-F238E27FC236}">
                <a16:creationId xmlns:a16="http://schemas.microsoft.com/office/drawing/2014/main" id="{7964B3D3-1336-39B5-5BB4-7F9DF11E0046}"/>
              </a:ext>
            </a:extLst>
          </p:cNvPr>
          <p:cNvSpPr/>
          <p:nvPr/>
        </p:nvSpPr>
        <p:spPr>
          <a:xfrm>
            <a:off x="6627226" y="1943960"/>
            <a:ext cx="250703" cy="972000"/>
          </a:xfrm>
          <a:prstGeom prst="rightBrace">
            <a:avLst>
              <a:gd name="adj1" fmla="val 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E476D8C2-B3E4-DE0E-4DA4-43F1C58A98C6}"/>
              </a:ext>
            </a:extLst>
          </p:cNvPr>
          <p:cNvSpPr txBox="1"/>
          <p:nvPr/>
        </p:nvSpPr>
        <p:spPr>
          <a:xfrm>
            <a:off x="6877929" y="2135982"/>
            <a:ext cx="1772457" cy="587533"/>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判斷該活動落於哪個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p>
        </p:txBody>
      </p:sp>
      <p:sp>
        <p:nvSpPr>
          <p:cNvPr id="22" name="文字方塊 21">
            <a:extLst>
              <a:ext uri="{FF2B5EF4-FFF2-40B4-BE49-F238E27FC236}">
                <a16:creationId xmlns:a16="http://schemas.microsoft.com/office/drawing/2014/main" id="{7D0E53D0-9E4B-663D-1711-271D7110A746}"/>
              </a:ext>
            </a:extLst>
          </p:cNvPr>
          <p:cNvSpPr txBox="1"/>
          <p:nvPr/>
        </p:nvSpPr>
        <p:spPr>
          <a:xfrm>
            <a:off x="6672128" y="3420697"/>
            <a:ext cx="2184057" cy="587533"/>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 一個活動必定會落在一個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p>
        </p:txBody>
      </p:sp>
      <p:sp>
        <p:nvSpPr>
          <p:cNvPr id="23" name="文字方塊 22">
            <a:extLst>
              <a:ext uri="{FF2B5EF4-FFF2-40B4-BE49-F238E27FC236}">
                <a16:creationId xmlns:a16="http://schemas.microsoft.com/office/drawing/2014/main" id="{F8E813F4-2E31-0C80-BF99-EE25474F33B2}"/>
              </a:ext>
            </a:extLst>
          </p:cNvPr>
          <p:cNvSpPr txBox="1"/>
          <p:nvPr/>
        </p:nvSpPr>
        <p:spPr>
          <a:xfrm>
            <a:off x="6672127" y="4068527"/>
            <a:ext cx="2290972" cy="846065"/>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→所有落在同一個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中的活動，其執行時長加總不能超過給定的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time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Google Shape;230;p30">
            <a:extLst>
              <a:ext uri="{FF2B5EF4-FFF2-40B4-BE49-F238E27FC236}">
                <a16:creationId xmlns:a16="http://schemas.microsoft.com/office/drawing/2014/main" id="{5BE96CC7-9894-CDA9-98C3-C3EE2F26C85D}"/>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4;p30">
            <a:hlinkClick r:id="" action="ppaction://hlinkshowjump?jump=firstslide"/>
            <a:extLst>
              <a:ext uri="{FF2B5EF4-FFF2-40B4-BE49-F238E27FC236}">
                <a16:creationId xmlns:a16="http://schemas.microsoft.com/office/drawing/2014/main" id="{F2D1CFC0-1217-9198-2E73-37D0537AF438}"/>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Google Shape;234;p30">
            <a:hlinkClick r:id="" action="ppaction://hlinkshowjump?jump=firstslide"/>
            <a:extLst>
              <a:ext uri="{FF2B5EF4-FFF2-40B4-BE49-F238E27FC236}">
                <a16:creationId xmlns:a16="http://schemas.microsoft.com/office/drawing/2014/main" id="{BE6FCE65-DD6E-7CC9-E10E-BC9A02CC1C00}"/>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4" action="ppaction://hlinksldjump"/>
            <a:extLst>
              <a:ext uri="{FF2B5EF4-FFF2-40B4-BE49-F238E27FC236}">
                <a16:creationId xmlns:a16="http://schemas.microsoft.com/office/drawing/2014/main" id="{6637F019-645B-5503-7EAA-48F01BA2579E}"/>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hlinkClick r:id="rId5" action="ppaction://hlinksldjump"/>
            <a:extLst>
              <a:ext uri="{FF2B5EF4-FFF2-40B4-BE49-F238E27FC236}">
                <a16:creationId xmlns:a16="http://schemas.microsoft.com/office/drawing/2014/main" id="{3EB247E9-B306-643D-C95B-653FCFB48803}"/>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Google Shape;234;p30">
            <a:hlinkClick r:id="" action="ppaction://hlinkshowjump?jump=firstslide"/>
            <a:extLst>
              <a:ext uri="{FF2B5EF4-FFF2-40B4-BE49-F238E27FC236}">
                <a16:creationId xmlns:a16="http://schemas.microsoft.com/office/drawing/2014/main" id="{02C5E74B-A033-D227-AA77-C9D7BA4AAD40}"/>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6" action="ppaction://hlinksldjump"/>
            <a:extLst>
              <a:ext uri="{FF2B5EF4-FFF2-40B4-BE49-F238E27FC236}">
                <a16:creationId xmlns:a16="http://schemas.microsoft.com/office/drawing/2014/main" id="{88B8C09B-82B1-F844-1410-5DA78E4FA4E2}"/>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3619F4ED-04BF-1332-D148-3746B49AADB5}"/>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7" action="ppaction://hlinksldjump"/>
            <a:extLst>
              <a:ext uri="{FF2B5EF4-FFF2-40B4-BE49-F238E27FC236}">
                <a16:creationId xmlns:a16="http://schemas.microsoft.com/office/drawing/2014/main" id="{F4D393D8-86EE-CAF9-1F0D-A688F6DD437C}"/>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Google Shape;234;p30">
            <a:hlinkClick r:id="" action="ppaction://hlinkshowjump?jump=firstslide"/>
            <a:extLst>
              <a:ext uri="{FF2B5EF4-FFF2-40B4-BE49-F238E27FC236}">
                <a16:creationId xmlns:a16="http://schemas.microsoft.com/office/drawing/2014/main" id="{EB2E549C-541B-2C89-32FB-CDDD2B80BE59}"/>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矩形 33">
            <a:hlinkClick r:id="rId8" action="ppaction://hlinksldjump"/>
            <a:extLst>
              <a:ext uri="{FF2B5EF4-FFF2-40B4-BE49-F238E27FC236}">
                <a16:creationId xmlns:a16="http://schemas.microsoft.com/office/drawing/2014/main" id="{A854CD4E-0AD0-6252-B363-95BDA8C2360B}"/>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Google Shape;234;p30">
            <a:hlinkClick r:id="" action="ppaction://hlinkshowjump?jump=firstslide"/>
            <a:extLst>
              <a:ext uri="{FF2B5EF4-FFF2-40B4-BE49-F238E27FC236}">
                <a16:creationId xmlns:a16="http://schemas.microsoft.com/office/drawing/2014/main" id="{9B1AE7B2-1F30-A48D-6B04-33D8AB169695}"/>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矩形 35">
            <a:hlinkClick r:id="rId9" action="ppaction://hlinksldjump"/>
            <a:extLst>
              <a:ext uri="{FF2B5EF4-FFF2-40B4-BE49-F238E27FC236}">
                <a16:creationId xmlns:a16="http://schemas.microsoft.com/office/drawing/2014/main" id="{40596220-6122-62AA-1D97-E2C0E989AF9D}"/>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153034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381311"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9/13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4. Duty Cycle</a:t>
            </a:r>
            <a:r>
              <a:rPr lang="zh-TW" altLang="en-US" sz="1600" b="1" dirty="0">
                <a:solidFill>
                  <a:srgbClr val="C00000"/>
                </a:solidFill>
                <a:latin typeface="Times New Roman" panose="02020603050405020304" pitchFamily="18" charset="0"/>
                <a:ea typeface="標楷體" panose="03000509000000000000" pitchFamily="65" charset="-120"/>
              </a:rPr>
              <a:t>相關限制造成模型無解</a:t>
            </a:r>
          </a:p>
        </p:txBody>
      </p:sp>
      <p:sp>
        <p:nvSpPr>
          <p:cNvPr id="18" name="文字方塊 17">
            <a:extLst>
              <a:ext uri="{FF2B5EF4-FFF2-40B4-BE49-F238E27FC236}">
                <a16:creationId xmlns:a16="http://schemas.microsoft.com/office/drawing/2014/main" id="{3F3C7320-109A-EBA7-A3F3-AF459731A689}"/>
              </a:ext>
            </a:extLst>
          </p:cNvPr>
          <p:cNvSpPr txBox="1"/>
          <p:nvPr/>
        </p:nvSpPr>
        <p:spPr>
          <a:xfrm>
            <a:off x="22753" y="1100750"/>
            <a:ext cx="9008888" cy="3393686"/>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en-US" altLang="zh-TW" dirty="0">
                <a:latin typeface="Times New Roman" panose="02020603050405020304" pitchFamily="18" charset="0"/>
                <a:ea typeface="標楷體" panose="03000509000000000000" pitchFamily="65" charset="-120"/>
              </a:rPr>
              <a:t>duty cycle</a:t>
            </a:r>
            <a:r>
              <a:rPr lang="zh-TW" altLang="en-US" dirty="0">
                <a:latin typeface="Times New Roman" panose="02020603050405020304" pitchFamily="18" charset="0"/>
                <a:ea typeface="標楷體" panose="03000509000000000000" pitchFamily="65" charset="-120"/>
              </a:rPr>
              <a:t>限制主要用來限制</a:t>
            </a:r>
            <a:r>
              <a:rPr lang="en-US" altLang="zh-TW" dirty="0">
                <a:latin typeface="Times New Roman" panose="02020603050405020304" pitchFamily="18" charset="0"/>
                <a:ea typeface="標楷體" panose="03000509000000000000" pitchFamily="65" charset="-120"/>
              </a:rPr>
              <a:t>RSI Record</a:t>
            </a:r>
            <a:r>
              <a:rPr lang="zh-TW" altLang="en-US" dirty="0">
                <a:latin typeface="Times New Roman" panose="02020603050405020304" pitchFamily="18" charset="0"/>
                <a:ea typeface="標楷體" panose="03000509000000000000" pitchFamily="65" charset="-120"/>
              </a:rPr>
              <a:t>以及</a:t>
            </a:r>
            <a:r>
              <a:rPr lang="en-US" altLang="zh-TW" dirty="0">
                <a:latin typeface="Times New Roman" panose="02020603050405020304" pitchFamily="18" charset="0"/>
                <a:ea typeface="標楷體" panose="03000509000000000000" pitchFamily="65" charset="-120"/>
              </a:rPr>
              <a:t>RSI Playback</a:t>
            </a:r>
            <a:r>
              <a:rPr lang="zh-TW" altLang="en-US" dirty="0">
                <a:latin typeface="Times New Roman" panose="02020603050405020304" pitchFamily="18" charset="0"/>
                <a:ea typeface="標楷體" panose="03000509000000000000" pitchFamily="65" charset="-120"/>
              </a:rPr>
              <a:t>分別於一個</a:t>
            </a:r>
            <a:r>
              <a:rPr lang="en-US" altLang="zh-TW" dirty="0">
                <a:latin typeface="Times New Roman" panose="02020603050405020304" pitchFamily="18" charset="0"/>
                <a:ea typeface="標楷體" panose="03000509000000000000" pitchFamily="65" charset="-120"/>
              </a:rPr>
              <a:t>duty cycle</a:t>
            </a:r>
            <a:r>
              <a:rPr lang="zh-TW" altLang="en-US" dirty="0">
                <a:latin typeface="Times New Roman" panose="02020603050405020304" pitchFamily="18" charset="0"/>
                <a:ea typeface="標楷體" panose="03000509000000000000" pitchFamily="65" charset="-120"/>
              </a:rPr>
              <a:t>中可以執行的時長。</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相關限制式如上頁表所示。</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確認問題</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經測試人員測試發現，</a:t>
            </a:r>
            <a:r>
              <a:rPr lang="en-US" altLang="zh-TW" dirty="0">
                <a:solidFill>
                  <a:srgbClr val="C00000"/>
                </a:solidFill>
                <a:latin typeface="Times New Roman" panose="02020603050405020304" pitchFamily="18" charset="0"/>
                <a:ea typeface="標楷體" panose="03000509000000000000" pitchFamily="65" charset="-120"/>
              </a:rPr>
              <a:t>RSI Playback</a:t>
            </a:r>
            <a:r>
              <a:rPr lang="zh-TW" altLang="en-US" dirty="0">
                <a:solidFill>
                  <a:srgbClr val="C00000"/>
                </a:solidFill>
                <a:latin typeface="Times New Roman" panose="02020603050405020304" pitchFamily="18" charset="0"/>
                <a:ea typeface="標楷體" panose="03000509000000000000" pitchFamily="65" charset="-120"/>
              </a:rPr>
              <a:t>有可能會有跨多個</a:t>
            </a:r>
            <a:r>
              <a:rPr lang="en-US" altLang="zh-TW" dirty="0">
                <a:solidFill>
                  <a:srgbClr val="C00000"/>
                </a:solidFill>
                <a:latin typeface="Times New Roman" panose="02020603050405020304" pitchFamily="18" charset="0"/>
                <a:ea typeface="標楷體" panose="03000509000000000000" pitchFamily="65" charset="-120"/>
              </a:rPr>
              <a:t>duty cycle</a:t>
            </a:r>
            <a:r>
              <a:rPr lang="zh-TW" altLang="en-US" dirty="0">
                <a:solidFill>
                  <a:srgbClr val="C00000"/>
                </a:solidFill>
                <a:latin typeface="Times New Roman" panose="02020603050405020304" pitchFamily="18" charset="0"/>
                <a:ea typeface="標楷體" panose="03000509000000000000" pitchFamily="65" charset="-120"/>
              </a:rPr>
              <a:t>的情形發生</a:t>
            </a:r>
            <a:r>
              <a:rPr lang="zh-TW" altLang="en-US" dirty="0">
                <a:latin typeface="Times New Roman" panose="02020603050405020304" pitchFamily="18" charset="0"/>
                <a:ea typeface="標楷體" panose="03000509000000000000" pitchFamily="65" charset="-120"/>
              </a:rPr>
              <a:t>，此時便會造成模型無解。</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經測試人員內部討論，活動歸屬於哪個</a:t>
            </a:r>
            <a:r>
              <a:rPr lang="en-US" altLang="zh-TW" dirty="0">
                <a:latin typeface="Times New Roman" panose="02020603050405020304" pitchFamily="18" charset="0"/>
                <a:ea typeface="標楷體" panose="03000509000000000000" pitchFamily="65" charset="-120"/>
              </a:rPr>
              <a:t>duty cycle</a:t>
            </a:r>
            <a:r>
              <a:rPr lang="zh-TW" altLang="en-US" dirty="0">
                <a:latin typeface="Times New Roman" panose="02020603050405020304" pitchFamily="18" charset="0"/>
                <a:ea typeface="標楷體" panose="03000509000000000000" pitchFamily="65" charset="-120"/>
              </a:rPr>
              <a:t>的判斷一律以活動的</a:t>
            </a:r>
            <a:r>
              <a:rPr lang="zh-TW" altLang="en-US" dirty="0">
                <a:solidFill>
                  <a:srgbClr val="C00000"/>
                </a:solidFill>
                <a:latin typeface="Times New Roman" panose="02020603050405020304" pitchFamily="18" charset="0"/>
                <a:ea typeface="標楷體" panose="03000509000000000000" pitchFamily="65" charset="-120"/>
              </a:rPr>
              <a:t>開始時間</a:t>
            </a:r>
            <a:r>
              <a:rPr lang="zh-TW" altLang="en-US" dirty="0">
                <a:latin typeface="Times New Roman" panose="02020603050405020304" pitchFamily="18" charset="0"/>
                <a:ea typeface="標楷體" panose="03000509000000000000" pitchFamily="65" charset="-120"/>
              </a:rPr>
              <a:t>判斷，不需考慮活動結束時間。</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修改後限制式如下頁表所示。</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問題已排除。</a:t>
            </a:r>
          </a:p>
        </p:txBody>
      </p:sp>
      <p:sp>
        <p:nvSpPr>
          <p:cNvPr id="19" name="Google Shape;230;p30">
            <a:extLst>
              <a:ext uri="{FF2B5EF4-FFF2-40B4-BE49-F238E27FC236}">
                <a16:creationId xmlns:a16="http://schemas.microsoft.com/office/drawing/2014/main" id="{935678B8-535D-10E9-564D-392E4CF11C33}"/>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5E205DB8-982A-4AD2-E77A-A945D3662780}"/>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0481CEBD-E073-29A7-9409-02EEE8E75751}"/>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0AB27A87-ED0E-084A-F5E4-AA4C04CFD516}"/>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B3E5A64D-3CEC-6DA3-7C68-39A85309A890}"/>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3E3CC84D-A3DC-02A6-98B1-E2FAB321ABD4}"/>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B1F2CDB2-F704-D334-6788-8C5CF012E112}"/>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A637696F-3D3D-33A5-6CEF-61F81B54888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A3F27AC1-7A8D-3903-E111-27647819CC7B}"/>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87DBBCEE-BEF9-AD1E-1D85-8C435DF24E26}"/>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3557E40B-D476-BA30-6738-7D24B49F3E42}"/>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520D11D5-352E-399F-C927-AED99522374D}"/>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52C335DE-8065-E4AE-6A04-8463F9E6AD16}"/>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776325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564000"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10/13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4. Duty Cycle</a:t>
            </a:r>
            <a:r>
              <a:rPr lang="zh-TW" altLang="en-US" sz="1600" b="1" dirty="0">
                <a:solidFill>
                  <a:srgbClr val="C00000"/>
                </a:solidFill>
                <a:latin typeface="Times New Roman" panose="02020603050405020304" pitchFamily="18" charset="0"/>
                <a:ea typeface="標楷體" panose="03000509000000000000" pitchFamily="65" charset="-120"/>
              </a:rPr>
              <a:t>相關限制造成模型無解</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4E4A93BF-63A1-167E-AE3A-A103C1E9CA9C}"/>
                  </a:ext>
                </a:extLst>
              </p:cNvPr>
              <p:cNvGraphicFramePr>
                <a:graphicFrameLocks noGrp="1"/>
              </p:cNvGraphicFramePr>
              <p:nvPr>
                <p:extLst>
                  <p:ext uri="{D42A27DB-BD31-4B8C-83A1-F6EECF244321}">
                    <p14:modId xmlns:p14="http://schemas.microsoft.com/office/powerpoint/2010/main" val="1492504407"/>
                  </p:ext>
                </p:extLst>
              </p:nvPr>
            </p:nvGraphicFramePr>
            <p:xfrm>
              <a:off x="180901" y="1298751"/>
              <a:ext cx="6446325" cy="3597553"/>
            </p:xfrm>
            <a:graphic>
              <a:graphicData uri="http://schemas.openxmlformats.org/drawingml/2006/table">
                <a:tbl>
                  <a:tblPr firstRow="1" firstCol="1" bandRow="1">
                    <a:tableStyleId>{8B193ECF-1327-48E1-8871-2513AA109082}</a:tableStyleId>
                  </a:tblPr>
                  <a:tblGrid>
                    <a:gridCol w="4591050">
                      <a:extLst>
                        <a:ext uri="{9D8B030D-6E8A-4147-A177-3AD203B41FA5}">
                          <a16:colId xmlns:a16="http://schemas.microsoft.com/office/drawing/2014/main" val="2026323258"/>
                        </a:ext>
                      </a:extLst>
                    </a:gridCol>
                    <a:gridCol w="1855275">
                      <a:extLst>
                        <a:ext uri="{9D8B030D-6E8A-4147-A177-3AD203B41FA5}">
                          <a16:colId xmlns:a16="http://schemas.microsoft.com/office/drawing/2014/main" val="255294283"/>
                        </a:ext>
                      </a:extLst>
                    </a:gridCol>
                  </a:tblGrid>
                  <a:tr h="324000">
                    <a:tc gridSpan="2">
                      <a:txBody>
                        <a:bodyPr/>
                        <a:lstStyle/>
                        <a:p>
                          <a:pPr algn="just"/>
                          <a:r>
                            <a:rPr lang="en-US" sz="1400" b="1" kern="0" dirty="0" err="1">
                              <a:effectLst/>
                              <a:latin typeface="Times New Roman" panose="02020603050405020304" pitchFamily="18" charset="0"/>
                              <a:ea typeface="標楷體" panose="03000509000000000000" pitchFamily="65" charset="-120"/>
                              <a:cs typeface="Times New Roman" panose="02020603050405020304" pitchFamily="18" charset="0"/>
                            </a:rPr>
                            <a:t>duty_cycle</a:t>
                          </a:r>
                          <a:r>
                            <a:rPr 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(time)</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4211291283"/>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𝑠𝑡</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tc>
                      <a:txBody>
                        <a:bodyPr/>
                        <a:lstStyle/>
                        <a:p>
                          <a:pPr algn="l">
                            <a:lnSpc>
                              <a:spcPct val="150000"/>
                            </a:lnSpc>
                          </a:pPr>
                          <a14:m>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a14:m>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702731272"/>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smtClean="0">
                                        <a:solidFill>
                                          <a:srgbClr val="C00000"/>
                                        </a:solidFill>
                                        <a:effectLst/>
                                        <a:latin typeface="Cambria Math" panose="02040503050406030204" pitchFamily="18" charset="0"/>
                                      </a:rPr>
                                    </m:ctrlPr>
                                  </m:sSubPr>
                                  <m:e>
                                    <m:r>
                                      <a:rPr lang="en-US" sz="1400" kern="0">
                                        <a:solidFill>
                                          <a:srgbClr val="C00000"/>
                                        </a:solidFill>
                                        <a:effectLst/>
                                        <a:latin typeface="Cambria Math" panose="02040503050406030204" pitchFamily="18" charset="0"/>
                                      </a:rPr>
                                      <m:t>𝑎𝑐𝑡𝑖𝑣𝑖𝑡𝑦</m:t>
                                    </m:r>
                                    <m:r>
                                      <a:rPr lang="en-US" sz="1400" b="0" i="0" kern="0" smtClean="0">
                                        <a:solidFill>
                                          <a:srgbClr val="C00000"/>
                                        </a:solidFill>
                                        <a:effectLst/>
                                        <a:latin typeface="Cambria Math" panose="02040503050406030204" pitchFamily="18" charset="0"/>
                                      </a:rPr>
                                      <m:t>_</m:t>
                                    </m:r>
                                    <m:r>
                                      <m:rPr>
                                        <m:sty m:val="p"/>
                                      </m:rPr>
                                      <a:rPr lang="en-US" sz="1400" b="0" i="0" kern="0" smtClean="0">
                                        <a:solidFill>
                                          <a:srgbClr val="C00000"/>
                                        </a:solidFill>
                                        <a:effectLst/>
                                        <a:latin typeface="Cambria Math" panose="02040503050406030204" pitchFamily="18" charset="0"/>
                                      </a:rPr>
                                      <m:t>st</m:t>
                                    </m:r>
                                  </m:e>
                                  <m:sub>
                                    <m:r>
                                      <a:rPr lang="en-US" sz="1400" kern="0">
                                        <a:solidFill>
                                          <a:srgbClr val="C00000"/>
                                        </a:solidFill>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𝑒𝑛𝑑</m:t>
                                    </m:r>
                                  </m:e>
                                  <m:sub>
                                    <m:r>
                                      <a:rPr lang="en-US" sz="1400" kern="0">
                                        <a:effectLst/>
                                        <a:latin typeface="Cambria Math" panose="02040503050406030204" pitchFamily="18" charset="0"/>
                                      </a:rPr>
                                      <m:t>𝑗</m:t>
                                    </m:r>
                                  </m:sub>
                                </m:sSub>
                                <m:r>
                                  <a:rPr lang="en-US" sz="1400"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r>
                                  <a:rPr lang="en-US" sz="1400" kern="0">
                                    <a:effectLst/>
                                    <a:latin typeface="Cambria Math" panose="02040503050406030204" pitchFamily="18" charset="0"/>
                                  </a:rPr>
                                  <m:t>𝑀</m:t>
                                </m:r>
                                <m:r>
                                  <a:rPr lang="en-US" sz="1400" kern="0">
                                    <a:effectLst/>
                                    <a:latin typeface="Cambria Math" panose="02040503050406030204" pitchFamily="18" charset="0"/>
                                  </a:rPr>
                                  <m:t>(1−</m:t>
                                </m:r>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r>
                                  <a:rPr lang="en-US" sz="1400" kern="0">
                                    <a:effectLst/>
                                    <a:latin typeface="Cambria Math" panose="02040503050406030204" pitchFamily="18" charset="0"/>
                                  </a:rPr>
                                  <m:t>)</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tc>
                      <a:txBody>
                        <a:bodyPr/>
                        <a:lstStyle/>
                        <a:p>
                          <a:pPr algn="l">
                            <a:lnSpc>
                              <a:spcPct val="150000"/>
                            </a:lnSpc>
                          </a:pPr>
                          <a14:m>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a14:m>
                          <a:r>
                            <a:rPr lang="en-US" sz="1400" kern="0" dirty="0">
                              <a:effectLst/>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1884465236"/>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𝑎𝑐𝑡𝑖𝑣𝑖𝑡𝑦</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m:t>
                                    </m:r>
                                  </m:sub>
                                </m:sSub>
                                <m:r>
                                  <a:rPr lang="en-US" sz="1400" kern="0">
                                    <a:effectLst/>
                                    <a:latin typeface="Cambria Math" panose="02040503050406030204" pitchFamily="18" charset="0"/>
                                  </a:rPr>
                                  <m:t>−</m:t>
                                </m:r>
                                <m:nary>
                                  <m:naryPr>
                                    <m:chr m:val="∑"/>
                                    <m:limLoc m:val="undOvr"/>
                                    <m:supHide m:val="on"/>
                                    <m:ctrlPr>
                                      <a:rPr lang="zh-TW" sz="1400" i="1" kern="100">
                                        <a:effectLst/>
                                        <a:latin typeface="Cambria Math" panose="02040503050406030204" pitchFamily="18" charset="0"/>
                                      </a:rPr>
                                    </m:ctrlPr>
                                  </m:naryPr>
                                  <m:sub>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sub>
                                  <m:sup/>
                                  <m:e>
                                    <m:sSub>
                                      <m:sSubPr>
                                        <m:ctrlPr>
                                          <a:rPr lang="zh-TW" sz="1400" i="1" kern="100">
                                            <a:effectLst/>
                                            <a:latin typeface="Cambria Math" panose="02040503050406030204" pitchFamily="18" charset="0"/>
                                          </a:rPr>
                                        </m:ctrlPr>
                                      </m:sSubPr>
                                      <m:e>
                                        <m:r>
                                          <a:rPr lang="en-US" sz="1400" kern="0">
                                            <a:effectLst/>
                                            <a:latin typeface="Cambria Math" panose="02040503050406030204" pitchFamily="18" charset="0"/>
                                          </a:rPr>
                                          <m:t>𝑑𝑢𝑡𝑦</m:t>
                                        </m:r>
                                        <m:r>
                                          <a:rPr lang="en-US" sz="1400" kern="0">
                                            <a:effectLst/>
                                            <a:latin typeface="Cambria Math" panose="02040503050406030204" pitchFamily="18" charset="0"/>
                                          </a:rPr>
                                          <m:t>_</m:t>
                                        </m:r>
                                        <m:r>
                                          <a:rPr lang="en-US" sz="1400" kern="0">
                                            <a:effectLst/>
                                            <a:latin typeface="Cambria Math" panose="02040503050406030204" pitchFamily="18" charset="0"/>
                                          </a:rPr>
                                          <m:t>𝑤𝑖𝑛𝑑𝑜𝑤</m:t>
                                        </m:r>
                                        <m:r>
                                          <a:rPr lang="en-US" sz="1400" kern="0">
                                            <a:effectLst/>
                                            <a:latin typeface="Cambria Math" panose="02040503050406030204" pitchFamily="18" charset="0"/>
                                          </a:rPr>
                                          <m:t>_</m:t>
                                        </m:r>
                                        <m:r>
                                          <a:rPr lang="en-US" sz="1400" kern="0">
                                            <a:effectLst/>
                                            <a:latin typeface="Cambria Math" panose="02040503050406030204" pitchFamily="18" charset="0"/>
                                          </a:rPr>
                                          <m:t>𝑣𝑎𝑟</m:t>
                                        </m:r>
                                      </m:e>
                                      <m:sub>
                                        <m:r>
                                          <a:rPr lang="en-US" sz="1400" kern="0">
                                            <a:effectLst/>
                                            <a:latin typeface="Cambria Math" panose="02040503050406030204" pitchFamily="18" charset="0"/>
                                          </a:rPr>
                                          <m:t>𝑖𝑗</m:t>
                                        </m:r>
                                      </m:sub>
                                    </m:sSub>
                                  </m:e>
                                </m:nary>
                                <m:r>
                                  <a:rPr lang="en-US" sz="1400" kern="0">
                                    <a:effectLst/>
                                    <a:latin typeface="Cambria Math" panose="02040503050406030204" pitchFamily="18" charset="0"/>
                                  </a:rPr>
                                  <m:t>=0</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tc>
                      <a:txBody>
                        <a:bodyPr/>
                        <a:lstStyle/>
                        <a:p>
                          <a:pPr algn="just">
                            <a:lnSpc>
                              <a:spcPct val="150000"/>
                            </a:lnSpc>
                          </a:pPr>
                          <a14:m>
                            <m:oMathPara xmlns:m="http://schemas.openxmlformats.org/officeDocument/2006/math">
                              <m:oMathParaPr>
                                <m:jc m:val="left"/>
                              </m:oMathParaPr>
                              <m:oMath xmlns:m="http://schemas.openxmlformats.org/officeDocument/2006/math">
                                <m:r>
                                  <a:rPr lang="en-US" sz="1400" kern="0" smtClean="0">
                                    <a:effectLst/>
                                    <a:latin typeface="Cambria Math" panose="02040503050406030204" pitchFamily="18" charset="0"/>
                                  </a:rPr>
                                  <m:t>∀</m:t>
                                </m:r>
                                <m:r>
                                  <a:rPr lang="en-US" sz="1400" kern="0" smtClean="0">
                                    <a:effectLst/>
                                    <a:latin typeface="Cambria Math" panose="02040503050406030204" pitchFamily="18" charset="0"/>
                                  </a:rPr>
                                  <m:t>𝑖</m:t>
                                </m:r>
                                <m:r>
                                  <a:rPr lang="en-US" sz="1400" i="1" kern="0" smtClea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oMath>
                            </m:oMathPara>
                          </a14:m>
                          <a:endParaRPr lang="zh-TW" sz="1400" i="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3993604417"/>
                      </a:ext>
                    </a:extLst>
                  </a:tr>
                  <a:tr h="0">
                    <a:tc>
                      <a:txBody>
                        <a:bodyPr/>
                        <a:lstStyle/>
                        <a:p>
                          <a:pPr algn="just">
                            <a:lnSpc>
                              <a:spcPct val="150000"/>
                            </a:lnSpc>
                          </a:pPr>
                          <a14:m>
                            <m:oMathPara xmlns:m="http://schemas.openxmlformats.org/officeDocument/2006/math">
                              <m:oMathParaPr>
                                <m:jc m:val="left"/>
                              </m:oMathParaPr>
                              <m:oMath xmlns:m="http://schemas.openxmlformats.org/officeDocument/2006/math">
                                <m:nary>
                                  <m:naryPr>
                                    <m:chr m:val="∑"/>
                                    <m:limLoc m:val="undOvr"/>
                                    <m:supHide m:val="on"/>
                                    <m:ctrlPr>
                                      <a:rPr lang="zh-TW" sz="1400" i="1" kern="100" smtClean="0">
                                        <a:effectLst/>
                                        <a:latin typeface="Cambria Math" panose="02040503050406030204" pitchFamily="18" charset="0"/>
                                      </a:rPr>
                                    </m:ctrlPr>
                                  </m:naryPr>
                                  <m:sub>
                                    <m:r>
                                      <a:rPr lang="en-US" sz="1400" i="1" kern="0">
                                        <a:effectLst/>
                                        <a:latin typeface="Cambria Math" panose="02040503050406030204" pitchFamily="18" charset="0"/>
                                      </a:rPr>
                                      <m:t>𝑖</m:t>
                                    </m:r>
                                    <m:r>
                                      <a:rPr lang="en-US" sz="1400" i="1" kern="0">
                                        <a:effectLst/>
                                        <a:latin typeface="Cambria Math" panose="02040503050406030204" pitchFamily="18" charset="0"/>
                                      </a:rPr>
                                      <m:t>∈</m:t>
                                    </m:r>
                                    <m:r>
                                      <a:rPr lang="en-US" sz="1400" b="0" i="1" kern="0" smtClean="0">
                                        <a:effectLst/>
                                        <a:latin typeface="Cambria Math" panose="02040503050406030204" pitchFamily="18" charset="0"/>
                                      </a:rPr>
                                      <m:t>𝑅𝑆𝐼</m:t>
                                    </m:r>
                                    <m:r>
                                      <a:rPr lang="en-US" sz="1400" b="0" i="1" kern="0" smtClean="0">
                                        <a:effectLst/>
                                        <a:latin typeface="Cambria Math" panose="02040503050406030204" pitchFamily="18" charset="0"/>
                                      </a:rPr>
                                      <m:t>_</m:t>
                                    </m:r>
                                    <m:r>
                                      <a:rPr lang="en-US" sz="1400" b="0" i="1" kern="0" smtClean="0">
                                        <a:effectLst/>
                                        <a:latin typeface="Cambria Math" panose="02040503050406030204" pitchFamily="18" charset="0"/>
                                      </a:rPr>
                                      <m:t>𝑅𝐸𝐶</m:t>
                                    </m:r>
                                  </m:sub>
                                  <m:sup/>
                                  <m:e>
                                    <m:sSub>
                                      <m:sSubPr>
                                        <m:ctrlPr>
                                          <a:rPr lang="zh-TW" sz="1400" i="1" kern="100">
                                            <a:effectLst/>
                                            <a:latin typeface="Cambria Math" panose="02040503050406030204" pitchFamily="18" charset="0"/>
                                          </a:rPr>
                                        </m:ctrlPr>
                                      </m:sSubPr>
                                      <m:e>
                                        <m:r>
                                          <a:rPr lang="en-US" sz="1400" i="1" kern="0">
                                            <a:effectLst/>
                                            <a:latin typeface="Cambria Math" panose="02040503050406030204" pitchFamily="18" charset="0"/>
                                          </a:rPr>
                                          <m:t>𝑎𝑐𝑡𝑖𝑣𝑖𝑡𝑦</m:t>
                                        </m:r>
                                        <m:r>
                                          <a:rPr lang="en-US" sz="1400" i="1" kern="0">
                                            <a:effectLst/>
                                            <a:latin typeface="Cambria Math" panose="02040503050406030204" pitchFamily="18" charset="0"/>
                                          </a:rPr>
                                          <m:t>_</m:t>
                                        </m:r>
                                        <m:r>
                                          <a:rPr lang="en-US" sz="1400" i="1" kern="0">
                                            <a:effectLst/>
                                            <a:latin typeface="Cambria Math" panose="02040503050406030204" pitchFamily="18" charset="0"/>
                                          </a:rPr>
                                          <m:t>𝑑𝑢𝑟</m:t>
                                        </m:r>
                                      </m:e>
                                      <m:sub>
                                        <m:r>
                                          <a:rPr lang="en-US" sz="1400" i="1" kern="0">
                                            <a:effectLst/>
                                            <a:latin typeface="Cambria Math" panose="02040503050406030204" pitchFamily="18" charset="0"/>
                                          </a:rPr>
                                          <m:t>𝑖</m:t>
                                        </m:r>
                                      </m:sub>
                                    </m:sSub>
                                  </m:e>
                                </m:nary>
                                <m:r>
                                  <a:rPr lang="en-US" sz="1400" i="1" kern="0">
                                    <a:effectLst/>
                                    <a:latin typeface="Cambria Math" panose="02040503050406030204" pitchFamily="18" charset="0"/>
                                  </a:rPr>
                                  <m:t>×</m:t>
                                </m:r>
                                <m:sSub>
                                  <m:sSubPr>
                                    <m:ctrlPr>
                                      <a:rPr lang="zh-TW" sz="1400" i="1" kern="100">
                                        <a:effectLst/>
                                        <a:latin typeface="Cambria Math" panose="02040503050406030204" pitchFamily="18" charset="0"/>
                                      </a:rPr>
                                    </m:ctrlPr>
                                  </m:sSubPr>
                                  <m:e>
                                    <m:r>
                                      <a:rPr lang="en-US" sz="1400" i="1" kern="0">
                                        <a:effectLst/>
                                        <a:latin typeface="Cambria Math" panose="02040503050406030204" pitchFamily="18" charset="0"/>
                                      </a:rPr>
                                      <m:t>𝑑𝑢𝑡𝑦</m:t>
                                    </m:r>
                                    <m:r>
                                      <a:rPr lang="en-US" sz="1400" i="1" kern="0">
                                        <a:effectLst/>
                                        <a:latin typeface="Cambria Math" panose="02040503050406030204" pitchFamily="18" charset="0"/>
                                      </a:rPr>
                                      <m:t>_</m:t>
                                    </m:r>
                                    <m:r>
                                      <a:rPr lang="en-US" sz="1400" i="1" kern="0">
                                        <a:effectLst/>
                                        <a:latin typeface="Cambria Math" panose="02040503050406030204" pitchFamily="18" charset="0"/>
                                      </a:rPr>
                                      <m:t>𝑤𝑖𝑛𝑑𝑜𝑤</m:t>
                                    </m:r>
                                    <m:r>
                                      <a:rPr lang="en-US" sz="1400" i="1" kern="0">
                                        <a:effectLst/>
                                        <a:latin typeface="Cambria Math" panose="02040503050406030204" pitchFamily="18" charset="0"/>
                                      </a:rPr>
                                      <m:t>_</m:t>
                                    </m:r>
                                    <m:r>
                                      <a:rPr lang="en-US" sz="1400" i="1" kern="0">
                                        <a:effectLst/>
                                        <a:latin typeface="Cambria Math" panose="02040503050406030204" pitchFamily="18" charset="0"/>
                                      </a:rPr>
                                      <m:t>𝑣𝑎𝑟</m:t>
                                    </m:r>
                                  </m:e>
                                  <m:sub>
                                    <m:r>
                                      <a:rPr lang="en-US" sz="1400" i="1" kern="0">
                                        <a:effectLst/>
                                        <a:latin typeface="Cambria Math" panose="02040503050406030204" pitchFamily="18" charset="0"/>
                                      </a:rPr>
                                      <m:t>𝑖𝑗</m:t>
                                    </m:r>
                                  </m:sub>
                                </m:sSub>
                                <m:r>
                                  <a:rPr lang="en-US" sz="1400" kern="0">
                                    <a:effectLst/>
                                    <a:latin typeface="Cambria Math" panose="02040503050406030204" pitchFamily="18" charset="0"/>
                                  </a:rPr>
                                  <m:t>≤</m:t>
                                </m:r>
                                <m:r>
                                  <a:rPr lang="en-US" sz="1400" kern="0">
                                    <a:effectLst/>
                                    <a:latin typeface="Cambria Math" panose="02040503050406030204" pitchFamily="18" charset="0"/>
                                  </a:rPr>
                                  <m:t>𝑡𝑖𝑚𝑒</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tc>
                      <a:txBody>
                        <a:bodyPr/>
                        <a:lstStyle/>
                        <a:p>
                          <a:pPr algn="just">
                            <a:lnSpc>
                              <a:spcPct val="150000"/>
                            </a:lnSpc>
                          </a:pPr>
                          <a14:m>
                            <m:oMathPara xmlns:m="http://schemas.openxmlformats.org/officeDocument/2006/math">
                              <m:oMathParaPr>
                                <m:jc m:val="left"/>
                              </m:oMathParaPr>
                              <m:oMath xmlns:m="http://schemas.openxmlformats.org/officeDocument/2006/math">
                                <m:r>
                                  <a:rPr lang="en-US" sz="1400" kern="0">
                                    <a:effectLst/>
                                    <a:latin typeface="Cambria Math" panose="02040503050406030204" pitchFamily="18" charset="0"/>
                                  </a:rPr>
                                  <m:t>∀</m:t>
                                </m:r>
                                <m:r>
                                  <a:rPr lang="en-US" sz="1400" kern="0">
                                    <a:effectLst/>
                                    <a:latin typeface="Cambria Math" panose="02040503050406030204" pitchFamily="18" charset="0"/>
                                  </a:rPr>
                                  <m:t>𝑗</m:t>
                                </m:r>
                                <m:r>
                                  <a:rPr lang="en-US" sz="1400" kern="0">
                                    <a:effectLst/>
                                    <a:latin typeface="Cambria Math" panose="02040503050406030204" pitchFamily="18" charset="0"/>
                                  </a:rPr>
                                  <m:t>∈</m:t>
                                </m:r>
                                <m:r>
                                  <a:rPr lang="en-US" sz="1400" kern="0">
                                    <a:effectLst/>
                                    <a:latin typeface="Cambria Math" panose="02040503050406030204" pitchFamily="18" charset="0"/>
                                  </a:rPr>
                                  <m:t>𝐷𝑈𝑇𝑌</m:t>
                                </m:r>
                                <m:r>
                                  <a:rPr lang="en-US" sz="1400" kern="0">
                                    <a:effectLst/>
                                    <a:latin typeface="Cambria Math" panose="02040503050406030204" pitchFamily="18" charset="0"/>
                                  </a:rPr>
                                  <m:t>_</m:t>
                                </m:r>
                                <m:r>
                                  <a:rPr lang="en-US" sz="1400" kern="0">
                                    <a:effectLst/>
                                    <a:latin typeface="Cambria Math" panose="02040503050406030204" pitchFamily="18" charset="0"/>
                                  </a:rPr>
                                  <m:t>𝑊𝐼𝑁𝐷𝑂𝑊</m:t>
                                </m:r>
                              </m:oMath>
                            </m:oMathPara>
                          </a14:m>
                          <a:endParaRPr 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304500399"/>
                      </a:ext>
                    </a:extLst>
                  </a:tr>
                </a:tbl>
              </a:graphicData>
            </a:graphic>
          </p:graphicFrame>
        </mc:Choice>
        <mc:Fallback xmlns="">
          <p:graphicFrame>
            <p:nvGraphicFramePr>
              <p:cNvPr id="19" name="表格 18">
                <a:extLst>
                  <a:ext uri="{FF2B5EF4-FFF2-40B4-BE49-F238E27FC236}">
                    <a16:creationId xmlns:a16="http://schemas.microsoft.com/office/drawing/2014/main" id="{4E4A93BF-63A1-167E-AE3A-A103C1E9CA9C}"/>
                  </a:ext>
                </a:extLst>
              </p:cNvPr>
              <p:cNvGraphicFramePr>
                <a:graphicFrameLocks noGrp="1"/>
              </p:cNvGraphicFramePr>
              <p:nvPr>
                <p:extLst>
                  <p:ext uri="{D42A27DB-BD31-4B8C-83A1-F6EECF244321}">
                    <p14:modId xmlns:p14="http://schemas.microsoft.com/office/powerpoint/2010/main" val="1492504407"/>
                  </p:ext>
                </p:extLst>
              </p:nvPr>
            </p:nvGraphicFramePr>
            <p:xfrm>
              <a:off x="180901" y="1298751"/>
              <a:ext cx="6446325" cy="3615841"/>
            </p:xfrm>
            <a:graphic>
              <a:graphicData uri="http://schemas.openxmlformats.org/drawingml/2006/table">
                <a:tbl>
                  <a:tblPr firstRow="1" firstCol="1" bandRow="1">
                    <a:tableStyleId>{8B193ECF-1327-48E1-8871-2513AA109082}</a:tableStyleId>
                  </a:tblPr>
                  <a:tblGrid>
                    <a:gridCol w="4591050">
                      <a:extLst>
                        <a:ext uri="{9D8B030D-6E8A-4147-A177-3AD203B41FA5}">
                          <a16:colId xmlns:a16="http://schemas.microsoft.com/office/drawing/2014/main" val="2026323258"/>
                        </a:ext>
                      </a:extLst>
                    </a:gridCol>
                    <a:gridCol w="1855275">
                      <a:extLst>
                        <a:ext uri="{9D8B030D-6E8A-4147-A177-3AD203B41FA5}">
                          <a16:colId xmlns:a16="http://schemas.microsoft.com/office/drawing/2014/main" val="255294283"/>
                        </a:ext>
                      </a:extLst>
                    </a:gridCol>
                  </a:tblGrid>
                  <a:tr h="324000">
                    <a:tc gridSpan="2">
                      <a:txBody>
                        <a:bodyPr/>
                        <a:lstStyle/>
                        <a:p>
                          <a:pPr algn="just"/>
                          <a:r>
                            <a:rPr lang="en-US" sz="1400" b="1" kern="0" dirty="0" err="1">
                              <a:effectLst/>
                              <a:latin typeface="Times New Roman" panose="02020603050405020304" pitchFamily="18" charset="0"/>
                              <a:ea typeface="標楷體" panose="03000509000000000000" pitchFamily="65" charset="-120"/>
                              <a:cs typeface="Times New Roman" panose="02020603050405020304" pitchFamily="18" charset="0"/>
                            </a:rPr>
                            <a:t>duty_cycle</a:t>
                          </a:r>
                          <a:r>
                            <a:rPr lang="en-US" sz="1400" b="1" kern="0" dirty="0">
                              <a:effectLst/>
                              <a:latin typeface="Times New Roman" panose="02020603050405020304" pitchFamily="18" charset="0"/>
                              <a:ea typeface="標楷體" panose="03000509000000000000" pitchFamily="65" charset="-120"/>
                              <a:cs typeface="Times New Roman" panose="02020603050405020304" pitchFamily="18" charset="0"/>
                            </a:rPr>
                            <a:t>(time)</a:t>
                          </a:r>
                          <a:endParaRPr lang="zh-TW" sz="14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solidFill>
                          <a:schemeClr val="bg1">
                            <a:lumMod val="85000"/>
                          </a:schemeClr>
                        </a:solidFill>
                      </a:tcPr>
                    </a:tc>
                    <a:tc hMerge="1">
                      <a:txBody>
                        <a:bodyPr/>
                        <a:lstStyle/>
                        <a:p>
                          <a:endParaRPr lang="zh-TW" altLang="en-US"/>
                        </a:p>
                      </a:txBody>
                      <a:tcPr/>
                    </a:tc>
                    <a:extLst>
                      <a:ext uri="{0D108BD9-81ED-4DB2-BD59-A6C34878D82A}">
                        <a16:rowId xmlns:a16="http://schemas.microsoft.com/office/drawing/2014/main" val="4211291283"/>
                      </a:ext>
                    </a:extLst>
                  </a:tr>
                  <a:tr h="663067">
                    <a:tc>
                      <a:txBody>
                        <a:bodyPr/>
                        <a:lstStyle/>
                        <a:p>
                          <a:endParaRPr lang="zh-TW"/>
                        </a:p>
                      </a:txBody>
                      <a:tcPr marL="68580" marR="68580" marT="0" marB="0">
                        <a:blipFill>
                          <a:blip r:embed="rId3"/>
                          <a:stretch>
                            <a:fillRect l="-133" t="-49541" r="-40584" b="-397248"/>
                          </a:stretch>
                        </a:blipFill>
                      </a:tcPr>
                    </a:tc>
                    <a:tc>
                      <a:txBody>
                        <a:bodyPr/>
                        <a:lstStyle/>
                        <a:p>
                          <a:endParaRPr lang="zh-TW"/>
                        </a:p>
                      </a:txBody>
                      <a:tcPr marL="68580" marR="68580" marT="0" marB="0">
                        <a:blipFill>
                          <a:blip r:embed="rId3"/>
                          <a:stretch>
                            <a:fillRect l="-247541" t="-49541" r="-328" b="-397248"/>
                          </a:stretch>
                        </a:blipFill>
                      </a:tcPr>
                    </a:tc>
                    <a:extLst>
                      <a:ext uri="{0D108BD9-81ED-4DB2-BD59-A6C34878D82A}">
                        <a16:rowId xmlns:a16="http://schemas.microsoft.com/office/drawing/2014/main" val="2702731272"/>
                      </a:ext>
                    </a:extLst>
                  </a:tr>
                  <a:tr h="1013397">
                    <a:tc>
                      <a:txBody>
                        <a:bodyPr/>
                        <a:lstStyle/>
                        <a:p>
                          <a:endParaRPr lang="zh-TW"/>
                        </a:p>
                      </a:txBody>
                      <a:tcPr marL="68580" marR="68580" marT="0" marB="0">
                        <a:blipFill>
                          <a:blip r:embed="rId3"/>
                          <a:stretch>
                            <a:fillRect l="-133" t="-97605" r="-40584" b="-159281"/>
                          </a:stretch>
                        </a:blipFill>
                      </a:tcPr>
                    </a:tc>
                    <a:tc>
                      <a:txBody>
                        <a:bodyPr/>
                        <a:lstStyle/>
                        <a:p>
                          <a:endParaRPr lang="zh-TW"/>
                        </a:p>
                      </a:txBody>
                      <a:tcPr marL="68580" marR="68580" marT="0" marB="0">
                        <a:blipFill>
                          <a:blip r:embed="rId3"/>
                          <a:stretch>
                            <a:fillRect l="-247541" t="-97605" r="-328" b="-159281"/>
                          </a:stretch>
                        </a:blipFill>
                      </a:tcPr>
                    </a:tc>
                    <a:extLst>
                      <a:ext uri="{0D108BD9-81ED-4DB2-BD59-A6C34878D82A}">
                        <a16:rowId xmlns:a16="http://schemas.microsoft.com/office/drawing/2014/main" val="1884465236"/>
                      </a:ext>
                    </a:extLst>
                  </a:tr>
                  <a:tr h="817436">
                    <a:tc>
                      <a:txBody>
                        <a:bodyPr/>
                        <a:lstStyle/>
                        <a:p>
                          <a:endParaRPr lang="zh-TW"/>
                        </a:p>
                      </a:txBody>
                      <a:tcPr marL="68580" marR="68580" marT="0" marB="0">
                        <a:blipFill>
                          <a:blip r:embed="rId3"/>
                          <a:stretch>
                            <a:fillRect l="-133" t="-246269" r="-40584" b="-98507"/>
                          </a:stretch>
                        </a:blipFill>
                      </a:tcPr>
                    </a:tc>
                    <a:tc>
                      <a:txBody>
                        <a:bodyPr/>
                        <a:lstStyle/>
                        <a:p>
                          <a:endParaRPr lang="zh-TW"/>
                        </a:p>
                      </a:txBody>
                      <a:tcPr marL="68580" marR="68580" marT="0" marB="0">
                        <a:blipFill>
                          <a:blip r:embed="rId3"/>
                          <a:stretch>
                            <a:fillRect l="-247541" t="-246269" r="-328" b="-98507"/>
                          </a:stretch>
                        </a:blipFill>
                      </a:tcPr>
                    </a:tc>
                    <a:extLst>
                      <a:ext uri="{0D108BD9-81ED-4DB2-BD59-A6C34878D82A}">
                        <a16:rowId xmlns:a16="http://schemas.microsoft.com/office/drawing/2014/main" val="3993604417"/>
                      </a:ext>
                    </a:extLst>
                  </a:tr>
                  <a:tr h="797941">
                    <a:tc>
                      <a:txBody>
                        <a:bodyPr/>
                        <a:lstStyle/>
                        <a:p>
                          <a:endParaRPr lang="zh-TW"/>
                        </a:p>
                      </a:txBody>
                      <a:tcPr marL="68580" marR="68580" marT="0" marB="0">
                        <a:blipFill>
                          <a:blip r:embed="rId3"/>
                          <a:stretch>
                            <a:fillRect l="-133" t="-354198" r="-40584" b="-763"/>
                          </a:stretch>
                        </a:blipFill>
                      </a:tcPr>
                    </a:tc>
                    <a:tc>
                      <a:txBody>
                        <a:bodyPr/>
                        <a:lstStyle/>
                        <a:p>
                          <a:endParaRPr lang="zh-TW"/>
                        </a:p>
                      </a:txBody>
                      <a:tcPr marL="68580" marR="68580" marT="0" marB="0">
                        <a:blipFill>
                          <a:blip r:embed="rId3"/>
                          <a:stretch>
                            <a:fillRect l="-247541" t="-354198" r="-328" b="-763"/>
                          </a:stretch>
                        </a:blipFill>
                      </a:tcPr>
                    </a:tc>
                    <a:extLst>
                      <a:ext uri="{0D108BD9-81ED-4DB2-BD59-A6C34878D82A}">
                        <a16:rowId xmlns:a16="http://schemas.microsoft.com/office/drawing/2014/main" val="2304500399"/>
                      </a:ext>
                    </a:extLst>
                  </a:tr>
                </a:tbl>
              </a:graphicData>
            </a:graphic>
          </p:graphicFrame>
        </mc:Fallback>
      </mc:AlternateContent>
      <p:sp>
        <p:nvSpPr>
          <p:cNvPr id="20" name="右大括弧 19">
            <a:extLst>
              <a:ext uri="{FF2B5EF4-FFF2-40B4-BE49-F238E27FC236}">
                <a16:creationId xmlns:a16="http://schemas.microsoft.com/office/drawing/2014/main" id="{7964B3D3-1336-39B5-5BB4-7F9DF11E0046}"/>
              </a:ext>
            </a:extLst>
          </p:cNvPr>
          <p:cNvSpPr/>
          <p:nvPr/>
        </p:nvSpPr>
        <p:spPr>
          <a:xfrm>
            <a:off x="6627226" y="1943960"/>
            <a:ext cx="250703" cy="972000"/>
          </a:xfrm>
          <a:prstGeom prst="rightBrace">
            <a:avLst>
              <a:gd name="adj1" fmla="val 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E476D8C2-B3E4-DE0E-4DA4-43F1C58A98C6}"/>
              </a:ext>
            </a:extLst>
          </p:cNvPr>
          <p:cNvSpPr txBox="1"/>
          <p:nvPr/>
        </p:nvSpPr>
        <p:spPr>
          <a:xfrm>
            <a:off x="6877929" y="2135982"/>
            <a:ext cx="1772457" cy="587533"/>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判斷該活動落於哪個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p>
        </p:txBody>
      </p:sp>
      <p:sp>
        <p:nvSpPr>
          <p:cNvPr id="22" name="文字方塊 21">
            <a:extLst>
              <a:ext uri="{FF2B5EF4-FFF2-40B4-BE49-F238E27FC236}">
                <a16:creationId xmlns:a16="http://schemas.microsoft.com/office/drawing/2014/main" id="{7D0E53D0-9E4B-663D-1711-271D7110A746}"/>
              </a:ext>
            </a:extLst>
          </p:cNvPr>
          <p:cNvSpPr txBox="1"/>
          <p:nvPr/>
        </p:nvSpPr>
        <p:spPr>
          <a:xfrm>
            <a:off x="6672128" y="3420697"/>
            <a:ext cx="2184057" cy="587533"/>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 一個活動必定會落在一個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p>
        </p:txBody>
      </p:sp>
      <p:sp>
        <p:nvSpPr>
          <p:cNvPr id="23" name="文字方塊 22">
            <a:extLst>
              <a:ext uri="{FF2B5EF4-FFF2-40B4-BE49-F238E27FC236}">
                <a16:creationId xmlns:a16="http://schemas.microsoft.com/office/drawing/2014/main" id="{F8E813F4-2E31-0C80-BF99-EE25474F33B2}"/>
              </a:ext>
            </a:extLst>
          </p:cNvPr>
          <p:cNvSpPr txBox="1"/>
          <p:nvPr/>
        </p:nvSpPr>
        <p:spPr>
          <a:xfrm>
            <a:off x="6672127" y="4068527"/>
            <a:ext cx="2290972" cy="846065"/>
          </a:xfrm>
          <a:prstGeom prst="rect">
            <a:avLst/>
          </a:prstGeom>
          <a:noFill/>
        </p:spPr>
        <p:txBody>
          <a:bodyPr wrap="square" rtlCol="0">
            <a:spAutoFit/>
          </a:bodyPr>
          <a:lstStyle/>
          <a:p>
            <a:pPr>
              <a:lnSpc>
                <a:spcPct val="120000"/>
              </a:lnSpc>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→所有落在同一個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duty cycle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中的活動，其執行時長加總不能超過給定的</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time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Google Shape;230;p30">
            <a:extLst>
              <a:ext uri="{FF2B5EF4-FFF2-40B4-BE49-F238E27FC236}">
                <a16:creationId xmlns:a16="http://schemas.microsoft.com/office/drawing/2014/main" id="{D951C8CA-98FD-B6BF-1087-79D0BE9B7314}"/>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4;p30">
            <a:hlinkClick r:id="" action="ppaction://hlinkshowjump?jump=firstslide"/>
            <a:extLst>
              <a:ext uri="{FF2B5EF4-FFF2-40B4-BE49-F238E27FC236}">
                <a16:creationId xmlns:a16="http://schemas.microsoft.com/office/drawing/2014/main" id="{619A6DD1-FAD0-3198-A60F-4E12AA5E4359}"/>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Google Shape;234;p30">
            <a:hlinkClick r:id="" action="ppaction://hlinkshowjump?jump=firstslide"/>
            <a:extLst>
              <a:ext uri="{FF2B5EF4-FFF2-40B4-BE49-F238E27FC236}">
                <a16:creationId xmlns:a16="http://schemas.microsoft.com/office/drawing/2014/main" id="{1DD61F06-75FC-00E5-A4C6-DDB95A69BD92}"/>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4" action="ppaction://hlinksldjump"/>
            <a:extLst>
              <a:ext uri="{FF2B5EF4-FFF2-40B4-BE49-F238E27FC236}">
                <a16:creationId xmlns:a16="http://schemas.microsoft.com/office/drawing/2014/main" id="{224EEF88-6D41-2A21-7969-7B69A2ED5785}"/>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矩形 26">
            <a:hlinkClick r:id="rId5" action="ppaction://hlinksldjump"/>
            <a:extLst>
              <a:ext uri="{FF2B5EF4-FFF2-40B4-BE49-F238E27FC236}">
                <a16:creationId xmlns:a16="http://schemas.microsoft.com/office/drawing/2014/main" id="{C9EFC700-1F74-BE75-80DA-0997B50E373C}"/>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Google Shape;234;p30">
            <a:hlinkClick r:id="" action="ppaction://hlinkshowjump?jump=firstslide"/>
            <a:extLst>
              <a:ext uri="{FF2B5EF4-FFF2-40B4-BE49-F238E27FC236}">
                <a16:creationId xmlns:a16="http://schemas.microsoft.com/office/drawing/2014/main" id="{F6D3A52D-1BA1-3179-C5DA-B40361BC81D4}"/>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6" action="ppaction://hlinksldjump"/>
            <a:extLst>
              <a:ext uri="{FF2B5EF4-FFF2-40B4-BE49-F238E27FC236}">
                <a16:creationId xmlns:a16="http://schemas.microsoft.com/office/drawing/2014/main" id="{C5C1078D-DA70-32CE-0AB0-1B83C400DCF7}"/>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93DF727B-641D-7C60-0267-342B1175C233}"/>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7" action="ppaction://hlinksldjump"/>
            <a:extLst>
              <a:ext uri="{FF2B5EF4-FFF2-40B4-BE49-F238E27FC236}">
                <a16:creationId xmlns:a16="http://schemas.microsoft.com/office/drawing/2014/main" id="{42568649-BA91-131D-9554-3F5E88617180}"/>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2CADD47E-7AF3-2283-61F2-10AD5C3F6606}"/>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8" action="ppaction://hlinksldjump"/>
            <a:extLst>
              <a:ext uri="{FF2B5EF4-FFF2-40B4-BE49-F238E27FC236}">
                <a16:creationId xmlns:a16="http://schemas.microsoft.com/office/drawing/2014/main" id="{603ACDEC-8627-D46B-1040-0C94AC933A59}"/>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Google Shape;234;p30">
            <a:hlinkClick r:id="" action="ppaction://hlinkshowjump?jump=firstslide"/>
            <a:extLst>
              <a:ext uri="{FF2B5EF4-FFF2-40B4-BE49-F238E27FC236}">
                <a16:creationId xmlns:a16="http://schemas.microsoft.com/office/drawing/2014/main" id="{E0CF7C84-1BC7-C70B-A80C-DBA92651B881}"/>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矩形 34">
            <a:hlinkClick r:id="rId9" action="ppaction://hlinksldjump"/>
            <a:extLst>
              <a:ext uri="{FF2B5EF4-FFF2-40B4-BE49-F238E27FC236}">
                <a16:creationId xmlns:a16="http://schemas.microsoft.com/office/drawing/2014/main" id="{8F297A5E-6EDF-E354-9EA6-CE7CBF03EA1F}"/>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92218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626755"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11/13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5. </a:t>
            </a:r>
            <a:r>
              <a:rPr lang="en-US" altLang="zh-TW" sz="1600" b="1" dirty="0" err="1">
                <a:solidFill>
                  <a:srgbClr val="C00000"/>
                </a:solidFill>
                <a:latin typeface="Times New Roman" panose="02020603050405020304" pitchFamily="18" charset="0"/>
                <a:ea typeface="標楷體" panose="03000509000000000000" pitchFamily="65" charset="-120"/>
              </a:rPr>
              <a:t>Xband</a:t>
            </a:r>
            <a:r>
              <a:rPr lang="en-US" altLang="zh-TW" sz="1600" b="1" dirty="0">
                <a:solidFill>
                  <a:srgbClr val="C00000"/>
                </a:solidFill>
                <a:latin typeface="Times New Roman" panose="02020603050405020304" pitchFamily="18" charset="0"/>
                <a:ea typeface="標楷體" panose="03000509000000000000" pitchFamily="65" charset="-120"/>
              </a:rPr>
              <a:t> Contact</a:t>
            </a:r>
            <a:r>
              <a:rPr lang="zh-TW" altLang="en-US" sz="1600" b="1" dirty="0">
                <a:solidFill>
                  <a:srgbClr val="C00000"/>
                </a:solidFill>
                <a:latin typeface="Times New Roman" panose="02020603050405020304" pitchFamily="18" charset="0"/>
                <a:ea typeface="標楷體" panose="03000509000000000000" pitchFamily="65" charset="-120"/>
              </a:rPr>
              <a:t>資源無使用完全</a:t>
            </a:r>
          </a:p>
        </p:txBody>
      </p:sp>
      <p:sp>
        <p:nvSpPr>
          <p:cNvPr id="18" name="文字方塊 17">
            <a:extLst>
              <a:ext uri="{FF2B5EF4-FFF2-40B4-BE49-F238E27FC236}">
                <a16:creationId xmlns:a16="http://schemas.microsoft.com/office/drawing/2014/main" id="{B0C0562A-1421-C51D-0F27-E1368F4ABC54}"/>
              </a:ext>
            </a:extLst>
          </p:cNvPr>
          <p:cNvSpPr txBox="1"/>
          <p:nvPr/>
        </p:nvSpPr>
        <p:spPr>
          <a:xfrm>
            <a:off x="22753" y="1319575"/>
            <a:ext cx="9008888" cy="302435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問題呈現如下頁圖所示，圖中為某次測試下的排程結果，可以看到</a:t>
            </a:r>
            <a:r>
              <a:rPr lang="en-US" altLang="zh-TW" dirty="0">
                <a:latin typeface="Times New Roman" panose="02020603050405020304" pitchFamily="18" charset="0"/>
                <a:ea typeface="標楷體" panose="03000509000000000000" pitchFamily="65" charset="-120"/>
              </a:rPr>
              <a:t>Contact ID 77991</a:t>
            </a:r>
            <a:r>
              <a:rPr lang="zh-TW" altLang="en-US" dirty="0">
                <a:latin typeface="Times New Roman" panose="02020603050405020304" pitchFamily="18" charset="0"/>
                <a:ea typeface="標楷體" panose="03000509000000000000" pitchFamily="65" charset="-120"/>
              </a:rPr>
              <a:t>的地面站在最後面有一分多鐘的時間尚未被使用。</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而後面的</a:t>
            </a:r>
            <a:r>
              <a:rPr lang="en-US" altLang="zh-TW" dirty="0">
                <a:latin typeface="Times New Roman" panose="02020603050405020304" pitchFamily="18" charset="0"/>
                <a:ea typeface="標楷體" panose="03000509000000000000" pitchFamily="65" charset="-120"/>
              </a:rPr>
              <a:t>Contact ID 77998</a:t>
            </a:r>
            <a:r>
              <a:rPr lang="zh-TW" altLang="en-US" dirty="0">
                <a:latin typeface="Times New Roman" panose="02020603050405020304" pitchFamily="18" charset="0"/>
                <a:ea typeface="標楷體" panose="03000509000000000000" pitchFamily="65" charset="-120"/>
              </a:rPr>
              <a:t>地面站中的部分活動應可於前面執行。</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此問題的形成可能涉及多項原因，難以透過調整模型達到預期的結果，因此此處開發人員會藉由後處理去重新針對排程結果作微調，嘗試將後面的活動在不違反所有限制條件下移動到前方。</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問題已排除。</a:t>
            </a:r>
          </a:p>
        </p:txBody>
      </p:sp>
      <p:sp>
        <p:nvSpPr>
          <p:cNvPr id="20" name="Google Shape;230;p30">
            <a:extLst>
              <a:ext uri="{FF2B5EF4-FFF2-40B4-BE49-F238E27FC236}">
                <a16:creationId xmlns:a16="http://schemas.microsoft.com/office/drawing/2014/main" id="{ACC8570E-6F08-48BB-2E07-44A07E42D5C2}"/>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4;p30">
            <a:hlinkClick r:id="" action="ppaction://hlinkshowjump?jump=firstslide"/>
            <a:extLst>
              <a:ext uri="{FF2B5EF4-FFF2-40B4-BE49-F238E27FC236}">
                <a16:creationId xmlns:a16="http://schemas.microsoft.com/office/drawing/2014/main" id="{4A71C443-1C61-7F8F-B122-13566D492E82}"/>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Google Shape;234;p30">
            <a:hlinkClick r:id="" action="ppaction://hlinkshowjump?jump=firstslide"/>
            <a:extLst>
              <a:ext uri="{FF2B5EF4-FFF2-40B4-BE49-F238E27FC236}">
                <a16:creationId xmlns:a16="http://schemas.microsoft.com/office/drawing/2014/main" id="{99833A05-E6A6-DDE8-305C-6B500D7A7E19}"/>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矩形 22">
            <a:hlinkClick r:id="rId3" action="ppaction://hlinksldjump"/>
            <a:extLst>
              <a:ext uri="{FF2B5EF4-FFF2-40B4-BE49-F238E27FC236}">
                <a16:creationId xmlns:a16="http://schemas.microsoft.com/office/drawing/2014/main" id="{DC6569EF-AA5C-F09B-06BE-157F05351510}"/>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hlinkClick r:id="rId4" action="ppaction://hlinksldjump"/>
            <a:extLst>
              <a:ext uri="{FF2B5EF4-FFF2-40B4-BE49-F238E27FC236}">
                <a16:creationId xmlns:a16="http://schemas.microsoft.com/office/drawing/2014/main" id="{F4E3B204-7ACC-9004-F056-A24D7E0EA564}"/>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Google Shape;234;p30">
            <a:hlinkClick r:id="" action="ppaction://hlinkshowjump?jump=firstslide"/>
            <a:extLst>
              <a:ext uri="{FF2B5EF4-FFF2-40B4-BE49-F238E27FC236}">
                <a16:creationId xmlns:a16="http://schemas.microsoft.com/office/drawing/2014/main" id="{79CFF6E0-E32A-0DBB-58E7-C079FD6A2359}"/>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hlinkClick r:id="rId5" action="ppaction://hlinksldjump"/>
            <a:extLst>
              <a:ext uri="{FF2B5EF4-FFF2-40B4-BE49-F238E27FC236}">
                <a16:creationId xmlns:a16="http://schemas.microsoft.com/office/drawing/2014/main" id="{11319778-613C-E491-5DC2-AF77A7378067}"/>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234;p30">
            <a:hlinkClick r:id="" action="ppaction://hlinkshowjump?jump=firstslide"/>
            <a:extLst>
              <a:ext uri="{FF2B5EF4-FFF2-40B4-BE49-F238E27FC236}">
                <a16:creationId xmlns:a16="http://schemas.microsoft.com/office/drawing/2014/main" id="{459B0271-9D37-D67A-DB4A-8EECB83FA6CF}"/>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hlinkClick r:id="rId6" action="ppaction://hlinksldjump"/>
            <a:extLst>
              <a:ext uri="{FF2B5EF4-FFF2-40B4-BE49-F238E27FC236}">
                <a16:creationId xmlns:a16="http://schemas.microsoft.com/office/drawing/2014/main" id="{081D29F2-54DF-00AA-F1F9-0FF7A3A3C5CB}"/>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Google Shape;234;p30">
            <a:hlinkClick r:id="" action="ppaction://hlinkshowjump?jump=firstslide"/>
            <a:extLst>
              <a:ext uri="{FF2B5EF4-FFF2-40B4-BE49-F238E27FC236}">
                <a16:creationId xmlns:a16="http://schemas.microsoft.com/office/drawing/2014/main" id="{2472ED31-BEA0-D19C-6302-BF3354B12B08}"/>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hlinkClick r:id="rId7" action="ppaction://hlinksldjump"/>
            <a:extLst>
              <a:ext uri="{FF2B5EF4-FFF2-40B4-BE49-F238E27FC236}">
                <a16:creationId xmlns:a16="http://schemas.microsoft.com/office/drawing/2014/main" id="{8C9E39C9-FC2E-780F-5D8C-EE15EF71B460}"/>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Google Shape;234;p30">
            <a:hlinkClick r:id="" action="ppaction://hlinkshowjump?jump=firstslide"/>
            <a:extLst>
              <a:ext uri="{FF2B5EF4-FFF2-40B4-BE49-F238E27FC236}">
                <a16:creationId xmlns:a16="http://schemas.microsoft.com/office/drawing/2014/main" id="{00EB7DD0-8F8B-3B2C-0E4D-1CA89B8D3629}"/>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矩形 31">
            <a:hlinkClick r:id="rId8" action="ppaction://hlinksldjump"/>
            <a:extLst>
              <a:ext uri="{FF2B5EF4-FFF2-40B4-BE49-F238E27FC236}">
                <a16:creationId xmlns:a16="http://schemas.microsoft.com/office/drawing/2014/main" id="{F8123318-C37C-D7A7-4200-D89EAD88A69F}"/>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176648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626755"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12/13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5. </a:t>
            </a:r>
            <a:r>
              <a:rPr lang="en-US" altLang="zh-TW" sz="1600" b="1" dirty="0" err="1">
                <a:solidFill>
                  <a:srgbClr val="C00000"/>
                </a:solidFill>
                <a:latin typeface="Times New Roman" panose="02020603050405020304" pitchFamily="18" charset="0"/>
                <a:ea typeface="標楷體" panose="03000509000000000000" pitchFamily="65" charset="-120"/>
              </a:rPr>
              <a:t>Xband</a:t>
            </a:r>
            <a:r>
              <a:rPr lang="en-US" altLang="zh-TW" sz="1600" b="1" dirty="0">
                <a:solidFill>
                  <a:srgbClr val="C00000"/>
                </a:solidFill>
                <a:latin typeface="Times New Roman" panose="02020603050405020304" pitchFamily="18" charset="0"/>
                <a:ea typeface="標楷體" panose="03000509000000000000" pitchFamily="65" charset="-120"/>
              </a:rPr>
              <a:t> Contact</a:t>
            </a:r>
            <a:r>
              <a:rPr lang="zh-TW" altLang="en-US" sz="1600" b="1" dirty="0">
                <a:solidFill>
                  <a:srgbClr val="C00000"/>
                </a:solidFill>
                <a:latin typeface="Times New Roman" panose="02020603050405020304" pitchFamily="18" charset="0"/>
                <a:ea typeface="標楷體" panose="03000509000000000000" pitchFamily="65" charset="-120"/>
              </a:rPr>
              <a:t>資源無使用完全</a:t>
            </a:r>
          </a:p>
        </p:txBody>
      </p:sp>
      <p:pic>
        <p:nvPicPr>
          <p:cNvPr id="19" name="圖片 18">
            <a:extLst>
              <a:ext uri="{FF2B5EF4-FFF2-40B4-BE49-F238E27FC236}">
                <a16:creationId xmlns:a16="http://schemas.microsoft.com/office/drawing/2014/main" id="{E23CE7DB-AC5C-62D2-80A0-923B0036A5A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2162" y="1187807"/>
            <a:ext cx="6695764" cy="3763402"/>
          </a:xfrm>
          <a:prstGeom prst="rect">
            <a:avLst/>
          </a:prstGeom>
          <a:noFill/>
        </p:spPr>
      </p:pic>
      <p:sp>
        <p:nvSpPr>
          <p:cNvPr id="20" name="文字方塊 19">
            <a:extLst>
              <a:ext uri="{FF2B5EF4-FFF2-40B4-BE49-F238E27FC236}">
                <a16:creationId xmlns:a16="http://schemas.microsoft.com/office/drawing/2014/main" id="{13110C7B-456B-4CE6-2525-147034013272}"/>
              </a:ext>
            </a:extLst>
          </p:cNvPr>
          <p:cNvSpPr txBox="1"/>
          <p:nvPr/>
        </p:nvSpPr>
        <p:spPr>
          <a:xfrm>
            <a:off x="413826" y="1611744"/>
            <a:ext cx="400110" cy="3339465"/>
          </a:xfrm>
          <a:prstGeom prst="rect">
            <a:avLst/>
          </a:prstGeom>
          <a:noFill/>
        </p:spPr>
        <p:txBody>
          <a:bodyPr vert="eaVert" wrap="square" rtlCol="0">
            <a:spAutoFit/>
          </a:bodyPr>
          <a:lstStyle/>
          <a:p>
            <a:r>
              <a:rPr lang="en-US" altLang="zh-TW" b="1" dirty="0" err="1">
                <a:latin typeface="Times New Roman" panose="02020603050405020304" pitchFamily="18" charset="0"/>
                <a:ea typeface="標楷體" panose="03000509000000000000" pitchFamily="65" charset="-120"/>
                <a:cs typeface="Times New Roman" panose="02020603050405020304" pitchFamily="18" charset="0"/>
              </a:rPr>
              <a:t>Xband</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 Contact</a:t>
            </a: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資源無使用完全示意圖</a:t>
            </a:r>
          </a:p>
        </p:txBody>
      </p:sp>
      <p:sp>
        <p:nvSpPr>
          <p:cNvPr id="21" name="Google Shape;230;p30">
            <a:extLst>
              <a:ext uri="{FF2B5EF4-FFF2-40B4-BE49-F238E27FC236}">
                <a16:creationId xmlns:a16="http://schemas.microsoft.com/office/drawing/2014/main" id="{8C4B6025-FE10-5951-E344-2CF744335717}"/>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4;p30">
            <a:hlinkClick r:id="" action="ppaction://hlinkshowjump?jump=firstslide"/>
            <a:extLst>
              <a:ext uri="{FF2B5EF4-FFF2-40B4-BE49-F238E27FC236}">
                <a16:creationId xmlns:a16="http://schemas.microsoft.com/office/drawing/2014/main" id="{3CA04706-A768-09D6-A3C0-372AF61CAB6B}"/>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Google Shape;234;p30">
            <a:hlinkClick r:id="" action="ppaction://hlinkshowjump?jump=firstslide"/>
            <a:extLst>
              <a:ext uri="{FF2B5EF4-FFF2-40B4-BE49-F238E27FC236}">
                <a16:creationId xmlns:a16="http://schemas.microsoft.com/office/drawing/2014/main" id="{BA62F24B-43A3-7A99-8B51-D40EE1CA0867}"/>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矩形 23">
            <a:hlinkClick r:id="rId4" action="ppaction://hlinksldjump"/>
            <a:extLst>
              <a:ext uri="{FF2B5EF4-FFF2-40B4-BE49-F238E27FC236}">
                <a16:creationId xmlns:a16="http://schemas.microsoft.com/office/drawing/2014/main" id="{93ECB778-8DC2-6ADE-BBB3-E9D9787E6A21}"/>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矩形 24">
            <a:hlinkClick r:id="rId5" action="ppaction://hlinksldjump"/>
            <a:extLst>
              <a:ext uri="{FF2B5EF4-FFF2-40B4-BE49-F238E27FC236}">
                <a16:creationId xmlns:a16="http://schemas.microsoft.com/office/drawing/2014/main" id="{CE6DCE5F-9880-3B19-7827-636F4CFED334}"/>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Google Shape;234;p30">
            <a:hlinkClick r:id="" action="ppaction://hlinkshowjump?jump=firstslide"/>
            <a:extLst>
              <a:ext uri="{FF2B5EF4-FFF2-40B4-BE49-F238E27FC236}">
                <a16:creationId xmlns:a16="http://schemas.microsoft.com/office/drawing/2014/main" id="{84E273D1-2FAF-6424-E0BC-90A1E7309D67}"/>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0783A636-11A1-CC83-68B9-DD1CB7202D77}"/>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6D199971-5616-E0B3-15F3-7FC5891D0224}"/>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5C177C84-D46E-5B63-8A8A-AABA546A4BFE}"/>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9094CE7E-1AE1-486F-7382-04EDA7480C12}"/>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266C277D-36FB-F798-CF2D-CC48F64052D7}"/>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Google Shape;234;p30">
            <a:hlinkClick r:id="" action="ppaction://hlinkshowjump?jump=firstslide"/>
            <a:extLst>
              <a:ext uri="{FF2B5EF4-FFF2-40B4-BE49-F238E27FC236}">
                <a16:creationId xmlns:a16="http://schemas.microsoft.com/office/drawing/2014/main" id="{6F139B2D-FC1F-1F40-FBFB-62E13B22A729}"/>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矩形 32">
            <a:hlinkClick r:id="rId9" action="ppaction://hlinksldjump"/>
            <a:extLst>
              <a:ext uri="{FF2B5EF4-FFF2-40B4-BE49-F238E27FC236}">
                <a16:creationId xmlns:a16="http://schemas.microsoft.com/office/drawing/2014/main" id="{24651F66-5243-6410-3C2B-81E2B1766C21}"/>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713705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7" name="Google Shape;3042;p38">
            <a:extLst>
              <a:ext uri="{FF2B5EF4-FFF2-40B4-BE49-F238E27FC236}">
                <a16:creationId xmlns:a16="http://schemas.microsoft.com/office/drawing/2014/main" id="{47F32233-FABE-192B-4C2C-57D98D64D9C4}"/>
              </a:ext>
            </a:extLst>
          </p:cNvPr>
          <p:cNvSpPr/>
          <p:nvPr/>
        </p:nvSpPr>
        <p:spPr>
          <a:xfrm>
            <a:off x="0" y="1024974"/>
            <a:ext cx="35640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30;p38">
            <a:extLst>
              <a:ext uri="{FF2B5EF4-FFF2-40B4-BE49-F238E27FC236}">
                <a16:creationId xmlns:a16="http://schemas.microsoft.com/office/drawing/2014/main" id="{18B88980-37FF-20DE-F36A-2472AE28A085}"/>
              </a:ext>
            </a:extLst>
          </p:cNvPr>
          <p:cNvSpPr txBox="1">
            <a:spLocks noGrp="1"/>
          </p:cNvSpPr>
          <p:nvPr>
            <p:ph type="title"/>
          </p:nvPr>
        </p:nvSpPr>
        <p:spPr>
          <a:xfrm>
            <a:off x="22753" y="495898"/>
            <a:ext cx="3659123" cy="520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測試過程修訂（</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13/13</a:t>
            </a:r>
            <a:r>
              <a:rPr lang="zh-TW" altLang="en-US" sz="2800" dirty="0">
                <a:latin typeface="Times New Roman" panose="02020603050405020304" pitchFamily="18" charset="0"/>
                <a:ea typeface="標楷體" panose="03000509000000000000" pitchFamily="65" charset="-120"/>
                <a:cs typeface="Times New Roman" panose="02020603050405020304" pitchFamily="18" charset="0"/>
              </a:rPr>
              <a:t>）</a:t>
            </a:r>
            <a:endParaRPr sz="2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a:extLst>
              <a:ext uri="{FF2B5EF4-FFF2-40B4-BE49-F238E27FC236}">
                <a16:creationId xmlns:a16="http://schemas.microsoft.com/office/drawing/2014/main" id="{1EC26090-FBB4-5EBA-430B-1BE8B39ACC74}"/>
              </a:ext>
            </a:extLst>
          </p:cNvPr>
          <p:cNvSpPr txBox="1"/>
          <p:nvPr/>
        </p:nvSpPr>
        <p:spPr>
          <a:xfrm>
            <a:off x="3531499" y="801839"/>
            <a:ext cx="5589747" cy="338554"/>
          </a:xfrm>
          <a:prstGeom prst="rect">
            <a:avLst/>
          </a:prstGeom>
          <a:noFill/>
        </p:spPr>
        <p:txBody>
          <a:bodyPr wrap="square" rtlCol="0">
            <a:spAutoFit/>
          </a:bodyPr>
          <a:lstStyle/>
          <a:p>
            <a:r>
              <a:rPr lang="en-US" altLang="zh-TW" sz="1600" b="1" dirty="0">
                <a:solidFill>
                  <a:srgbClr val="C00000"/>
                </a:solidFill>
                <a:latin typeface="Times New Roman" panose="02020603050405020304" pitchFamily="18" charset="0"/>
                <a:ea typeface="標楷體" panose="03000509000000000000" pitchFamily="65" charset="-120"/>
              </a:rPr>
              <a:t>6. </a:t>
            </a:r>
            <a:r>
              <a:rPr lang="zh-TW" altLang="en-US" sz="1600" b="1" dirty="0">
                <a:solidFill>
                  <a:srgbClr val="C00000"/>
                </a:solidFill>
                <a:latin typeface="Times New Roman" panose="02020603050405020304" pitchFamily="18" charset="0"/>
                <a:ea typeface="標楷體" panose="03000509000000000000" pitchFamily="65" charset="-120"/>
              </a:rPr>
              <a:t>調整有指定站的</a:t>
            </a:r>
            <a:r>
              <a:rPr lang="en-US" altLang="zh-TW" sz="1600" b="1" dirty="0">
                <a:solidFill>
                  <a:srgbClr val="C00000"/>
                </a:solidFill>
                <a:latin typeface="Times New Roman" panose="02020603050405020304" pitchFamily="18" charset="0"/>
                <a:ea typeface="標楷體" panose="03000509000000000000" pitchFamily="65" charset="-120"/>
              </a:rPr>
              <a:t>RSI Playback</a:t>
            </a:r>
            <a:endParaRPr lang="zh-TW" altLang="en-US" sz="1600" b="1" dirty="0">
              <a:solidFill>
                <a:srgbClr val="C00000"/>
              </a:solidFill>
              <a:latin typeface="Times New Roman" panose="02020603050405020304" pitchFamily="18" charset="0"/>
              <a:ea typeface="標楷體" panose="03000509000000000000" pitchFamily="65" charset="-120"/>
            </a:endParaRPr>
          </a:p>
        </p:txBody>
      </p:sp>
      <p:sp>
        <p:nvSpPr>
          <p:cNvPr id="18" name="文字方塊 17">
            <a:extLst>
              <a:ext uri="{FF2B5EF4-FFF2-40B4-BE49-F238E27FC236}">
                <a16:creationId xmlns:a16="http://schemas.microsoft.com/office/drawing/2014/main" id="{54EED9CC-518B-B694-2F1E-2E13141B881C}"/>
              </a:ext>
            </a:extLst>
          </p:cNvPr>
          <p:cNvSpPr txBox="1"/>
          <p:nvPr/>
        </p:nvSpPr>
        <p:spPr>
          <a:xfrm>
            <a:off x="22753" y="1100750"/>
            <a:ext cx="9008888" cy="37168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執行程序</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有些</a:t>
            </a:r>
            <a:r>
              <a:rPr lang="en-US" altLang="zh-TW" dirty="0">
                <a:latin typeface="Times New Roman" panose="02020603050405020304" pitchFamily="18" charset="0"/>
                <a:ea typeface="標楷體" panose="03000509000000000000" pitchFamily="65" charset="-120"/>
              </a:rPr>
              <a:t>RSI </a:t>
            </a:r>
            <a:r>
              <a:rPr lang="en-US" altLang="zh-TW" dirty="0" err="1">
                <a:latin typeface="Times New Roman" panose="02020603050405020304" pitchFamily="18" charset="0"/>
                <a:ea typeface="標楷體" panose="03000509000000000000" pitchFamily="65" charset="-120"/>
              </a:rPr>
              <a:t>Plyaback</a:t>
            </a:r>
            <a:r>
              <a:rPr lang="zh-TW" altLang="en-US" dirty="0">
                <a:latin typeface="Times New Roman" panose="02020603050405020304" pitchFamily="18" charset="0"/>
                <a:ea typeface="標楷體" panose="03000509000000000000" pitchFamily="65" charset="-120"/>
              </a:rPr>
              <a:t>會有指定下載的地面站，此時該</a:t>
            </a:r>
            <a:r>
              <a:rPr lang="en-US" altLang="zh-TW" dirty="0">
                <a:latin typeface="Times New Roman" panose="02020603050405020304" pitchFamily="18" charset="0"/>
                <a:ea typeface="標楷體" panose="03000509000000000000" pitchFamily="65" charset="-120"/>
              </a:rPr>
              <a:t>RSI Playback</a:t>
            </a:r>
            <a:r>
              <a:rPr lang="zh-TW" altLang="en-US" dirty="0">
                <a:latin typeface="Times New Roman" panose="02020603050405020304" pitchFamily="18" charset="0"/>
                <a:ea typeface="標楷體" panose="03000509000000000000" pitchFamily="65" charset="-120"/>
              </a:rPr>
              <a:t>必須於對應的指定站做下載。</a:t>
            </a:r>
            <a:endParaRPr lang="en-US" altLang="zh-TW"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在進行微調排程功能時有時會提供該次微調要調整到的</a:t>
            </a:r>
            <a:r>
              <a:rPr lang="en-US" altLang="zh-TW" dirty="0">
                <a:latin typeface="Times New Roman" panose="02020603050405020304" pitchFamily="18" charset="0"/>
                <a:ea typeface="標楷體" panose="03000509000000000000" pitchFamily="65" charset="-120"/>
              </a:rPr>
              <a:t>contact id</a:t>
            </a:r>
            <a:r>
              <a:rPr lang="zh-TW" altLang="en-US" dirty="0">
                <a:latin typeface="Times New Roman" panose="02020603050405020304" pitchFamily="18" charset="0"/>
                <a:ea typeface="標楷體" panose="03000509000000000000" pitchFamily="65" charset="-120"/>
              </a:rPr>
              <a:t>、地面站名稱或</a:t>
            </a:r>
            <a:r>
              <a:rPr lang="en-US" altLang="zh-TW" dirty="0">
                <a:latin typeface="Times New Roman" panose="02020603050405020304" pitchFamily="18" charset="0"/>
                <a:ea typeface="標楷體" panose="03000509000000000000" pitchFamily="65" charset="-120"/>
              </a:rPr>
              <a:t>site id</a:t>
            </a:r>
            <a:r>
              <a:rPr lang="zh-TW" altLang="en-US" dirty="0">
                <a:latin typeface="Times New Roman" panose="02020603050405020304" pitchFamily="18" charset="0"/>
                <a:ea typeface="標楷體" panose="03000509000000000000" pitchFamily="65" charset="-120"/>
              </a:rPr>
              <a:t>，原先設計是若有提供</a:t>
            </a:r>
            <a:r>
              <a:rPr lang="en-US" altLang="zh-TW" dirty="0">
                <a:latin typeface="Times New Roman" panose="02020603050405020304" pitchFamily="18" charset="0"/>
                <a:ea typeface="標楷體" panose="03000509000000000000" pitchFamily="65" charset="-120"/>
              </a:rPr>
              <a:t>contact id</a:t>
            </a:r>
            <a:r>
              <a:rPr lang="zh-TW" altLang="en-US" dirty="0">
                <a:latin typeface="Times New Roman" panose="02020603050405020304" pitchFamily="18" charset="0"/>
                <a:ea typeface="標楷體" panose="03000509000000000000" pitchFamily="65" charset="-120"/>
              </a:rPr>
              <a:t>則以其為主，便不會去檢查是否為指定站。</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確認問題</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經測試人員描述需求後，了解到即便有提供其他相關資訊，仍要</a:t>
            </a:r>
            <a:r>
              <a:rPr lang="zh-TW" altLang="en-US" dirty="0">
                <a:solidFill>
                  <a:srgbClr val="C00000"/>
                </a:solidFill>
                <a:latin typeface="Times New Roman" panose="02020603050405020304" pitchFamily="18" charset="0"/>
                <a:ea typeface="標楷體" panose="03000509000000000000" pitchFamily="65" charset="-120"/>
              </a:rPr>
              <a:t>以該</a:t>
            </a:r>
            <a:r>
              <a:rPr lang="en-US" altLang="zh-TW" dirty="0">
                <a:solidFill>
                  <a:srgbClr val="C00000"/>
                </a:solidFill>
                <a:latin typeface="Times New Roman" panose="02020603050405020304" pitchFamily="18" charset="0"/>
                <a:ea typeface="標楷體" panose="03000509000000000000" pitchFamily="65" charset="-120"/>
              </a:rPr>
              <a:t>RSI Playback</a:t>
            </a:r>
            <a:r>
              <a:rPr lang="zh-TW" altLang="en-US" dirty="0">
                <a:solidFill>
                  <a:srgbClr val="C00000"/>
                </a:solidFill>
                <a:latin typeface="Times New Roman" panose="02020603050405020304" pitchFamily="18" charset="0"/>
                <a:ea typeface="標楷體" panose="03000509000000000000" pitchFamily="65" charset="-120"/>
              </a:rPr>
              <a:t>指定的地面站為主</a:t>
            </a:r>
            <a:r>
              <a:rPr lang="zh-TW" altLang="en-US" dirty="0">
                <a:latin typeface="Times New Roman" panose="02020603050405020304" pitchFamily="18" charset="0"/>
                <a:ea typeface="標楷體" panose="03000509000000000000" pitchFamily="65" charset="-120"/>
              </a:rPr>
              <a:t>，若移動到的位置不是指定站則不可進行該次移動。</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修訂方法</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依使用者需求修訂，當</a:t>
            </a:r>
            <a:r>
              <a:rPr lang="en-US" altLang="zh-TW" dirty="0">
                <a:latin typeface="Times New Roman" panose="02020603050405020304" pitchFamily="18" charset="0"/>
                <a:ea typeface="標楷體" panose="03000509000000000000" pitchFamily="65" charset="-120"/>
              </a:rPr>
              <a:t>RSI Playback</a:t>
            </a:r>
            <a:r>
              <a:rPr lang="zh-TW" altLang="en-US" dirty="0">
                <a:latin typeface="Times New Roman" panose="02020603050405020304" pitchFamily="18" charset="0"/>
                <a:ea typeface="標楷體" panose="03000509000000000000" pitchFamily="65" charset="-120"/>
              </a:rPr>
              <a:t>有指定的地面站，便以其為主。</a:t>
            </a:r>
            <a:endParaRPr lang="en-US" altLang="zh-TW" dirty="0">
              <a:latin typeface="Times New Roman" panose="02020603050405020304" pitchFamily="18" charset="0"/>
              <a:ea typeface="標楷體" panose="03000509000000000000" pitchFamily="65" charset="-120"/>
            </a:endParaRPr>
          </a:p>
          <a:p>
            <a:pPr marL="285750" indent="-285750">
              <a:spcBef>
                <a:spcPts val="600"/>
              </a:spcBef>
              <a:spcAft>
                <a:spcPts val="600"/>
              </a:spcAft>
              <a:buFont typeface="Arial" panose="020B0604020202020204" pitchFamily="34" charset="0"/>
              <a:buChar char="•"/>
            </a:pPr>
            <a:r>
              <a:rPr lang="zh-TW" altLang="en-US" b="1" dirty="0">
                <a:latin typeface="Times New Roman" panose="02020603050405020304" pitchFamily="18" charset="0"/>
                <a:ea typeface="標楷體" panose="03000509000000000000" pitchFamily="65" charset="-120"/>
              </a:rPr>
              <a:t>修訂結果</a:t>
            </a:r>
            <a:endParaRPr lang="en-US" altLang="zh-TW" b="1" dirty="0">
              <a:latin typeface="Times New Roman" panose="02020603050405020304" pitchFamily="18" charset="0"/>
              <a:ea typeface="標楷體" panose="03000509000000000000" pitchFamily="65" charset="-120"/>
            </a:endParaRPr>
          </a:p>
          <a:p>
            <a:pPr marL="432000" indent="-285750">
              <a:lnSpc>
                <a:spcPct val="150000"/>
              </a:lnSpc>
              <a:buFont typeface="Times New Roman" panose="02020603050405020304" pitchFamily="18" charset="0"/>
              <a:buChar char="-"/>
            </a:pPr>
            <a:r>
              <a:rPr lang="zh-TW" altLang="en-US" dirty="0">
                <a:latin typeface="Times New Roman" panose="02020603050405020304" pitchFamily="18" charset="0"/>
                <a:ea typeface="標楷體" panose="03000509000000000000" pitchFamily="65" charset="-120"/>
              </a:rPr>
              <a:t>問題已排除。</a:t>
            </a:r>
          </a:p>
        </p:txBody>
      </p:sp>
      <p:sp>
        <p:nvSpPr>
          <p:cNvPr id="19" name="Google Shape;230;p30">
            <a:extLst>
              <a:ext uri="{FF2B5EF4-FFF2-40B4-BE49-F238E27FC236}">
                <a16:creationId xmlns:a16="http://schemas.microsoft.com/office/drawing/2014/main" id="{240E2936-A3EF-BF55-7945-8DF485F63D83}"/>
              </a:ext>
            </a:extLst>
          </p:cNvPr>
          <p:cNvSpPr/>
          <p:nvPr/>
        </p:nvSpPr>
        <p:spPr>
          <a:xfrm>
            <a:off x="7356190" y="-6262"/>
            <a:ext cx="1067442" cy="561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30">
            <a:hlinkClick r:id="" action="ppaction://hlinkshowjump?jump=firstslide"/>
            <a:extLst>
              <a:ext uri="{FF2B5EF4-FFF2-40B4-BE49-F238E27FC236}">
                <a16:creationId xmlns:a16="http://schemas.microsoft.com/office/drawing/2014/main" id="{FF8AAEE6-B9ED-DA2A-50E4-02842EA7FA1A}"/>
              </a:ext>
            </a:extLst>
          </p:cNvPr>
          <p:cNvSpPr txBox="1">
            <a:spLocks/>
          </p:cNvSpPr>
          <p:nvPr/>
        </p:nvSpPr>
        <p:spPr>
          <a:xfrm>
            <a:off x="413826"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en-US" altLang="zh-TW" sz="1200" b="1">
                <a:latin typeface="Times New Roman" panose="02020603050405020304" pitchFamily="18" charset="0"/>
                <a:ea typeface="標楷體" panose="03000509000000000000" pitchFamily="65" charset="-120"/>
                <a:cs typeface="Times New Roman" panose="02020603050405020304" pitchFamily="18" charset="0"/>
              </a:rPr>
              <a:t>TASA</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Google Shape;234;p30">
            <a:hlinkClick r:id="" action="ppaction://hlinkshowjump?jump=firstslide"/>
            <a:extLst>
              <a:ext uri="{FF2B5EF4-FFF2-40B4-BE49-F238E27FC236}">
                <a16:creationId xmlns:a16="http://schemas.microsoft.com/office/drawing/2014/main" id="{3F7C9019-232D-C1C5-41AB-95E3AA04299B}"/>
              </a:ext>
            </a:extLst>
          </p:cNvPr>
          <p:cNvSpPr txBox="1">
            <a:spLocks/>
          </p:cNvSpPr>
          <p:nvPr/>
        </p:nvSpPr>
        <p:spPr>
          <a:xfrm>
            <a:off x="451004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測試流程</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矩形 21">
            <a:hlinkClick r:id="rId3" action="ppaction://hlinksldjump"/>
            <a:extLst>
              <a:ext uri="{FF2B5EF4-FFF2-40B4-BE49-F238E27FC236}">
                <a16:creationId xmlns:a16="http://schemas.microsoft.com/office/drawing/2014/main" id="{3ECB1EEA-636D-E859-154D-F4796E3467D7}"/>
              </a:ext>
            </a:extLst>
          </p:cNvPr>
          <p:cNvSpPr/>
          <p:nvPr/>
        </p:nvSpPr>
        <p:spPr>
          <a:xfrm>
            <a:off x="4578325"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hlinkClick r:id="rId4" action="ppaction://hlinksldjump"/>
            <a:extLst>
              <a:ext uri="{FF2B5EF4-FFF2-40B4-BE49-F238E27FC236}">
                <a16:creationId xmlns:a16="http://schemas.microsoft.com/office/drawing/2014/main" id="{59BAD72A-A317-73D2-62D3-1734D1BBC017}"/>
              </a:ext>
            </a:extLst>
          </p:cNvPr>
          <p:cNvSpPr/>
          <p:nvPr/>
        </p:nvSpPr>
        <p:spPr>
          <a:xfrm>
            <a:off x="525085" y="134943"/>
            <a:ext cx="955335"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234;p30">
            <a:hlinkClick r:id="" action="ppaction://hlinkshowjump?jump=firstslide"/>
            <a:extLst>
              <a:ext uri="{FF2B5EF4-FFF2-40B4-BE49-F238E27FC236}">
                <a16:creationId xmlns:a16="http://schemas.microsoft.com/office/drawing/2014/main" id="{0C71A35D-6B8F-5AF7-4EF2-B45921186276}"/>
              </a:ext>
            </a:extLst>
          </p:cNvPr>
          <p:cNvSpPr txBox="1">
            <a:spLocks/>
          </p:cNvSpPr>
          <p:nvPr/>
        </p:nvSpPr>
        <p:spPr>
          <a:xfrm>
            <a:off x="1672599"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系統設計</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矩形 24">
            <a:hlinkClick r:id="rId5" action="ppaction://hlinksldjump"/>
            <a:extLst>
              <a:ext uri="{FF2B5EF4-FFF2-40B4-BE49-F238E27FC236}">
                <a16:creationId xmlns:a16="http://schemas.microsoft.com/office/drawing/2014/main" id="{65A89DD5-7FFC-2152-DFBF-B38C6B9C5C9B}"/>
              </a:ext>
            </a:extLst>
          </p:cNvPr>
          <p:cNvSpPr/>
          <p:nvPr/>
        </p:nvSpPr>
        <p:spPr>
          <a:xfrm>
            <a:off x="1741150" y="141728"/>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Google Shape;234;p30">
            <a:hlinkClick r:id="" action="ppaction://hlinkshowjump?jump=firstslide"/>
            <a:extLst>
              <a:ext uri="{FF2B5EF4-FFF2-40B4-BE49-F238E27FC236}">
                <a16:creationId xmlns:a16="http://schemas.microsoft.com/office/drawing/2014/main" id="{28E0EAD3-D7FE-F7C2-BACE-2506E1D2E2B8}"/>
              </a:ext>
            </a:extLst>
          </p:cNvPr>
          <p:cNvSpPr txBox="1">
            <a:spLocks/>
          </p:cNvSpPr>
          <p:nvPr/>
        </p:nvSpPr>
        <p:spPr>
          <a:xfrm>
            <a:off x="5884370"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測試結果</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hlinkClick r:id="rId6" action="ppaction://hlinksldjump"/>
            <a:extLst>
              <a:ext uri="{FF2B5EF4-FFF2-40B4-BE49-F238E27FC236}">
                <a16:creationId xmlns:a16="http://schemas.microsoft.com/office/drawing/2014/main" id="{FD47D243-C1E9-111E-49E9-AD45867B73BB}"/>
              </a:ext>
            </a:extLst>
          </p:cNvPr>
          <p:cNvSpPr/>
          <p:nvPr/>
        </p:nvSpPr>
        <p:spPr>
          <a:xfrm>
            <a:off x="5958470" y="136030"/>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Google Shape;234;p30">
            <a:hlinkClick r:id="" action="ppaction://hlinkshowjump?jump=firstslide"/>
            <a:extLst>
              <a:ext uri="{FF2B5EF4-FFF2-40B4-BE49-F238E27FC236}">
                <a16:creationId xmlns:a16="http://schemas.microsoft.com/office/drawing/2014/main" id="{A472E920-63B3-B768-7BEB-CBBEF7FCE25F}"/>
              </a:ext>
            </a:extLst>
          </p:cNvPr>
          <p:cNvSpPr txBox="1">
            <a:spLocks/>
          </p:cNvSpPr>
          <p:nvPr/>
        </p:nvSpPr>
        <p:spPr>
          <a:xfrm>
            <a:off x="7293337" y="226144"/>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測試過程修訂</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hlinkClick r:id="rId7" action="ppaction://hlinksldjump"/>
            <a:extLst>
              <a:ext uri="{FF2B5EF4-FFF2-40B4-BE49-F238E27FC236}">
                <a16:creationId xmlns:a16="http://schemas.microsoft.com/office/drawing/2014/main" id="{0888F4A9-4CE5-C946-C3C4-90291D49C98A}"/>
              </a:ext>
            </a:extLst>
          </p:cNvPr>
          <p:cNvSpPr/>
          <p:nvPr/>
        </p:nvSpPr>
        <p:spPr>
          <a:xfrm>
            <a:off x="7363892"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Google Shape;234;p30">
            <a:hlinkClick r:id="" action="ppaction://hlinkshowjump?jump=firstslide"/>
            <a:extLst>
              <a:ext uri="{FF2B5EF4-FFF2-40B4-BE49-F238E27FC236}">
                <a16:creationId xmlns:a16="http://schemas.microsoft.com/office/drawing/2014/main" id="{65C9D8AA-72A5-B16F-60E7-3C3CE2DA5B94}"/>
              </a:ext>
            </a:extLst>
          </p:cNvPr>
          <p:cNvSpPr txBox="1">
            <a:spLocks/>
          </p:cNvSpPr>
          <p:nvPr/>
        </p:nvSpPr>
        <p:spPr>
          <a:xfrm>
            <a:off x="3099304" y="228908"/>
            <a:ext cx="1196302" cy="193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pPr marL="0" indent="0" algn="ctr">
              <a:buFont typeface="Poppins"/>
              <a:buNone/>
            </a:pP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限制與目標</a:t>
            </a:r>
            <a:endParaRPr lang="en-US" sz="12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矩形 30">
            <a:hlinkClick r:id="rId8" action="ppaction://hlinksldjump"/>
            <a:extLst>
              <a:ext uri="{FF2B5EF4-FFF2-40B4-BE49-F238E27FC236}">
                <a16:creationId xmlns:a16="http://schemas.microsoft.com/office/drawing/2014/main" id="{23983785-91FC-2C91-779A-87C1AD37F175}"/>
              </a:ext>
            </a:extLst>
          </p:cNvPr>
          <p:cNvSpPr/>
          <p:nvPr/>
        </p:nvSpPr>
        <p:spPr>
          <a:xfrm>
            <a:off x="3173887" y="133266"/>
            <a:ext cx="1059739" cy="3626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97532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880"/>
        <p:cNvGrpSpPr/>
        <p:nvPr/>
      </p:nvGrpSpPr>
      <p:grpSpPr>
        <a:xfrm>
          <a:off x="0" y="0"/>
          <a:ext cx="0" cy="0"/>
          <a:chOff x="0" y="0"/>
          <a:chExt cx="0" cy="0"/>
        </a:xfrm>
      </p:grpSpPr>
      <p:sp>
        <p:nvSpPr>
          <p:cNvPr id="4881" name="Google Shape;4881;p46"/>
          <p:cNvSpPr txBox="1">
            <a:spLocks noGrp="1"/>
          </p:cNvSpPr>
          <p:nvPr>
            <p:ph type="title"/>
          </p:nvPr>
        </p:nvSpPr>
        <p:spPr>
          <a:xfrm>
            <a:off x="1371600" y="1530600"/>
            <a:ext cx="42966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4898" name="Google Shape;4898;p46"/>
          <p:cNvSpPr/>
          <p:nvPr/>
        </p:nvSpPr>
        <p:spPr>
          <a:xfrm>
            <a:off x="0" y="2724925"/>
            <a:ext cx="5431200" cy="67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People &amp; Diversity Website Design by Slidesgo">
  <a:themeElements>
    <a:clrScheme name="Simple Light">
      <a:dk1>
        <a:srgbClr val="000000"/>
      </a:dk1>
      <a:lt1>
        <a:srgbClr val="FFFFFF"/>
      </a:lt1>
      <a:dk2>
        <a:srgbClr val="EFEFEF"/>
      </a:dk2>
      <a:lt2>
        <a:srgbClr val="FFCE1C"/>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28183</TotalTime>
  <Words>5520</Words>
  <Application>Microsoft Office PowerPoint</Application>
  <PresentationFormat>如螢幕大小 (16:9)</PresentationFormat>
  <Paragraphs>893</Paragraphs>
  <Slides>41</Slides>
  <Notes>41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41</vt:i4>
      </vt:variant>
    </vt:vector>
  </HeadingPairs>
  <TitlesOfParts>
    <vt:vector size="47" baseType="lpstr">
      <vt:lpstr>Arial</vt:lpstr>
      <vt:lpstr>標楷體</vt:lpstr>
      <vt:lpstr>Times New Roman</vt:lpstr>
      <vt:lpstr>Poppins</vt:lpstr>
      <vt:lpstr>Cambria Math</vt:lpstr>
      <vt:lpstr>People &amp; Diversity Website Design by Slidesgo</vt:lpstr>
      <vt:lpstr>任務排程系統新模組開發</vt:lpstr>
      <vt:lpstr>系統執行流程</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測試流程</vt:lpstr>
      <vt:lpstr>測試項目與測試結果（1/2）</vt:lpstr>
      <vt:lpstr>測試項目與測試結果（2/2）</vt:lpstr>
      <vt:lpstr>測試過程修訂（1/13）</vt:lpstr>
      <vt:lpstr>測試過程修訂（2/13）</vt:lpstr>
      <vt:lpstr>測試過程修訂（3/13）</vt:lpstr>
      <vt:lpstr>測試過程修訂（4/13）</vt:lpstr>
      <vt:lpstr>測試過程修訂（5/13）</vt:lpstr>
      <vt:lpstr>測試過程修訂（6/13）</vt:lpstr>
      <vt:lpstr>測試過程修訂（7/13）</vt:lpstr>
      <vt:lpstr>測試過程修訂（8/13）</vt:lpstr>
      <vt:lpstr>測試過程修訂（9/13）</vt:lpstr>
      <vt:lpstr>測試過程修訂（10/13）</vt:lpstr>
      <vt:lpstr>測試過程修訂（11/13）</vt:lpstr>
      <vt:lpstr>測試過程修訂（12/13）</vt:lpstr>
      <vt:lpstr>測試過程修訂（13/13）</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Oxidation / Diffusion</dc:title>
  <cp:lastModifiedBy>品玲 尹</cp:lastModifiedBy>
  <cp:revision>553</cp:revision>
  <dcterms:modified xsi:type="dcterms:W3CDTF">2024-09-24T02:13:20Z</dcterms:modified>
</cp:coreProperties>
</file>