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75" r:id="rId1"/>
  </p:sldMasterIdLst>
  <p:notesMasterIdLst>
    <p:notesMasterId r:id="rId28"/>
  </p:notesMasterIdLst>
  <p:handoutMasterIdLst>
    <p:handoutMasterId r:id="rId29"/>
  </p:handoutMasterIdLst>
  <p:sldIdLst>
    <p:sldId id="256" r:id="rId2"/>
    <p:sldId id="456" r:id="rId3"/>
    <p:sldId id="474" r:id="rId4"/>
    <p:sldId id="475" r:id="rId5"/>
    <p:sldId id="476" r:id="rId6"/>
    <p:sldId id="477" r:id="rId7"/>
    <p:sldId id="478" r:id="rId8"/>
    <p:sldId id="457" r:id="rId9"/>
    <p:sldId id="451" r:id="rId10"/>
    <p:sldId id="458" r:id="rId11"/>
    <p:sldId id="459" r:id="rId12"/>
    <p:sldId id="460" r:id="rId13"/>
    <p:sldId id="461" r:id="rId14"/>
    <p:sldId id="462" r:id="rId15"/>
    <p:sldId id="463" r:id="rId16"/>
    <p:sldId id="472" r:id="rId17"/>
    <p:sldId id="465" r:id="rId18"/>
    <p:sldId id="466" r:id="rId19"/>
    <p:sldId id="467" r:id="rId20"/>
    <p:sldId id="468" r:id="rId21"/>
    <p:sldId id="469" r:id="rId22"/>
    <p:sldId id="470" r:id="rId23"/>
    <p:sldId id="471" r:id="rId24"/>
    <p:sldId id="479" r:id="rId25"/>
    <p:sldId id="473" r:id="rId26"/>
    <p:sldId id="272" r:id="rId27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30"/>
      <p:bold r:id="rId31"/>
      <p:italic r:id="rId32"/>
      <p:boldItalic r:id="rId33"/>
    </p:embeddedFont>
    <p:embeddedFont>
      <p:font typeface="標楷體" panose="03000509000000000000" pitchFamily="65" charset="-12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26">
          <p15:clr>
            <a:srgbClr val="9AA0A6"/>
          </p15:clr>
        </p15:guide>
        <p15:guide id="2" orient="horz" pos="720">
          <p15:clr>
            <a:srgbClr val="9AA0A6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陳衣綾" initials="陳衣綾" lastIdx="1" clrIdx="0">
    <p:extLst>
      <p:ext uri="{19B8F6BF-5375-455C-9EA6-DF929625EA0E}">
        <p15:presenceInfo xmlns:p15="http://schemas.microsoft.com/office/powerpoint/2012/main" userId="S::108034036@office365.nthu.edu.tw::231bc0af-6525-411e-9a73-4de2f1698c29" providerId="AD"/>
      </p:ext>
    </p:extLst>
  </p:cmAuthor>
  <p:cmAuthor id="2" name="品玲 尹" initials="品玲" lastIdx="6" clrIdx="1">
    <p:extLst>
      <p:ext uri="{19B8F6BF-5375-455C-9EA6-DF929625EA0E}">
        <p15:presenceInfo xmlns:p15="http://schemas.microsoft.com/office/powerpoint/2012/main" userId="d0201a0183f5b3c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8CC"/>
    <a:srgbClr val="6C6C6C"/>
    <a:srgbClr val="A800A8"/>
    <a:srgbClr val="FFE7FF"/>
    <a:srgbClr val="FFD9FF"/>
    <a:srgbClr val="F2E5FF"/>
    <a:srgbClr val="47008E"/>
    <a:srgbClr val="69008E"/>
    <a:srgbClr val="7030A0"/>
    <a:srgbClr val="009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193ECF-1327-48E1-8871-2513AA109082}">
  <a:tblStyle styleId="{8B193ECF-1327-48E1-8871-2513AA1090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3" autoAdjust="0"/>
    <p:restoredTop sz="93700" autoAdjust="0"/>
  </p:normalViewPr>
  <p:slideViewPr>
    <p:cSldViewPr snapToGrid="0">
      <p:cViewPr varScale="1">
        <p:scale>
          <a:sx n="79" d="100"/>
          <a:sy n="79" d="100"/>
        </p:scale>
        <p:origin x="760" y="56"/>
      </p:cViewPr>
      <p:guideLst>
        <p:guide orient="horz" pos="2826"/>
        <p:guide orient="horz" pos="7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5A0BA01C-A111-2F08-85F9-990BA665D9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BB9BE87-2ACB-E328-0DA6-EDE1CDECF4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F485D-9A45-483F-B418-532BC5D2B739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5AC73B0-6F1D-EC83-CB23-4F3B7079F7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9295556-9FB7-56A5-1BBA-5627A1C3C6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B2262-B73F-4E29-A96C-CE6ACC17D7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332479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7938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5361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4329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0780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9750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9170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9737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1822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9279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55820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79326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0649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7705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5149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3223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63261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32004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41283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92578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77531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36038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66164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36356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146b887401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146b887401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08293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8" name="Google Shape;4878;g146b887401b_0_2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9" name="Google Shape;4879;g146b887401b_0_2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1" name="Google Shape;11;p2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111275" y="669163"/>
            <a:ext cx="3661200" cy="28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20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111275" y="4062275"/>
            <a:ext cx="3661200" cy="32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1371600" y="3910025"/>
            <a:ext cx="6400800" cy="69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 hasCustomPrompt="1"/>
          </p:nvPr>
        </p:nvSpPr>
        <p:spPr>
          <a:xfrm>
            <a:off x="1371600" y="1952850"/>
            <a:ext cx="6400800" cy="79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>
            <a:spLocks noGrp="1"/>
          </p:cNvSpPr>
          <p:nvPr>
            <p:ph type="subTitle" idx="1"/>
          </p:nvPr>
        </p:nvSpPr>
        <p:spPr>
          <a:xfrm>
            <a:off x="1371600" y="2816250"/>
            <a:ext cx="64008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subTitle" idx="1"/>
          </p:nvPr>
        </p:nvSpPr>
        <p:spPr>
          <a:xfrm>
            <a:off x="1362200" y="1403125"/>
            <a:ext cx="43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1362200" y="590700"/>
            <a:ext cx="43392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2"/>
          </p:nvPr>
        </p:nvSpPr>
        <p:spPr>
          <a:xfrm>
            <a:off x="1362200" y="2573575"/>
            <a:ext cx="43392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title" idx="3"/>
          </p:nvPr>
        </p:nvSpPr>
        <p:spPr>
          <a:xfrm>
            <a:off x="1362200" y="2243823"/>
            <a:ext cx="43392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>
            <a:spLocks noGrp="1"/>
          </p:cNvSpPr>
          <p:nvPr>
            <p:ph type="title"/>
          </p:nvPr>
        </p:nvSpPr>
        <p:spPr>
          <a:xfrm>
            <a:off x="1371600" y="540000"/>
            <a:ext cx="4296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71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3"/>
          <p:cNvSpPr txBox="1">
            <a:spLocks noGrp="1"/>
          </p:cNvSpPr>
          <p:nvPr>
            <p:ph type="subTitle" idx="1"/>
          </p:nvPr>
        </p:nvSpPr>
        <p:spPr>
          <a:xfrm>
            <a:off x="1371600" y="1841450"/>
            <a:ext cx="27132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0E93378-5AD2-5B77-8C7B-9EB64032B88F}"/>
              </a:ext>
            </a:extLst>
          </p:cNvPr>
          <p:cNvSpPr txBox="1"/>
          <p:nvPr userDrawn="1"/>
        </p:nvSpPr>
        <p:spPr>
          <a:xfrm>
            <a:off x="8580120" y="470154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CC9BC7A-D7FB-4A42-9A07-D42E3BACD70C}" type="slidenum">
              <a:rPr lang="en-US" altLang="zh-TW" sz="12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zh-TW" alt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6" r:id="rId2"/>
    <p:sldLayoutId id="2147483657" r:id="rId3"/>
    <p:sldLayoutId id="2147483662" r:id="rId4"/>
    <p:sldLayoutId id="2147483669" r:id="rId5"/>
    <p:sldLayoutId id="2147483671" r:id="rId6"/>
    <p:sldLayoutId id="2147483672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6">
          <p15:clr>
            <a:srgbClr val="EA4335"/>
          </p15:clr>
        </p15:guide>
        <p15:guide id="2" orient="horz" pos="346">
          <p15:clr>
            <a:srgbClr val="EA4335"/>
          </p15:clr>
        </p15:guide>
        <p15:guide id="3" pos="5414">
          <p15:clr>
            <a:srgbClr val="EA4335"/>
          </p15:clr>
        </p15:guide>
        <p15:guide id="4" orient="horz" pos="2894">
          <p15:clr>
            <a:srgbClr val="EA4335"/>
          </p15:clr>
        </p15:guide>
        <p15:guide id="5" pos="864">
          <p15:clr>
            <a:srgbClr val="9900FF"/>
          </p15:clr>
        </p15:guide>
        <p15:guide id="6" pos="4896">
          <p15:clr>
            <a:srgbClr val="9900F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2.png"/><Relationship Id="rId7" Type="http://schemas.openxmlformats.org/officeDocument/2006/relationships/slide" Target="slide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slide" Target="slide9.xml"/><Relationship Id="rId5" Type="http://schemas.openxmlformats.org/officeDocument/2006/relationships/slide" Target="slide2.xml"/><Relationship Id="rId4" Type="http://schemas.openxmlformats.org/officeDocument/2006/relationships/slide" Target="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3.png"/><Relationship Id="rId7" Type="http://schemas.openxmlformats.org/officeDocument/2006/relationships/slide" Target="slide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slide" Target="slide9.xml"/><Relationship Id="rId5" Type="http://schemas.openxmlformats.org/officeDocument/2006/relationships/slide" Target="slide2.xml"/><Relationship Id="rId4" Type="http://schemas.openxmlformats.org/officeDocument/2006/relationships/slide" Target="slid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4.png"/><Relationship Id="rId7" Type="http://schemas.openxmlformats.org/officeDocument/2006/relationships/slide" Target="slide1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slide" Target="slide9.xml"/><Relationship Id="rId5" Type="http://schemas.openxmlformats.org/officeDocument/2006/relationships/slide" Target="slide2.xml"/><Relationship Id="rId4" Type="http://schemas.openxmlformats.org/officeDocument/2006/relationships/slide" Target="slide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/>
          <p:nvPr/>
        </p:nvSpPr>
        <p:spPr>
          <a:xfrm>
            <a:off x="550818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0"/>
          <p:cNvSpPr txBox="1">
            <a:spLocks noGrp="1"/>
          </p:cNvSpPr>
          <p:nvPr>
            <p:ph type="ctrTitle"/>
          </p:nvPr>
        </p:nvSpPr>
        <p:spPr>
          <a:xfrm>
            <a:off x="1283698" y="1612412"/>
            <a:ext cx="6845778" cy="13917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任務排程系統新模組開發</a:t>
            </a:r>
            <a:endParaRPr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3" name="Google Shape;233;p30"/>
          <p:cNvSpPr txBox="1">
            <a:spLocks noGrp="1"/>
          </p:cNvSpPr>
          <p:nvPr>
            <p:ph type="subTitle" idx="1"/>
          </p:nvPr>
        </p:nvSpPr>
        <p:spPr>
          <a:xfrm>
            <a:off x="2670689" y="3988298"/>
            <a:ext cx="4071796" cy="60016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Aft>
                <a:spcPts val="300"/>
              </a:spcAft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國家太空中心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>
              <a:spcAft>
                <a:spcPts val="300"/>
              </a:spcAft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國立清華大學工業工程與工程管理學系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4" name="Google Shape;234;p30">
            <a:hlinkClick r:id="" action="ppaction://hlinkshowjump?jump=firstslide"/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13826" y="228908"/>
            <a:ext cx="1196302" cy="1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1FBB212-6AB2-7B95-208B-B4E1E2C3247E}"/>
              </a:ext>
            </a:extLst>
          </p:cNvPr>
          <p:cNvSpPr txBox="1"/>
          <p:nvPr/>
        </p:nvSpPr>
        <p:spPr>
          <a:xfrm>
            <a:off x="2050953" y="2960620"/>
            <a:ext cx="53112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產學合作研究計畫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2024 / 05 / 08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F2D17F6-1515-34DE-7169-079E5181ABF6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hlinkClick r:id="rId3" action="ppaction://hlinksldjump"/>
            <a:extLst>
              <a:ext uri="{FF2B5EF4-FFF2-40B4-BE49-F238E27FC236}">
                <a16:creationId xmlns:a16="http://schemas.microsoft.com/office/drawing/2014/main" id="{44E49FBF-BC78-4B76-99D2-A5EB2EA7B0F7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 1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27FA1D5-6B7A-51C9-33D5-2C017298CF51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50AAB1A-6DA7-C995-BA5A-9D6730CCDB7B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hlinkClick r:id="rId4" action="ppaction://hlinksldjump"/>
            <a:extLst>
              <a:ext uri="{FF2B5EF4-FFF2-40B4-BE49-F238E27FC236}">
                <a16:creationId xmlns:a16="http://schemas.microsoft.com/office/drawing/2014/main" id="{6FE365A4-0847-8E3D-3ABA-21E6DC29E6D5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F4C3C7B-ED08-BC95-F54F-86712796FE6C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hlinkClick r:id="rId5" action="ppaction://hlinksldjump"/>
            <a:extLst>
              <a:ext uri="{FF2B5EF4-FFF2-40B4-BE49-F238E27FC236}">
                <a16:creationId xmlns:a16="http://schemas.microsoft.com/office/drawing/2014/main" id="{B18E305A-4990-7204-A525-4B447ED844D8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303E41A-9F84-2533-5550-3CC64A0EBBC5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hlinkClick r:id="rId6" action="ppaction://hlinksldjump"/>
            <a:extLst>
              <a:ext uri="{FF2B5EF4-FFF2-40B4-BE49-F238E27FC236}">
                <a16:creationId xmlns:a16="http://schemas.microsoft.com/office/drawing/2014/main" id="{18CDCACF-3B77-F112-0571-9FA2EF22394E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9222913-FF9D-6C85-2EA7-DACB65A532FF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hlinkClick r:id="rId7" action="ppaction://hlinksldjump"/>
            <a:extLst>
              <a:ext uri="{FF2B5EF4-FFF2-40B4-BE49-F238E27FC236}">
                <a16:creationId xmlns:a16="http://schemas.microsoft.com/office/drawing/2014/main" id="{69E40FEE-859B-96DB-43A6-D44AFB51469E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241;p30">
            <a:extLst>
              <a:ext uri="{FF2B5EF4-FFF2-40B4-BE49-F238E27FC236}">
                <a16:creationId xmlns:a16="http://schemas.microsoft.com/office/drawing/2014/main" id="{17EADF56-D11F-78F5-1C1C-34550CF18205}"/>
              </a:ext>
            </a:extLst>
          </p:cNvPr>
          <p:cNvSpPr/>
          <p:nvPr/>
        </p:nvSpPr>
        <p:spPr>
          <a:xfrm>
            <a:off x="12115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242;p30">
            <a:extLst>
              <a:ext uri="{FF2B5EF4-FFF2-40B4-BE49-F238E27FC236}">
                <a16:creationId xmlns:a16="http://schemas.microsoft.com/office/drawing/2014/main" id="{83EF4302-9F4B-C695-F253-6392E62C0A70}"/>
              </a:ext>
            </a:extLst>
          </p:cNvPr>
          <p:cNvSpPr/>
          <p:nvPr/>
        </p:nvSpPr>
        <p:spPr>
          <a:xfrm>
            <a:off x="76123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539454"/>
            <a:ext cx="288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6065" y="18339"/>
            <a:ext cx="2465584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ACA8D0-CF40-FCC3-59D2-E22DC119E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1028"/>
            <a:ext cx="4411020" cy="4921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EC64CBE6-A3D5-4E3D-1ACA-D7D49C83E75D}"/>
              </a:ext>
            </a:extLst>
          </p:cNvPr>
          <p:cNvSpPr txBox="1"/>
          <p:nvPr/>
        </p:nvSpPr>
        <p:spPr>
          <a:xfrm>
            <a:off x="83407" y="663547"/>
            <a:ext cx="4488593" cy="4163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Cold Scheduling</a:t>
            </a: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根據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S-band contact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資訊創建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monitoring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活動，並搭配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Activity Table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已建立的活動進行排程。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Hot Scheduling</a:t>
            </a: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根據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X-band contact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資訊創建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GAT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活動，同樣搭配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Activity Table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已建立的活動進行排程。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額外排程功能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20000"/>
              </a:lnSpc>
              <a:spcAft>
                <a:spcPts val="300"/>
              </a:spcAft>
              <a:buFont typeface="Times New Roman" panose="02020603050405020304" pitchFamily="18" charset="0"/>
              <a:buChar char="-"/>
            </a:pP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runUIReHot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20000"/>
              </a:lnSpc>
              <a:spcAft>
                <a:spcPts val="300"/>
              </a:spcAft>
              <a:buFont typeface="Times New Roman" panose="02020603050405020304" pitchFamily="18" charset="0"/>
              <a:buChar char="-"/>
            </a:pP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AddResourceChange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20000"/>
              </a:lnSpc>
              <a:spcAft>
                <a:spcPts val="300"/>
              </a:spcAft>
              <a:buFont typeface="Times New Roman" panose="02020603050405020304" pitchFamily="18" charset="0"/>
              <a:buChar char="-"/>
            </a:pP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AdjustActivity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20000"/>
              </a:lnSpc>
              <a:spcAft>
                <a:spcPts val="300"/>
              </a:spcAft>
              <a:buFont typeface="Times New Roman" panose="02020603050405020304" pitchFamily="18" charset="0"/>
              <a:buChar char="-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runUIReFilterHot1</a:t>
            </a:r>
          </a:p>
          <a:p>
            <a:pPr marL="432000" indent="-285750">
              <a:lnSpc>
                <a:spcPct val="120000"/>
              </a:lnSpc>
              <a:spcAft>
                <a:spcPts val="300"/>
              </a:spcAft>
              <a:buFont typeface="Times New Roman" panose="02020603050405020304" pitchFamily="18" charset="0"/>
              <a:buChar char="-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runUIReFilterHot2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699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AABCB0-004A-0DAF-804F-8FEF95102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980669"/>
              </p:ext>
            </p:extLst>
          </p:nvPr>
        </p:nvGraphicFramePr>
        <p:xfrm>
          <a:off x="39802" y="1629913"/>
          <a:ext cx="9064395" cy="3472180"/>
        </p:xfrm>
        <a:graphic>
          <a:graphicData uri="http://schemas.openxmlformats.org/drawingml/2006/table">
            <a:tbl>
              <a:tblPr firstRow="1" bandRow="1">
                <a:tableStyleId>{8B193ECF-1327-48E1-8871-2513AA109082}</a:tableStyleId>
              </a:tblPr>
              <a:tblGrid>
                <a:gridCol w="2506980">
                  <a:extLst>
                    <a:ext uri="{9D8B030D-6E8A-4147-A177-3AD203B41FA5}">
                      <a16:colId xmlns:a16="http://schemas.microsoft.com/office/drawing/2014/main" val="2138163829"/>
                    </a:ext>
                  </a:extLst>
                </a:gridCol>
                <a:gridCol w="2916000">
                  <a:extLst>
                    <a:ext uri="{9D8B030D-6E8A-4147-A177-3AD203B41FA5}">
                      <a16:colId xmlns:a16="http://schemas.microsoft.com/office/drawing/2014/main" val="2542460822"/>
                    </a:ext>
                  </a:extLst>
                </a:gridCol>
                <a:gridCol w="2047285">
                  <a:extLst>
                    <a:ext uri="{9D8B030D-6E8A-4147-A177-3AD203B41FA5}">
                      <a16:colId xmlns:a16="http://schemas.microsoft.com/office/drawing/2014/main" val="1991161076"/>
                    </a:ext>
                  </a:extLst>
                </a:gridCol>
                <a:gridCol w="1594130">
                  <a:extLst>
                    <a:ext uri="{9D8B030D-6E8A-4147-A177-3AD203B41FA5}">
                      <a16:colId xmlns:a16="http://schemas.microsoft.com/office/drawing/2014/main" val="480332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函式名稱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函式功能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會使用到該函式的活動類型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583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self_overlap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()</a:t>
                      </a:r>
                      <a:endParaRPr lang="zh-TW" altLang="en-US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限制同類型活動的執行區間不可重疊。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Attitude Maneuver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GAT Maneuver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GOHOME Maneuver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Orbit Maneuver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Monitoring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Delete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Record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SPL Playback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SPL Procedure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0752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other_overlap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Activity_Type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限制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類活動與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類活動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（即參數傳入的</a:t>
                      </a:r>
                      <a:r>
                        <a:rPr lang="en-US" altLang="zh-TW" sz="1400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Activity_Type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活動類型）的執行區間不可重疊。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Attitude Maneuver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GAT Maneuver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GOHOME Maneuver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Orbit Maneuver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Delete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Record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SPL Playback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SPL Procedure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022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var_self_overlap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()</a:t>
                      </a:r>
                      <a:endParaRPr lang="zh-TW" altLang="en-US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限制同類型活動的執行區間不可重疊，且該活動可執行的時間會受與地面站接觸時間影響。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Playback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35515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9E528FB5-7CF4-EF72-F585-E4C1442E14A1}"/>
              </a:ext>
            </a:extLst>
          </p:cNvPr>
          <p:cNvSpPr txBox="1"/>
          <p:nvPr/>
        </p:nvSpPr>
        <p:spPr>
          <a:xfrm>
            <a:off x="39802" y="1257288"/>
            <a:ext cx="3601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可被個別活動單獨考量的限制式</a:t>
            </a:r>
            <a:r>
              <a:rPr lang="zh-TW" altLang="en-US" sz="1400" b="1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1400" b="1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1/2</a:t>
            </a:r>
            <a:r>
              <a:rPr lang="zh-TW" altLang="en-US" sz="1400" b="1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Google Shape;3042;p38">
            <a:extLst>
              <a:ext uri="{FF2B5EF4-FFF2-40B4-BE49-F238E27FC236}">
                <a16:creationId xmlns:a16="http://schemas.microsoft.com/office/drawing/2014/main" id="{72E54E98-C338-BF2D-67E9-60BE1A4985B3}"/>
              </a:ext>
            </a:extLst>
          </p:cNvPr>
          <p:cNvSpPr/>
          <p:nvPr/>
        </p:nvSpPr>
        <p:spPr>
          <a:xfrm>
            <a:off x="0" y="1097802"/>
            <a:ext cx="378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030;p38">
            <a:extLst>
              <a:ext uri="{FF2B5EF4-FFF2-40B4-BE49-F238E27FC236}">
                <a16:creationId xmlns:a16="http://schemas.microsoft.com/office/drawing/2014/main" id="{BF4713D5-5377-C04B-2691-04E9F2F8C39E}"/>
              </a:ext>
            </a:extLst>
          </p:cNvPr>
          <p:cNvSpPr txBox="1">
            <a:spLocks/>
          </p:cNvSpPr>
          <p:nvPr/>
        </p:nvSpPr>
        <p:spPr>
          <a:xfrm>
            <a:off x="-46066" y="576686"/>
            <a:ext cx="3978795" cy="521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模型限制式說明（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1/4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6" name="Google Shape;230;p30">
            <a:extLst>
              <a:ext uri="{FF2B5EF4-FFF2-40B4-BE49-F238E27FC236}">
                <a16:creationId xmlns:a16="http://schemas.microsoft.com/office/drawing/2014/main" id="{9D796314-B333-D993-E588-CD8ADF25147B}"/>
              </a:ext>
            </a:extLst>
          </p:cNvPr>
          <p:cNvSpPr/>
          <p:nvPr/>
        </p:nvSpPr>
        <p:spPr>
          <a:xfrm>
            <a:off x="3261638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333893E-D72C-C95F-74E8-0862AE64849E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3AECCBF-8311-1474-1CDE-FE0199E26E7D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hlinkClick r:id="rId3" action="ppaction://hlinksldjump"/>
            <a:extLst>
              <a:ext uri="{FF2B5EF4-FFF2-40B4-BE49-F238E27FC236}">
                <a16:creationId xmlns:a16="http://schemas.microsoft.com/office/drawing/2014/main" id="{41CD3D44-C33F-818C-22B9-711608B7126F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1863742-1770-6B83-9E07-6BD0AD378502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D1379CD-C2B5-0D87-56E4-C65B9CF71A64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hlinkClick r:id="rId4" action="ppaction://hlinksldjump"/>
            <a:extLst>
              <a:ext uri="{FF2B5EF4-FFF2-40B4-BE49-F238E27FC236}">
                <a16:creationId xmlns:a16="http://schemas.microsoft.com/office/drawing/2014/main" id="{71BE5D07-0C88-0E0C-125F-33EF1844FB32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F5A9AD0-992A-49FA-6102-1A81FDB44270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hlinkClick r:id="rId5" action="ppaction://hlinksldjump"/>
            <a:extLst>
              <a:ext uri="{FF2B5EF4-FFF2-40B4-BE49-F238E27FC236}">
                <a16:creationId xmlns:a16="http://schemas.microsoft.com/office/drawing/2014/main" id="{6DC66BF0-0059-D2DC-EDC1-4E38BF70CECA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6FFBB51-B942-A49F-D42F-401CE56A26E1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hlinkClick r:id="rId6" action="ppaction://hlinksldjump"/>
            <a:extLst>
              <a:ext uri="{FF2B5EF4-FFF2-40B4-BE49-F238E27FC236}">
                <a16:creationId xmlns:a16="http://schemas.microsoft.com/office/drawing/2014/main" id="{C0EE2A61-8F38-9885-B361-4DE407F0A420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05533E3-E024-D062-2AE4-AACBD60D49B8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" name="矩形 39">
            <a:hlinkClick r:id="rId7" action="ppaction://hlinksldjump"/>
            <a:extLst>
              <a:ext uri="{FF2B5EF4-FFF2-40B4-BE49-F238E27FC236}">
                <a16:creationId xmlns:a16="http://schemas.microsoft.com/office/drawing/2014/main" id="{E4C2FBDC-A59F-2D9E-A390-1704E917C20C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14220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AABCB0-004A-0DAF-804F-8FEF95102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016504"/>
              </p:ext>
            </p:extLst>
          </p:nvPr>
        </p:nvGraphicFramePr>
        <p:xfrm>
          <a:off x="21802" y="1586307"/>
          <a:ext cx="9100395" cy="3510280"/>
        </p:xfrm>
        <a:graphic>
          <a:graphicData uri="http://schemas.openxmlformats.org/drawingml/2006/table">
            <a:tbl>
              <a:tblPr firstRow="1" bandRow="1">
                <a:tableStyleId>{8B193ECF-1327-48E1-8871-2513AA109082}</a:tableStyleId>
              </a:tblPr>
              <a:tblGrid>
                <a:gridCol w="2506980">
                  <a:extLst>
                    <a:ext uri="{9D8B030D-6E8A-4147-A177-3AD203B41FA5}">
                      <a16:colId xmlns:a16="http://schemas.microsoft.com/office/drawing/2014/main" val="2138163829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542460822"/>
                    </a:ext>
                  </a:extLst>
                </a:gridCol>
                <a:gridCol w="3641415">
                  <a:extLst>
                    <a:ext uri="{9D8B030D-6E8A-4147-A177-3AD203B41FA5}">
                      <a16:colId xmlns:a16="http://schemas.microsoft.com/office/drawing/2014/main" val="1991161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函式名稱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函式功能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會使用到該函式的活動類型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583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s_band_contact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Band_Type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限制活動的執行區間需完全落在與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S-band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TW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Band_Type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：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S_BAND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或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10-degree S-band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TW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Band_Type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：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CMD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地面站接觸的時間區間中。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Monitoring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SPL Playback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SPL Procedure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873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x_band_contact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Band_Type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限制活動的執行區間需完全落在與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X-band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TW" sz="1400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Band_Type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X_BAND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）地面站接觸的時間區間中。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Playback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0752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eclipse_contact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Eclipse_Type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限制活動的執行區間需完全落在與全影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TW" sz="1400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Eclipse_Type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UMBRA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）或半影（</a:t>
                      </a:r>
                      <a:r>
                        <a:rPr lang="en-US" altLang="zh-TW" sz="1400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Eclipse_Type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PENUMBRA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）接觸的時間區間中。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SPL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Procedure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022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get_pbk_time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()</a:t>
                      </a:r>
                      <a:endParaRPr lang="zh-TW" altLang="en-US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限制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Playback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活動可以開始執行的時間。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Playback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435515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4F1B7CD0-6874-FACC-FF30-73E96E81EBD3}"/>
              </a:ext>
            </a:extLst>
          </p:cNvPr>
          <p:cNvSpPr txBox="1"/>
          <p:nvPr/>
        </p:nvSpPr>
        <p:spPr>
          <a:xfrm>
            <a:off x="39802" y="1257288"/>
            <a:ext cx="3601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可被個別活動單獨考量的限制式</a:t>
            </a:r>
            <a:r>
              <a:rPr lang="zh-TW" altLang="en-US" sz="1400" b="1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1400" b="1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/2</a:t>
            </a:r>
            <a:r>
              <a:rPr lang="zh-TW" altLang="en-US" sz="1400" b="1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Google Shape;3042;p38">
            <a:extLst>
              <a:ext uri="{FF2B5EF4-FFF2-40B4-BE49-F238E27FC236}">
                <a16:creationId xmlns:a16="http://schemas.microsoft.com/office/drawing/2014/main" id="{58EBA169-402F-5AB8-6366-01B3D5EA1F70}"/>
              </a:ext>
            </a:extLst>
          </p:cNvPr>
          <p:cNvSpPr/>
          <p:nvPr/>
        </p:nvSpPr>
        <p:spPr>
          <a:xfrm>
            <a:off x="0" y="1097802"/>
            <a:ext cx="378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030;p38">
            <a:extLst>
              <a:ext uri="{FF2B5EF4-FFF2-40B4-BE49-F238E27FC236}">
                <a16:creationId xmlns:a16="http://schemas.microsoft.com/office/drawing/2014/main" id="{B976A766-28D4-B792-02FB-690D5BEE9626}"/>
              </a:ext>
            </a:extLst>
          </p:cNvPr>
          <p:cNvSpPr txBox="1">
            <a:spLocks/>
          </p:cNvSpPr>
          <p:nvPr/>
        </p:nvSpPr>
        <p:spPr>
          <a:xfrm>
            <a:off x="-46066" y="576686"/>
            <a:ext cx="3978795" cy="521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模型限制式說明（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2/4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4" name="Google Shape;230;p30">
            <a:extLst>
              <a:ext uri="{FF2B5EF4-FFF2-40B4-BE49-F238E27FC236}">
                <a16:creationId xmlns:a16="http://schemas.microsoft.com/office/drawing/2014/main" id="{B2ADFD7B-EE3D-5347-F48D-E50BA8445854}"/>
              </a:ext>
            </a:extLst>
          </p:cNvPr>
          <p:cNvSpPr/>
          <p:nvPr/>
        </p:nvSpPr>
        <p:spPr>
          <a:xfrm>
            <a:off x="3261638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9DD7858-0419-1770-2867-99F06EF81CA0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D4EC562-9050-2277-70A7-D3FAB5D1C226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hlinkClick r:id="rId3" action="ppaction://hlinksldjump"/>
            <a:extLst>
              <a:ext uri="{FF2B5EF4-FFF2-40B4-BE49-F238E27FC236}">
                <a16:creationId xmlns:a16="http://schemas.microsoft.com/office/drawing/2014/main" id="{F511B0E6-F033-8D39-188E-7707DBD73441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矩形 27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D6105C9-07BC-EB0F-2610-5F78CB4A62EC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BC38E76-9F50-E9E0-C59F-E716669714CE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hlinkClick r:id="rId4" action="ppaction://hlinksldjump"/>
            <a:extLst>
              <a:ext uri="{FF2B5EF4-FFF2-40B4-BE49-F238E27FC236}">
                <a16:creationId xmlns:a16="http://schemas.microsoft.com/office/drawing/2014/main" id="{07489431-30A6-5144-9F50-6A63C48641F8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F4F10ED-68B8-1573-F762-D8ABF5517EDB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hlinkClick r:id="rId5" action="ppaction://hlinksldjump"/>
            <a:extLst>
              <a:ext uri="{FF2B5EF4-FFF2-40B4-BE49-F238E27FC236}">
                <a16:creationId xmlns:a16="http://schemas.microsoft.com/office/drawing/2014/main" id="{10FA5270-8588-CFF6-F10F-509AC63E7D2C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2C6B8F6-E5AB-787D-0916-42F105F7E77E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hlinkClick r:id="rId6" action="ppaction://hlinksldjump"/>
            <a:extLst>
              <a:ext uri="{FF2B5EF4-FFF2-40B4-BE49-F238E27FC236}">
                <a16:creationId xmlns:a16="http://schemas.microsoft.com/office/drawing/2014/main" id="{AB45DBF7-5F1F-521C-ED92-7A5EED31C911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2648107-76D2-A1DE-4287-3D91C264F5FB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hlinkClick r:id="rId7" action="ppaction://hlinksldjump"/>
            <a:extLst>
              <a:ext uri="{FF2B5EF4-FFF2-40B4-BE49-F238E27FC236}">
                <a16:creationId xmlns:a16="http://schemas.microsoft.com/office/drawing/2014/main" id="{B4B28C48-F53D-217F-A4F9-524B6F35D6C5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234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AABCB0-004A-0DAF-804F-8FEF95102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937960"/>
              </p:ext>
            </p:extLst>
          </p:nvPr>
        </p:nvGraphicFramePr>
        <p:xfrm>
          <a:off x="141529" y="1717390"/>
          <a:ext cx="8860941" cy="3388360"/>
        </p:xfrm>
        <a:graphic>
          <a:graphicData uri="http://schemas.openxmlformats.org/drawingml/2006/table">
            <a:tbl>
              <a:tblPr firstRow="1" bandRow="1">
                <a:tableStyleId>{8B193ECF-1327-48E1-8871-2513AA109082}</a:tableStyleId>
              </a:tblPr>
              <a:tblGrid>
                <a:gridCol w="2834005">
                  <a:extLst>
                    <a:ext uri="{9D8B030D-6E8A-4147-A177-3AD203B41FA5}">
                      <a16:colId xmlns:a16="http://schemas.microsoft.com/office/drawing/2014/main" val="2138163829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542460822"/>
                    </a:ext>
                  </a:extLst>
                </a:gridCol>
                <a:gridCol w="3074936">
                  <a:extLst>
                    <a:ext uri="{9D8B030D-6E8A-4147-A177-3AD203B41FA5}">
                      <a16:colId xmlns:a16="http://schemas.microsoft.com/office/drawing/2014/main" val="1991161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函式名稱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函式功能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會使用到該函式的活動類型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583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SSRConstraint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()</a:t>
                      </a:r>
                      <a:endParaRPr lang="zh-TW" altLang="en-US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用於當該活動執行與否會受記憶體容量影響時。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Record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873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var_other_overlap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Activity_Type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限制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類活動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（執行時間會受與地面站接觸時間影響）與</a:t>
                      </a:r>
                      <a:r>
                        <a:rPr lang="en-US" altLang="zh-TW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類活動（即參數傳入的</a:t>
                      </a:r>
                      <a:r>
                        <a:rPr lang="en-US" altLang="zh-TW" sz="1400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Activity_Type</a:t>
                      </a:r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活動類型）執行區間不可重疊。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Playback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0752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del_pbk_overlap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Activity_Type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限制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Delete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與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Playback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活動執行區間不可重疊。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Playback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022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duty_cycle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(time)</a:t>
                      </a:r>
                      <a:endParaRPr lang="zh-TW" altLang="en-US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限制該活動每軌能執行的時長，且該活動開始時間確定。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Record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435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var_duty_cycle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(time)</a:t>
                      </a:r>
                      <a:endParaRPr lang="zh-TW" altLang="en-US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限制該活動每軌能執行的時長，且該活動開始時間不確定。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Playback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07127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A91A023D-5E7A-9ED6-FEB8-D847688AD544}"/>
              </a:ext>
            </a:extLst>
          </p:cNvPr>
          <p:cNvSpPr txBox="1"/>
          <p:nvPr/>
        </p:nvSpPr>
        <p:spPr>
          <a:xfrm>
            <a:off x="141529" y="1287307"/>
            <a:ext cx="3601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無法被個別活動單獨考量的限制式</a:t>
            </a:r>
            <a:r>
              <a:rPr lang="zh-TW" altLang="en-US" sz="1400" b="1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1400" b="1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1/2</a:t>
            </a:r>
            <a:r>
              <a:rPr lang="zh-TW" altLang="en-US" sz="1400" b="1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Google Shape;3042;p38">
            <a:extLst>
              <a:ext uri="{FF2B5EF4-FFF2-40B4-BE49-F238E27FC236}">
                <a16:creationId xmlns:a16="http://schemas.microsoft.com/office/drawing/2014/main" id="{3137DE00-CDB0-F682-D021-6DFEB2A1EBD0}"/>
              </a:ext>
            </a:extLst>
          </p:cNvPr>
          <p:cNvSpPr/>
          <p:nvPr/>
        </p:nvSpPr>
        <p:spPr>
          <a:xfrm>
            <a:off x="0" y="1097802"/>
            <a:ext cx="378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3030;p38">
            <a:extLst>
              <a:ext uri="{FF2B5EF4-FFF2-40B4-BE49-F238E27FC236}">
                <a16:creationId xmlns:a16="http://schemas.microsoft.com/office/drawing/2014/main" id="{6A05B03E-E695-6A77-A09D-A8821D24431C}"/>
              </a:ext>
            </a:extLst>
          </p:cNvPr>
          <p:cNvSpPr txBox="1">
            <a:spLocks/>
          </p:cNvSpPr>
          <p:nvPr/>
        </p:nvSpPr>
        <p:spPr>
          <a:xfrm>
            <a:off x="-46066" y="576686"/>
            <a:ext cx="3978795" cy="521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模型限制式說明（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3/4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7" name="Google Shape;230;p30">
            <a:extLst>
              <a:ext uri="{FF2B5EF4-FFF2-40B4-BE49-F238E27FC236}">
                <a16:creationId xmlns:a16="http://schemas.microsoft.com/office/drawing/2014/main" id="{F0814FB1-C57C-395B-C2B9-12F83346AD2C}"/>
              </a:ext>
            </a:extLst>
          </p:cNvPr>
          <p:cNvSpPr/>
          <p:nvPr/>
        </p:nvSpPr>
        <p:spPr>
          <a:xfrm>
            <a:off x="3261638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D69B80D-0FF1-5343-B23C-4C40E147CE01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3822E1C-5D78-D4E7-1A1A-5EA80DF7B966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hlinkClick r:id="rId3" action="ppaction://hlinksldjump"/>
            <a:extLst>
              <a:ext uri="{FF2B5EF4-FFF2-40B4-BE49-F238E27FC236}">
                <a16:creationId xmlns:a16="http://schemas.microsoft.com/office/drawing/2014/main" id="{0B1E57A1-B53A-74E0-6297-B9B5587FFAAF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3E39884-4BA1-C384-A17A-9E38C57EE1BE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B24026E-FC6D-B8DC-1408-E30CA92642B1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hlinkClick r:id="rId4" action="ppaction://hlinksldjump"/>
            <a:extLst>
              <a:ext uri="{FF2B5EF4-FFF2-40B4-BE49-F238E27FC236}">
                <a16:creationId xmlns:a16="http://schemas.microsoft.com/office/drawing/2014/main" id="{DF4839A1-3E8E-28CF-142C-584B08744D57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21999E7-6FBD-2F40-A91F-F28E6D793AD6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hlinkClick r:id="rId5" action="ppaction://hlinksldjump"/>
            <a:extLst>
              <a:ext uri="{FF2B5EF4-FFF2-40B4-BE49-F238E27FC236}">
                <a16:creationId xmlns:a16="http://schemas.microsoft.com/office/drawing/2014/main" id="{F85710DF-133A-21E9-E6E5-6C6913756EA2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8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0AC871A-38C2-AE7A-7F24-A7C2EBD210A7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hlinkClick r:id="rId6" action="ppaction://hlinksldjump"/>
            <a:extLst>
              <a:ext uri="{FF2B5EF4-FFF2-40B4-BE49-F238E27FC236}">
                <a16:creationId xmlns:a16="http://schemas.microsoft.com/office/drawing/2014/main" id="{3B33A820-0943-8A90-B704-54F091646C9F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CF37F7A-68F2-AFFD-1A96-379A68718764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hlinkClick r:id="rId7" action="ppaction://hlinksldjump"/>
            <a:extLst>
              <a:ext uri="{FF2B5EF4-FFF2-40B4-BE49-F238E27FC236}">
                <a16:creationId xmlns:a16="http://schemas.microsoft.com/office/drawing/2014/main" id="{85577EC1-5638-CF24-5F56-555FDE93C78C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606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AABCB0-004A-0DAF-804F-8FEF95102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087862"/>
              </p:ext>
            </p:extLst>
          </p:nvPr>
        </p:nvGraphicFramePr>
        <p:xfrm>
          <a:off x="50535" y="1568339"/>
          <a:ext cx="9041975" cy="3533140"/>
        </p:xfrm>
        <a:graphic>
          <a:graphicData uri="http://schemas.openxmlformats.org/drawingml/2006/table">
            <a:tbl>
              <a:tblPr firstRow="1" bandRow="1">
                <a:tableStyleId>{8B193ECF-1327-48E1-8871-2513AA109082}</a:tableStyleId>
              </a:tblPr>
              <a:tblGrid>
                <a:gridCol w="2569303">
                  <a:extLst>
                    <a:ext uri="{9D8B030D-6E8A-4147-A177-3AD203B41FA5}">
                      <a16:colId xmlns:a16="http://schemas.microsoft.com/office/drawing/2014/main" val="2138163829"/>
                    </a:ext>
                  </a:extLst>
                </a:gridCol>
                <a:gridCol w="2872672">
                  <a:extLst>
                    <a:ext uri="{9D8B030D-6E8A-4147-A177-3AD203B41FA5}">
                      <a16:colId xmlns:a16="http://schemas.microsoft.com/office/drawing/2014/main" val="2542460822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1991161076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706990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函式名稱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函式功能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會使用到該函式的活動類型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583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get_del_time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(time, </a:t>
                      </a:r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cover_time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限制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Delete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活動可以開始執行的時間。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”time”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代表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Delete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活動需在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Playback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活動結束後幾秒才可執行；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”</a:t>
                      </a:r>
                      <a:r>
                        <a:rPr lang="en-US" altLang="zh-TW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cover_time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”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代表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Delete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活動可以被安排的時間區段總秒數。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Delete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73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connection(Activity_Type1, Activitiy_Type2)</a:t>
                      </a:r>
                      <a:endParaRPr lang="zh-TW" altLang="en-US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用於當活動間有連結限制，意即一活動能否執行會因另一類型之活動有無執行而影響。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Record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Playback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Delete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SPL Procedure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SPL Playback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GAT Maneuver</a:t>
                      </a:r>
                    </a:p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GOHOME Maneuver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0752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altLang="zh-TW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pbk_before_gohome</a:t>
                      </a:r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()</a:t>
                      </a:r>
                    </a:p>
                    <a:p>
                      <a:pPr algn="ctr"/>
                      <a:r>
                        <a:rPr lang="zh-TW" altLang="en-US" sz="1400" b="0" baseline="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zh-TW" altLang="en-US" b="0" baseline="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因應後面問題</a:t>
                      </a:r>
                      <a:r>
                        <a:rPr lang="en-US" altLang="zh-TW" b="0" baseline="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</a:t>
                      </a:r>
                      <a:r>
                        <a:rPr lang="zh-TW" altLang="en-US" b="0" baseline="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做的新增</a:t>
                      </a:r>
                      <a:r>
                        <a:rPr lang="zh-TW" altLang="en-US" sz="1400" b="0" baseline="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）</a:t>
                      </a:r>
                      <a:endParaRPr lang="zh-TW" altLang="en-US" b="0" baseline="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限制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Playback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需在本系統產生且對應到相同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contact ID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的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GOHOME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Maneuver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開始前結束。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Playback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022465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92E53662-456E-3A54-8DB7-784BB3BA656E}"/>
              </a:ext>
            </a:extLst>
          </p:cNvPr>
          <p:cNvSpPr txBox="1"/>
          <p:nvPr/>
        </p:nvSpPr>
        <p:spPr>
          <a:xfrm>
            <a:off x="141529" y="1206387"/>
            <a:ext cx="3601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無法被個別活動單獨考量的限制式</a:t>
            </a:r>
            <a:r>
              <a:rPr lang="zh-TW" altLang="en-US" sz="1400" b="1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1400" b="1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/2</a:t>
            </a:r>
            <a:r>
              <a:rPr lang="zh-TW" altLang="en-US" sz="1400" b="1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Google Shape;3042;p38">
            <a:extLst>
              <a:ext uri="{FF2B5EF4-FFF2-40B4-BE49-F238E27FC236}">
                <a16:creationId xmlns:a16="http://schemas.microsoft.com/office/drawing/2014/main" id="{D545A3E4-48EF-3854-EF54-A5291E8263D2}"/>
              </a:ext>
            </a:extLst>
          </p:cNvPr>
          <p:cNvSpPr/>
          <p:nvPr/>
        </p:nvSpPr>
        <p:spPr>
          <a:xfrm>
            <a:off x="0" y="1097802"/>
            <a:ext cx="378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030;p38">
            <a:extLst>
              <a:ext uri="{FF2B5EF4-FFF2-40B4-BE49-F238E27FC236}">
                <a16:creationId xmlns:a16="http://schemas.microsoft.com/office/drawing/2014/main" id="{E890DBBB-A090-CF88-EC3E-CBE15161EA18}"/>
              </a:ext>
            </a:extLst>
          </p:cNvPr>
          <p:cNvSpPr txBox="1">
            <a:spLocks/>
          </p:cNvSpPr>
          <p:nvPr/>
        </p:nvSpPr>
        <p:spPr>
          <a:xfrm>
            <a:off x="-46066" y="576686"/>
            <a:ext cx="3978795" cy="521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模型限制式說明（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4/4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4" name="Google Shape;230;p30">
            <a:extLst>
              <a:ext uri="{FF2B5EF4-FFF2-40B4-BE49-F238E27FC236}">
                <a16:creationId xmlns:a16="http://schemas.microsoft.com/office/drawing/2014/main" id="{D6F7CD1E-2C1A-BF7F-8ABA-47192489CEC3}"/>
              </a:ext>
            </a:extLst>
          </p:cNvPr>
          <p:cNvSpPr/>
          <p:nvPr/>
        </p:nvSpPr>
        <p:spPr>
          <a:xfrm>
            <a:off x="3261638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F4D08E3-AB10-D3BD-0384-CEAB089BD04B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2C7949C-54A8-E0F8-B9CB-44AD7D5C152C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hlinkClick r:id="rId3" action="ppaction://hlinksldjump"/>
            <a:extLst>
              <a:ext uri="{FF2B5EF4-FFF2-40B4-BE49-F238E27FC236}">
                <a16:creationId xmlns:a16="http://schemas.microsoft.com/office/drawing/2014/main" id="{EF5987EF-271C-D289-CA11-6EF3EC56F58E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矩形 27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4AC422A-ED69-6B2D-5965-13E65C94D8D3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29216D7-B097-FBE4-63EF-4EBB7D8BB4B3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hlinkClick r:id="rId4" action="ppaction://hlinksldjump"/>
            <a:extLst>
              <a:ext uri="{FF2B5EF4-FFF2-40B4-BE49-F238E27FC236}">
                <a16:creationId xmlns:a16="http://schemas.microsoft.com/office/drawing/2014/main" id="{398EEF3C-B0F2-EB70-C29F-2EA5BF296C14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400628D-F8A6-423C-508A-40E26C1D5E8A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hlinkClick r:id="rId5" action="ppaction://hlinksldjump"/>
            <a:extLst>
              <a:ext uri="{FF2B5EF4-FFF2-40B4-BE49-F238E27FC236}">
                <a16:creationId xmlns:a16="http://schemas.microsoft.com/office/drawing/2014/main" id="{1291A342-C325-B81D-1252-98396A9DBCD4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3DDB295-AF33-D77E-3916-B9FB8085CDE4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hlinkClick r:id="rId6" action="ppaction://hlinksldjump"/>
            <a:extLst>
              <a:ext uri="{FF2B5EF4-FFF2-40B4-BE49-F238E27FC236}">
                <a16:creationId xmlns:a16="http://schemas.microsoft.com/office/drawing/2014/main" id="{E0EFE578-B710-A55C-DBE7-FBC889BC11C0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AA916B9-77B5-46E6-E059-0ABD49360627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hlinkClick r:id="rId7" action="ppaction://hlinksldjump"/>
            <a:extLst>
              <a:ext uri="{FF2B5EF4-FFF2-40B4-BE49-F238E27FC236}">
                <a16:creationId xmlns:a16="http://schemas.microsoft.com/office/drawing/2014/main" id="{E6054955-3959-B9D8-6F31-ABBFDDB733AA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5573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AABCB0-004A-0DAF-804F-8FEF95102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173011"/>
              </p:ext>
            </p:extLst>
          </p:nvPr>
        </p:nvGraphicFramePr>
        <p:xfrm>
          <a:off x="147639" y="1713995"/>
          <a:ext cx="8848722" cy="2443480"/>
        </p:xfrm>
        <a:graphic>
          <a:graphicData uri="http://schemas.openxmlformats.org/drawingml/2006/table">
            <a:tbl>
              <a:tblPr firstRow="1" bandRow="1">
                <a:tableStyleId>{8B193ECF-1327-48E1-8871-2513AA109082}</a:tableStyleId>
              </a:tblPr>
              <a:tblGrid>
                <a:gridCol w="2569303">
                  <a:extLst>
                    <a:ext uri="{9D8B030D-6E8A-4147-A177-3AD203B41FA5}">
                      <a16:colId xmlns:a16="http://schemas.microsoft.com/office/drawing/2014/main" val="2138163829"/>
                    </a:ext>
                  </a:extLst>
                </a:gridCol>
                <a:gridCol w="2872672">
                  <a:extLst>
                    <a:ext uri="{9D8B030D-6E8A-4147-A177-3AD203B41FA5}">
                      <a16:colId xmlns:a16="http://schemas.microsoft.com/office/drawing/2014/main" val="2542460822"/>
                    </a:ext>
                  </a:extLst>
                </a:gridCol>
                <a:gridCol w="3406747">
                  <a:extLst>
                    <a:ext uri="{9D8B030D-6E8A-4147-A177-3AD203B41FA5}">
                      <a16:colId xmlns:a16="http://schemas.microsoft.com/office/drawing/2014/main" val="1991161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目標式項目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項目功能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項目權重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583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活動執行與否之二元變數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在滿足限制條件下，使排入的活動總數越多越好。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1,000,000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873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Playback</a:t>
                      </a:r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開始時間偏移量之整數變數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在滿足限制條件下，使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Playback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越早執行越好。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022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Delete</a:t>
                      </a:r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開始時間偏移量之整數變數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在滿足限制條件下，使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 Delete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越早執行越好。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460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地面站使用之二元變數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在滿足限制條件下，盡量選擇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priority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較高的地面站。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831894"/>
                  </a:ext>
                </a:extLst>
              </a:tr>
            </a:tbl>
          </a:graphicData>
        </a:graphic>
      </p:graphicFrame>
      <p:sp>
        <p:nvSpPr>
          <p:cNvPr id="6" name="Google Shape;3042;p38">
            <a:extLst>
              <a:ext uri="{FF2B5EF4-FFF2-40B4-BE49-F238E27FC236}">
                <a16:creationId xmlns:a16="http://schemas.microsoft.com/office/drawing/2014/main" id="{28F618DC-2D4A-AF76-B0E2-03F55A5AE6DF}"/>
              </a:ext>
            </a:extLst>
          </p:cNvPr>
          <p:cNvSpPr/>
          <p:nvPr/>
        </p:nvSpPr>
        <p:spPr>
          <a:xfrm>
            <a:off x="0" y="1097802"/>
            <a:ext cx="2880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030;p38">
            <a:extLst>
              <a:ext uri="{FF2B5EF4-FFF2-40B4-BE49-F238E27FC236}">
                <a16:creationId xmlns:a16="http://schemas.microsoft.com/office/drawing/2014/main" id="{7A1E2606-E712-970C-32D9-CE245FFCB727}"/>
              </a:ext>
            </a:extLst>
          </p:cNvPr>
          <p:cNvSpPr txBox="1">
            <a:spLocks/>
          </p:cNvSpPr>
          <p:nvPr/>
        </p:nvSpPr>
        <p:spPr>
          <a:xfrm>
            <a:off x="-46065" y="576686"/>
            <a:ext cx="2837818" cy="521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模型目標式說明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25257AB-1B53-671A-3EDC-ADB2A5AABCA1}"/>
              </a:ext>
            </a:extLst>
          </p:cNvPr>
          <p:cNvSpPr txBox="1"/>
          <p:nvPr/>
        </p:nvSpPr>
        <p:spPr>
          <a:xfrm>
            <a:off x="141529" y="1246847"/>
            <a:ext cx="3601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屬</a:t>
            </a:r>
            <a:r>
              <a:rPr lang="zh-TW" altLang="en-US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最大化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目標值之問題</a:t>
            </a:r>
          </a:p>
        </p:txBody>
      </p:sp>
      <p:sp>
        <p:nvSpPr>
          <p:cNvPr id="19" name="Google Shape;230;p30">
            <a:extLst>
              <a:ext uri="{FF2B5EF4-FFF2-40B4-BE49-F238E27FC236}">
                <a16:creationId xmlns:a16="http://schemas.microsoft.com/office/drawing/2014/main" id="{03294226-6F10-803F-C943-BF3B52CE403D}"/>
              </a:ext>
            </a:extLst>
          </p:cNvPr>
          <p:cNvSpPr/>
          <p:nvPr/>
        </p:nvSpPr>
        <p:spPr>
          <a:xfrm>
            <a:off x="3261638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CC12159-D3EA-C59A-EC7F-1219BA0E8035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B8CD7F6-64AA-66C0-986D-5698AC610F20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hlinkClick r:id="rId3" action="ppaction://hlinksldjump"/>
            <a:extLst>
              <a:ext uri="{FF2B5EF4-FFF2-40B4-BE49-F238E27FC236}">
                <a16:creationId xmlns:a16="http://schemas.microsoft.com/office/drawing/2014/main" id="{4AF5BA53-5556-A0EE-C3D8-2FE20C2CAC1C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矩形 2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77238FA-9AAE-AB09-5955-05AC6083B2CE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3EE63A4-F478-205C-9A88-A0A343F6A861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hlinkClick r:id="rId4" action="ppaction://hlinksldjump"/>
            <a:extLst>
              <a:ext uri="{FF2B5EF4-FFF2-40B4-BE49-F238E27FC236}">
                <a16:creationId xmlns:a16="http://schemas.microsoft.com/office/drawing/2014/main" id="{D796B508-5C36-4A67-C179-89A91D3FEED7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12A8B75-C3EC-D83B-2724-07A6C5E4BEFB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hlinkClick r:id="rId5" action="ppaction://hlinksldjump"/>
            <a:extLst>
              <a:ext uri="{FF2B5EF4-FFF2-40B4-BE49-F238E27FC236}">
                <a16:creationId xmlns:a16="http://schemas.microsoft.com/office/drawing/2014/main" id="{04A7DBAA-633C-02BE-FE1B-93B098F8FF54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42CB243-0C2F-5728-D43F-6D5A8DEE2F77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hlinkClick r:id="rId6" action="ppaction://hlinksldjump"/>
            <a:extLst>
              <a:ext uri="{FF2B5EF4-FFF2-40B4-BE49-F238E27FC236}">
                <a16:creationId xmlns:a16="http://schemas.microsoft.com/office/drawing/2014/main" id="{15EE549A-DEB8-631A-4B29-971E3677C186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F0AACD3-6673-D37E-568F-676B4DBCCA03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hlinkClick r:id="rId7" action="ppaction://hlinksldjump"/>
            <a:extLst>
              <a:ext uri="{FF2B5EF4-FFF2-40B4-BE49-F238E27FC236}">
                <a16:creationId xmlns:a16="http://schemas.microsoft.com/office/drawing/2014/main" id="{A9303AC7-DEA4-7F16-3D68-A8C8534F5BAC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8365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1024974"/>
            <a:ext cx="2232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495898"/>
            <a:ext cx="1777761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050" name="圖片 1">
            <a:extLst>
              <a:ext uri="{FF2B5EF4-FFF2-40B4-BE49-F238E27FC236}">
                <a16:creationId xmlns:a16="http://schemas.microsoft.com/office/drawing/2014/main" id="{5F27629C-B2AF-B85D-EA2D-E2358A72B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68" y="2217284"/>
            <a:ext cx="8119905" cy="178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D7B03A16-760B-A3D4-9C80-59ABDA8BE50D}"/>
              </a:ext>
            </a:extLst>
          </p:cNvPr>
          <p:cNvSpPr txBox="1"/>
          <p:nvPr/>
        </p:nvSpPr>
        <p:spPr>
          <a:xfrm>
            <a:off x="0" y="1160971"/>
            <a:ext cx="258945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測試人員：太空中心人員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開發人員：清大</a:t>
            </a:r>
          </a:p>
        </p:txBody>
      </p:sp>
      <p:sp>
        <p:nvSpPr>
          <p:cNvPr id="6" name="Google Shape;230;p30">
            <a:extLst>
              <a:ext uri="{FF2B5EF4-FFF2-40B4-BE49-F238E27FC236}">
                <a16:creationId xmlns:a16="http://schemas.microsoft.com/office/drawing/2014/main" id="{78CB019C-27DE-6884-74DE-160BA4D22B3A}"/>
              </a:ext>
            </a:extLst>
          </p:cNvPr>
          <p:cNvSpPr/>
          <p:nvPr/>
        </p:nvSpPr>
        <p:spPr>
          <a:xfrm>
            <a:off x="4677738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F4EFDED-E150-8215-79DE-E8DCBB79D6D0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4BE0374-F3DB-D4F2-88D8-450A713884D4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hlinkClick r:id="rId4" action="ppaction://hlinksldjump"/>
            <a:extLst>
              <a:ext uri="{FF2B5EF4-FFF2-40B4-BE49-F238E27FC236}">
                <a16:creationId xmlns:a16="http://schemas.microsoft.com/office/drawing/2014/main" id="{E3D1C343-81D1-B3C6-3F85-5C778A7369D5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DC62CA9-F9E3-37AD-F560-0FE43B3B1EA8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5437E74-C458-7C70-5B3E-00D0B4E6C353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hlinkClick r:id="rId5" action="ppaction://hlinksldjump"/>
            <a:extLst>
              <a:ext uri="{FF2B5EF4-FFF2-40B4-BE49-F238E27FC236}">
                <a16:creationId xmlns:a16="http://schemas.microsoft.com/office/drawing/2014/main" id="{9D241BE8-9C0E-0BB2-A120-7C696C0139D6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845EB60-A795-CDC3-9C68-3C5B57B7AD4F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hlinkClick r:id="rId6" action="ppaction://hlinksldjump"/>
            <a:extLst>
              <a:ext uri="{FF2B5EF4-FFF2-40B4-BE49-F238E27FC236}">
                <a16:creationId xmlns:a16="http://schemas.microsoft.com/office/drawing/2014/main" id="{DA6DC999-4CFB-2D9E-1A66-0A8825B5E01E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09F90B4-334C-231E-C48E-D69894933196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hlinkClick r:id="rId7" action="ppaction://hlinksldjump"/>
            <a:extLst>
              <a:ext uri="{FF2B5EF4-FFF2-40B4-BE49-F238E27FC236}">
                <a16:creationId xmlns:a16="http://schemas.microsoft.com/office/drawing/2014/main" id="{8F53BCD0-D5A6-D346-D9E3-59193A7AAE1D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0E6495E-F842-26C2-1E70-D29C0584B42A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hlinkClick r:id="rId8" action="ppaction://hlinksldjump"/>
            <a:extLst>
              <a:ext uri="{FF2B5EF4-FFF2-40B4-BE49-F238E27FC236}">
                <a16:creationId xmlns:a16="http://schemas.microsoft.com/office/drawing/2014/main" id="{BA5CB883-38D5-56BB-6872-384047DEABCD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2503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1024974"/>
            <a:ext cx="4536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495898"/>
            <a:ext cx="4338854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測試項目與測試結果（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1/2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8050AFE-1B42-0020-90E8-90E10D775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776517"/>
              </p:ext>
            </p:extLst>
          </p:nvPr>
        </p:nvGraphicFramePr>
        <p:xfrm>
          <a:off x="113288" y="1160617"/>
          <a:ext cx="8917423" cy="3924000"/>
        </p:xfrm>
        <a:graphic>
          <a:graphicData uri="http://schemas.openxmlformats.org/drawingml/2006/table">
            <a:tbl>
              <a:tblPr firstRow="1" firstCol="1" bandRow="1"/>
              <a:tblGrid>
                <a:gridCol w="1319002">
                  <a:extLst>
                    <a:ext uri="{9D8B030D-6E8A-4147-A177-3AD203B41FA5}">
                      <a16:colId xmlns:a16="http://schemas.microsoft.com/office/drawing/2014/main" val="1362296293"/>
                    </a:ext>
                  </a:extLst>
                </a:gridCol>
                <a:gridCol w="3455299">
                  <a:extLst>
                    <a:ext uri="{9D8B030D-6E8A-4147-A177-3AD203B41FA5}">
                      <a16:colId xmlns:a16="http://schemas.microsoft.com/office/drawing/2014/main" val="3622545700"/>
                    </a:ext>
                  </a:extLst>
                </a:gridCol>
                <a:gridCol w="1051965">
                  <a:extLst>
                    <a:ext uri="{9D8B030D-6E8A-4147-A177-3AD203B41FA5}">
                      <a16:colId xmlns:a16="http://schemas.microsoft.com/office/drawing/2014/main" val="3778041790"/>
                    </a:ext>
                  </a:extLst>
                </a:gridCol>
                <a:gridCol w="3091157">
                  <a:extLst>
                    <a:ext uri="{9D8B030D-6E8A-4147-A177-3AD203B41FA5}">
                      <a16:colId xmlns:a16="http://schemas.microsoft.com/office/drawing/2014/main" val="389527506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需求</a:t>
                      </a: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ID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需求內容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通過</a:t>
                      </a: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開發中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備註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40163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MCC000. 02. 01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可提供星系衛星任務長期規劃與發射支援。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通過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 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84449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MCC000. 02. 02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可對福衛八號取像活動進行規劃與緊急調度。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通過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156532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MCC000. 02. 03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可支援福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衛</a:t>
                      </a: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八號科學資料活動進行長期規劃與調度。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通過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1426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MCC000. 02. 04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可依照活動優先順序提供緊急規劃與異常現象的調度。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4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通過</a:t>
                      </a:r>
                      <a:endParaRPr 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70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MCC000. 02. 05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可依任務需要支援正常任務操作長期規劃。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通過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 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651200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MCC000. 02. 06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可對多任務星系排程所需排程規則進行定義、新增、修改與刪除。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通過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 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0007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MCC000. 02. 07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可對多任務星系排程所需衛星活動進行定義、新增、修改與刪除。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通過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 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924878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MCC000. 02. 08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可對多任務操作星系重新排程策略進行新增、修改與刪除。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通過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 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735736"/>
                  </a:ext>
                </a:extLst>
              </a:tr>
            </a:tbl>
          </a:graphicData>
        </a:graphic>
      </p:graphicFrame>
      <p:sp>
        <p:nvSpPr>
          <p:cNvPr id="2" name="Google Shape;230;p30">
            <a:extLst>
              <a:ext uri="{FF2B5EF4-FFF2-40B4-BE49-F238E27FC236}">
                <a16:creationId xmlns:a16="http://schemas.microsoft.com/office/drawing/2014/main" id="{10A805A8-3AAD-8DA8-A80D-FE0D5A6DA5AB}"/>
              </a:ext>
            </a:extLst>
          </p:cNvPr>
          <p:cNvSpPr/>
          <p:nvPr/>
        </p:nvSpPr>
        <p:spPr>
          <a:xfrm>
            <a:off x="6053378" y="-6262"/>
            <a:ext cx="886688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5522014-DE8D-9064-1349-54249E5A38F9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C2129D0-8003-F147-2136-0757E691A332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9763B2BA-9F11-1244-1038-31FCC379A121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F27095A-8A3B-02EA-7244-577065B25792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E4366FE-1FA7-9D20-E093-821982D876E7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hlinkClick r:id="rId4" action="ppaction://hlinksldjump"/>
            <a:extLst>
              <a:ext uri="{FF2B5EF4-FFF2-40B4-BE49-F238E27FC236}">
                <a16:creationId xmlns:a16="http://schemas.microsoft.com/office/drawing/2014/main" id="{A6DE9FEE-2671-6B53-6DD8-C0EECAE4A5F2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1BD1ACC-D760-073A-63F7-2B33E1D2C57B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hlinkClick r:id="rId5" action="ppaction://hlinksldjump"/>
            <a:extLst>
              <a:ext uri="{FF2B5EF4-FFF2-40B4-BE49-F238E27FC236}">
                <a16:creationId xmlns:a16="http://schemas.microsoft.com/office/drawing/2014/main" id="{48A013BF-353D-154A-9C2F-A8A53BDEAC03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512A599-651A-0501-42C2-58731E6A5CB1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hlinkClick r:id="rId6" action="ppaction://hlinksldjump"/>
            <a:extLst>
              <a:ext uri="{FF2B5EF4-FFF2-40B4-BE49-F238E27FC236}">
                <a16:creationId xmlns:a16="http://schemas.microsoft.com/office/drawing/2014/main" id="{CCCB4065-2AD4-A5E3-3569-6B40326332B0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016804B-7C02-9C4D-3561-D8579B8E4F95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hlinkClick r:id="rId7" action="ppaction://hlinksldjump"/>
            <a:extLst>
              <a:ext uri="{FF2B5EF4-FFF2-40B4-BE49-F238E27FC236}">
                <a16:creationId xmlns:a16="http://schemas.microsoft.com/office/drawing/2014/main" id="{F9A376EA-2D9C-A837-4CA7-60CD7EB264C6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97363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241;p30">
            <a:extLst>
              <a:ext uri="{FF2B5EF4-FFF2-40B4-BE49-F238E27FC236}">
                <a16:creationId xmlns:a16="http://schemas.microsoft.com/office/drawing/2014/main" id="{17EADF56-D11F-78F5-1C1C-34550CF18205}"/>
              </a:ext>
            </a:extLst>
          </p:cNvPr>
          <p:cNvSpPr/>
          <p:nvPr/>
        </p:nvSpPr>
        <p:spPr>
          <a:xfrm>
            <a:off x="12115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242;p30">
            <a:extLst>
              <a:ext uri="{FF2B5EF4-FFF2-40B4-BE49-F238E27FC236}">
                <a16:creationId xmlns:a16="http://schemas.microsoft.com/office/drawing/2014/main" id="{83EF4302-9F4B-C695-F253-6392E62C0A70}"/>
              </a:ext>
            </a:extLst>
          </p:cNvPr>
          <p:cNvSpPr/>
          <p:nvPr/>
        </p:nvSpPr>
        <p:spPr>
          <a:xfrm>
            <a:off x="76123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752E2DE-08E5-CC96-8A5B-6E24DC4F6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544531"/>
              </p:ext>
            </p:extLst>
          </p:nvPr>
        </p:nvGraphicFramePr>
        <p:xfrm>
          <a:off x="133144" y="756017"/>
          <a:ext cx="8917423" cy="4320000"/>
        </p:xfrm>
        <a:graphic>
          <a:graphicData uri="http://schemas.openxmlformats.org/drawingml/2006/table">
            <a:tbl>
              <a:tblPr firstRow="1" firstCol="1" bandRow="1"/>
              <a:tblGrid>
                <a:gridCol w="1319002">
                  <a:extLst>
                    <a:ext uri="{9D8B030D-6E8A-4147-A177-3AD203B41FA5}">
                      <a16:colId xmlns:a16="http://schemas.microsoft.com/office/drawing/2014/main" val="1362296293"/>
                    </a:ext>
                  </a:extLst>
                </a:gridCol>
                <a:gridCol w="3455299">
                  <a:extLst>
                    <a:ext uri="{9D8B030D-6E8A-4147-A177-3AD203B41FA5}">
                      <a16:colId xmlns:a16="http://schemas.microsoft.com/office/drawing/2014/main" val="3622545700"/>
                    </a:ext>
                  </a:extLst>
                </a:gridCol>
                <a:gridCol w="1051965">
                  <a:extLst>
                    <a:ext uri="{9D8B030D-6E8A-4147-A177-3AD203B41FA5}">
                      <a16:colId xmlns:a16="http://schemas.microsoft.com/office/drawing/2014/main" val="3778041790"/>
                    </a:ext>
                  </a:extLst>
                </a:gridCol>
                <a:gridCol w="3091157">
                  <a:extLst>
                    <a:ext uri="{9D8B030D-6E8A-4147-A177-3AD203B41FA5}">
                      <a16:colId xmlns:a16="http://schemas.microsoft.com/office/drawing/2014/main" val="389527506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需求</a:t>
                      </a: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ID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需求內容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通過</a:t>
                      </a: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開發中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備註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40163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MCC000. 02. 09</a:t>
                      </a:r>
                      <a:endParaRPr lang="zh-TW" altLang="zh-TW" sz="1400" kern="100" dirty="0"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TW" altLang="en-US" sz="14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可對多任務星系排程所需操作限制進行定義、新增、修改與刪除。</a:t>
                      </a:r>
                      <a:endParaRPr 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4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通過</a:t>
                      </a:r>
                      <a:endParaRPr 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72335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MCC000. 02. 10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可提供多任務操作的調度和長期任務規劃，包括快速重新規劃。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通過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 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915808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MCC000. 02. 11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使用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Postgresql</a:t>
                      </a: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資料庫儲存所需資訊，並將排程結果寫入資料庫中。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通過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962435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MCC000. 02. 12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若因資源限制或操作規則衝突而無法安排的活動將儲存於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未</a:t>
                      </a: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排程的資料庫中，及記錄衝突或限制條件違反原因。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開發中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HK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持續與</a:t>
                      </a: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中心確認需求。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83496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MCC000. 02. 13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可根據衛星與地面活動優先級的規則與約束解決衝突。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通過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944467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MCC000. 02. 14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可對衛星相關資源包含衛星電量（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power/duty cycles</a:t>
                      </a: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），記憶體容量（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Solid State Recorder</a:t>
                      </a: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）與衛星指令個數與序列（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TTQ/MPQ</a:t>
                      </a: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）等進行管理。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通過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3959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MCC000. 02. 15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可根據任務需求支援星系操作對地面站使用進行最佳化選定。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通過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 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4910" marR="2491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0640229"/>
                  </a:ext>
                </a:extLst>
              </a:tr>
            </a:tbl>
          </a:graphicData>
        </a:graphic>
      </p:graphicFrame>
      <p:sp>
        <p:nvSpPr>
          <p:cNvPr id="20" name="Google Shape;3042;p38">
            <a:extLst>
              <a:ext uri="{FF2B5EF4-FFF2-40B4-BE49-F238E27FC236}">
                <a16:creationId xmlns:a16="http://schemas.microsoft.com/office/drawing/2014/main" id="{60B1F205-0EC7-5CA5-12ED-23BD95DB3550}"/>
              </a:ext>
            </a:extLst>
          </p:cNvPr>
          <p:cNvSpPr/>
          <p:nvPr/>
        </p:nvSpPr>
        <p:spPr>
          <a:xfrm>
            <a:off x="-8092" y="555638"/>
            <a:ext cx="4536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3030;p38">
            <a:extLst>
              <a:ext uri="{FF2B5EF4-FFF2-40B4-BE49-F238E27FC236}">
                <a16:creationId xmlns:a16="http://schemas.microsoft.com/office/drawing/2014/main" id="{EFFE209A-472C-E123-D5CD-EE601BB0E7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61" y="26562"/>
            <a:ext cx="4338854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測試項目與測試結果（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2/2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443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1024974"/>
            <a:ext cx="356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495898"/>
            <a:ext cx="3381311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1/15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C26090-FBB4-5EBA-430B-1BE8B39ACC74}"/>
              </a:ext>
            </a:extLst>
          </p:cNvPr>
          <p:cNvSpPr txBox="1"/>
          <p:nvPr/>
        </p:nvSpPr>
        <p:spPr>
          <a:xfrm>
            <a:off x="3531500" y="801839"/>
            <a:ext cx="3528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1. 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系統產生的</a:t>
            </a:r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GAT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會影響求解結果</a:t>
            </a: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BF1E28D8-6CF8-0129-B13E-E998EFA78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617660"/>
              </p:ext>
            </p:extLst>
          </p:nvPr>
        </p:nvGraphicFramePr>
        <p:xfrm>
          <a:off x="1020469" y="1160971"/>
          <a:ext cx="7142774" cy="3960000"/>
        </p:xfrm>
        <a:graphic>
          <a:graphicData uri="http://schemas.openxmlformats.org/drawingml/2006/table">
            <a:tbl>
              <a:tblPr firstRow="1" firstCol="1" bandRow="1"/>
              <a:tblGrid>
                <a:gridCol w="668704">
                  <a:extLst>
                    <a:ext uri="{9D8B030D-6E8A-4147-A177-3AD203B41FA5}">
                      <a16:colId xmlns:a16="http://schemas.microsoft.com/office/drawing/2014/main" val="3483513426"/>
                    </a:ext>
                  </a:extLst>
                </a:gridCol>
                <a:gridCol w="795704">
                  <a:extLst>
                    <a:ext uri="{9D8B030D-6E8A-4147-A177-3AD203B41FA5}">
                      <a16:colId xmlns:a16="http://schemas.microsoft.com/office/drawing/2014/main" val="42617142"/>
                    </a:ext>
                  </a:extLst>
                </a:gridCol>
                <a:gridCol w="1532304">
                  <a:extLst>
                    <a:ext uri="{9D8B030D-6E8A-4147-A177-3AD203B41FA5}">
                      <a16:colId xmlns:a16="http://schemas.microsoft.com/office/drawing/2014/main" val="603264011"/>
                    </a:ext>
                  </a:extLst>
                </a:gridCol>
                <a:gridCol w="1532304">
                  <a:extLst>
                    <a:ext uri="{9D8B030D-6E8A-4147-A177-3AD203B41FA5}">
                      <a16:colId xmlns:a16="http://schemas.microsoft.com/office/drawing/2014/main" val="2549331647"/>
                    </a:ext>
                  </a:extLst>
                </a:gridCol>
                <a:gridCol w="886192">
                  <a:extLst>
                    <a:ext uri="{9D8B030D-6E8A-4147-A177-3AD203B41FA5}">
                      <a16:colId xmlns:a16="http://schemas.microsoft.com/office/drawing/2014/main" val="914616417"/>
                    </a:ext>
                  </a:extLst>
                </a:gridCol>
                <a:gridCol w="1727566">
                  <a:extLst>
                    <a:ext uri="{9D8B030D-6E8A-4147-A177-3AD203B41FA5}">
                      <a16:colId xmlns:a16="http://schemas.microsoft.com/office/drawing/2014/main" val="367703684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id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duration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starttime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endtime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scheduled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name</a:t>
                      </a:r>
                      <a:endParaRPr lang="zh-TW" sz="1400" kern="10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71938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471560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17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2023/3/25 02:40:10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2023/3/25 02:40:27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RSI_REC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23982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471561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16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2023/3/25 02:40:27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2023/3/26 02:40:27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98635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471562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16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2023/3/25 02:40:27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2023/3/26 02:40:27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9953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471563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2023/3/25 02:40:27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2023/3/26 02:40:27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44613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471564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2023/3/25 02:40:27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2023/3/26 02:40:27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1332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471565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2023/3/25 02:40:27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2023/3/26 02:40:27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79845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471566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2023/3/25 02:40:28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2035/1/1 00:00:00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DELETE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7467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471567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180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2023/3/25 03:37:24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2023/3/25 03:40:24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GAT_MANEUVER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81813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471568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180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2023/3/25 03:43:07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2023/3/25 03:46:07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GOHOME_Maneuver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45427" marR="454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59434"/>
                  </a:ext>
                </a:extLst>
              </a:tr>
            </a:tbl>
          </a:graphicData>
        </a:graphic>
      </p:graphicFrame>
      <p:sp>
        <p:nvSpPr>
          <p:cNvPr id="2" name="Google Shape;230;p30">
            <a:extLst>
              <a:ext uri="{FF2B5EF4-FFF2-40B4-BE49-F238E27FC236}">
                <a16:creationId xmlns:a16="http://schemas.microsoft.com/office/drawing/2014/main" id="{7FC99015-888B-3E11-5454-0CBB7D643C5C}"/>
              </a:ext>
            </a:extLst>
          </p:cNvPr>
          <p:cNvSpPr/>
          <p:nvPr/>
        </p:nvSpPr>
        <p:spPr>
          <a:xfrm>
            <a:off x="7356189" y="-6262"/>
            <a:ext cx="1067441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2D5AC74-4ABC-D1C1-8D91-3F56014849FE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BFDD230-6642-4151-4194-45722C5963D6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hlinkClick r:id="rId3" action="ppaction://hlinksldjump"/>
            <a:extLst>
              <a:ext uri="{FF2B5EF4-FFF2-40B4-BE49-F238E27FC236}">
                <a16:creationId xmlns:a16="http://schemas.microsoft.com/office/drawing/2014/main" id="{9A502085-BF7F-8EC0-C151-477ECFB9CB3A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EE23577-B2F6-37F1-F1CB-9235BA5D431F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68A132B-5152-244A-AFC2-5CBFB3E94954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hlinkClick r:id="rId4" action="ppaction://hlinksldjump"/>
            <a:extLst>
              <a:ext uri="{FF2B5EF4-FFF2-40B4-BE49-F238E27FC236}">
                <a16:creationId xmlns:a16="http://schemas.microsoft.com/office/drawing/2014/main" id="{002A702E-8AAC-74AA-6C99-D8D0801C42BB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7439457-BEE6-E2ED-1F08-2E0AF70CB2D4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hlinkClick r:id="rId5" action="ppaction://hlinksldjump"/>
            <a:extLst>
              <a:ext uri="{FF2B5EF4-FFF2-40B4-BE49-F238E27FC236}">
                <a16:creationId xmlns:a16="http://schemas.microsoft.com/office/drawing/2014/main" id="{2930ED26-F072-C3A8-9689-0362EF5270E7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5026F75-1923-10BD-5904-B065054406C3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hlinkClick r:id="rId6" action="ppaction://hlinksldjump"/>
            <a:extLst>
              <a:ext uri="{FF2B5EF4-FFF2-40B4-BE49-F238E27FC236}">
                <a16:creationId xmlns:a16="http://schemas.microsoft.com/office/drawing/2014/main" id="{9F89817A-F786-A703-FE02-F7B46FE29F59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0CB5023-F945-1DD1-25D8-8FB81D67C38F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hlinkClick r:id="rId7" action="ppaction://hlinksldjump"/>
            <a:extLst>
              <a:ext uri="{FF2B5EF4-FFF2-40B4-BE49-F238E27FC236}">
                <a16:creationId xmlns:a16="http://schemas.microsoft.com/office/drawing/2014/main" id="{0435FDF3-10A9-A721-39F3-E336411B12AA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2962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1024974"/>
            <a:ext cx="356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495898"/>
            <a:ext cx="3381311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2/15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12EF5F1-E347-4D3D-E654-D2E80F7BB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801306"/>
              </p:ext>
            </p:extLst>
          </p:nvPr>
        </p:nvGraphicFramePr>
        <p:xfrm>
          <a:off x="1195489" y="1553175"/>
          <a:ext cx="4621530" cy="792000"/>
        </p:xfrm>
        <a:graphic>
          <a:graphicData uri="http://schemas.openxmlformats.org/drawingml/2006/table">
            <a:tbl>
              <a:tblPr firstRow="1" firstCol="1" bandRow="1"/>
              <a:tblGrid>
                <a:gridCol w="626110">
                  <a:extLst>
                    <a:ext uri="{9D8B030D-6E8A-4147-A177-3AD203B41FA5}">
                      <a16:colId xmlns:a16="http://schemas.microsoft.com/office/drawing/2014/main" val="3539077312"/>
                    </a:ext>
                  </a:extLst>
                </a:gridCol>
                <a:gridCol w="1997710">
                  <a:extLst>
                    <a:ext uri="{9D8B030D-6E8A-4147-A177-3AD203B41FA5}">
                      <a16:colId xmlns:a16="http://schemas.microsoft.com/office/drawing/2014/main" val="2941575952"/>
                    </a:ext>
                  </a:extLst>
                </a:gridCol>
                <a:gridCol w="1997710">
                  <a:extLst>
                    <a:ext uri="{9D8B030D-6E8A-4147-A177-3AD203B41FA5}">
                      <a16:colId xmlns:a16="http://schemas.microsoft.com/office/drawing/2014/main" val="72367832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id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xbandrise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xbandfade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97624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77329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03:40:24.319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03:42:26.088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466427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D4880CBA-0875-76CE-FFA7-CD48AD772C28}"/>
              </a:ext>
            </a:extLst>
          </p:cNvPr>
          <p:cNvSpPr txBox="1"/>
          <p:nvPr/>
        </p:nvSpPr>
        <p:spPr>
          <a:xfrm>
            <a:off x="992424" y="1140285"/>
            <a:ext cx="4929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生成的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GAT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對應的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X-band contact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1D30652-A9ED-C5E0-274E-83B11101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679" y="234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FE5CBB69-3AE8-81FC-8333-2AC0722859F9}"/>
              </a:ext>
            </a:extLst>
          </p:cNvPr>
          <p:cNvGrpSpPr/>
          <p:nvPr/>
        </p:nvGrpSpPr>
        <p:grpSpPr>
          <a:xfrm>
            <a:off x="999974" y="2418365"/>
            <a:ext cx="5012559" cy="2649223"/>
            <a:chOff x="2019566" y="2418365"/>
            <a:chExt cx="5012559" cy="2649223"/>
          </a:xfrm>
        </p:grpSpPr>
        <p:pic>
          <p:nvPicPr>
            <p:cNvPr id="6145" name="Picture 1">
              <a:extLst>
                <a:ext uri="{FF2B5EF4-FFF2-40B4-BE49-F238E27FC236}">
                  <a16:creationId xmlns:a16="http://schemas.microsoft.com/office/drawing/2014/main" id="{1609541F-E859-F55A-D941-025A3EBFC5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9566" y="2418365"/>
              <a:ext cx="5012559" cy="2649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6D6B113-1411-A85E-3739-FD57E40F4D33}"/>
                </a:ext>
              </a:extLst>
            </p:cNvPr>
            <p:cNvSpPr/>
            <p:nvPr/>
          </p:nvSpPr>
          <p:spPr>
            <a:xfrm>
              <a:off x="2019567" y="3590084"/>
              <a:ext cx="1511934" cy="10797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3B02ED4-2357-B94C-06BA-F06F27C4FD5C}"/>
              </a:ext>
            </a:extLst>
          </p:cNvPr>
          <p:cNvSpPr txBox="1"/>
          <p:nvPr/>
        </p:nvSpPr>
        <p:spPr>
          <a:xfrm>
            <a:off x="0" y="3490183"/>
            <a:ext cx="1098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Infeasible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666DC93-B081-4550-5D3E-17CF30CC2113}"/>
              </a:ext>
            </a:extLst>
          </p:cNvPr>
          <p:cNvSpPr txBox="1"/>
          <p:nvPr/>
        </p:nvSpPr>
        <p:spPr>
          <a:xfrm>
            <a:off x="6159564" y="1266135"/>
            <a:ext cx="2539374" cy="3347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確認問題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X-band contact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起迄時間存有小數點，影響系統取得資料的正確性。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修訂方法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從原先自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X-band rise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向前抓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180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秒檢查是否已存在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GAT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改為向前抓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181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秒。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修訂結果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問題已排除。</a:t>
            </a:r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276856F-1DEB-9323-6D39-7A217451D32D}"/>
              </a:ext>
            </a:extLst>
          </p:cNvPr>
          <p:cNvSpPr txBox="1"/>
          <p:nvPr/>
        </p:nvSpPr>
        <p:spPr>
          <a:xfrm>
            <a:off x="3531500" y="801839"/>
            <a:ext cx="3528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1. 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系統產生的</a:t>
            </a:r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GAT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會影響求解結果</a:t>
            </a:r>
          </a:p>
        </p:txBody>
      </p:sp>
      <p:sp>
        <p:nvSpPr>
          <p:cNvPr id="2" name="Google Shape;230;p30">
            <a:extLst>
              <a:ext uri="{FF2B5EF4-FFF2-40B4-BE49-F238E27FC236}">
                <a16:creationId xmlns:a16="http://schemas.microsoft.com/office/drawing/2014/main" id="{E7E7A0F3-8E30-FDF0-FEA3-8CD2C4A927E7}"/>
              </a:ext>
            </a:extLst>
          </p:cNvPr>
          <p:cNvSpPr/>
          <p:nvPr/>
        </p:nvSpPr>
        <p:spPr>
          <a:xfrm>
            <a:off x="7356189" y="-6262"/>
            <a:ext cx="1067441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C7FC22D-6A61-0996-93F3-37A5FD5CDB66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5259DFC-5B9D-B3F8-CE0A-DA9AE5267CE7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hlinkClick r:id="rId4" action="ppaction://hlinksldjump"/>
            <a:extLst>
              <a:ext uri="{FF2B5EF4-FFF2-40B4-BE49-F238E27FC236}">
                <a16:creationId xmlns:a16="http://schemas.microsoft.com/office/drawing/2014/main" id="{3E9C8240-0D8D-B0AA-5FAE-67DCBBC3DE37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4EB9CF0-6D11-3555-53B2-B32EE96D577B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8CD1394-16B2-5149-14D0-0CB304F4E0AF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hlinkClick r:id="rId5" action="ppaction://hlinksldjump"/>
            <a:extLst>
              <a:ext uri="{FF2B5EF4-FFF2-40B4-BE49-F238E27FC236}">
                <a16:creationId xmlns:a16="http://schemas.microsoft.com/office/drawing/2014/main" id="{CA908438-977E-66AF-3854-E4B64384D158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29A7B4C-2AA3-1802-7E47-826FEB725A16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hlinkClick r:id="rId6" action="ppaction://hlinksldjump"/>
            <a:extLst>
              <a:ext uri="{FF2B5EF4-FFF2-40B4-BE49-F238E27FC236}">
                <a16:creationId xmlns:a16="http://schemas.microsoft.com/office/drawing/2014/main" id="{70B71A03-612B-A4C5-2B5F-8AEF360F959B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76063C7-A0F3-ED52-B3BA-5C4A690DB2DB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hlinkClick r:id="rId7" action="ppaction://hlinksldjump"/>
            <a:extLst>
              <a:ext uri="{FF2B5EF4-FFF2-40B4-BE49-F238E27FC236}">
                <a16:creationId xmlns:a16="http://schemas.microsoft.com/office/drawing/2014/main" id="{6CB67173-2913-78A9-FD32-F6CBDB3EEBCB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554DD6A-7E42-C44A-52AB-949B702498C5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hlinkClick r:id="rId8" action="ppaction://hlinksldjump"/>
            <a:extLst>
              <a:ext uri="{FF2B5EF4-FFF2-40B4-BE49-F238E27FC236}">
                <a16:creationId xmlns:a16="http://schemas.microsoft.com/office/drawing/2014/main" id="{AECC6893-8877-29F5-18AD-A214B5EAD4D7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3504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1024974"/>
            <a:ext cx="356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495898"/>
            <a:ext cx="3381311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3/15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C26090-FBB4-5EBA-430B-1BE8B39ACC74}"/>
              </a:ext>
            </a:extLst>
          </p:cNvPr>
          <p:cNvSpPr txBox="1"/>
          <p:nvPr/>
        </p:nvSpPr>
        <p:spPr>
          <a:xfrm>
            <a:off x="3531500" y="801839"/>
            <a:ext cx="3528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2. 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重複執行模型多次會有無解的狀況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1D30652-A9ED-C5E0-274E-83B11101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679" y="234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E3E43EF-5D21-318A-0E65-B84FB09B3B77}"/>
              </a:ext>
            </a:extLst>
          </p:cNvPr>
          <p:cNvSpPr txBox="1"/>
          <p:nvPr/>
        </p:nvSpPr>
        <p:spPr>
          <a:xfrm>
            <a:off x="127021" y="1253916"/>
            <a:ext cx="6036658" cy="3393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執行程序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使用者透過介面重複執行模型求解不同活動排程。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第一次求解正常，但後續執行結果不如預期。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確認問題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模型求解後並未徹底將模型內資料清空重置。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前一次產生的結果影響到後面執行。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修訂方法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在單次求解後，將系統內部資料全數清空，回到初始狀態。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修訂結果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問題已排除。</a:t>
            </a:r>
          </a:p>
        </p:txBody>
      </p:sp>
      <p:sp>
        <p:nvSpPr>
          <p:cNvPr id="4" name="Google Shape;230;p30">
            <a:extLst>
              <a:ext uri="{FF2B5EF4-FFF2-40B4-BE49-F238E27FC236}">
                <a16:creationId xmlns:a16="http://schemas.microsoft.com/office/drawing/2014/main" id="{9EFD254F-C383-98C4-AC28-3BF76D294D46}"/>
              </a:ext>
            </a:extLst>
          </p:cNvPr>
          <p:cNvSpPr/>
          <p:nvPr/>
        </p:nvSpPr>
        <p:spPr>
          <a:xfrm>
            <a:off x="7356189" y="-6262"/>
            <a:ext cx="1067441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1BA0626-95FF-E30F-93A9-86C93AF31CE8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728AF33-CF29-C6DE-3C90-18DA79FBC38B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hlinkClick r:id="rId3" action="ppaction://hlinksldjump"/>
            <a:extLst>
              <a:ext uri="{FF2B5EF4-FFF2-40B4-BE49-F238E27FC236}">
                <a16:creationId xmlns:a16="http://schemas.microsoft.com/office/drawing/2014/main" id="{C5FFBC23-55CD-9E75-DDFB-713F2C28457E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FF0F089-C1D9-53F4-4344-AB9C94199D10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51D937E-E237-6E4E-CC07-BD2D9747301C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hlinkClick r:id="rId4" action="ppaction://hlinksldjump"/>
            <a:extLst>
              <a:ext uri="{FF2B5EF4-FFF2-40B4-BE49-F238E27FC236}">
                <a16:creationId xmlns:a16="http://schemas.microsoft.com/office/drawing/2014/main" id="{58A046FF-C242-6EE7-933B-24CE241FB926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2E453F5-80ED-49F9-56A8-00EC2CAA7DF8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hlinkClick r:id="rId5" action="ppaction://hlinksldjump"/>
            <a:extLst>
              <a:ext uri="{FF2B5EF4-FFF2-40B4-BE49-F238E27FC236}">
                <a16:creationId xmlns:a16="http://schemas.microsoft.com/office/drawing/2014/main" id="{E39BF73A-7112-4BA5-554B-DE35CD2BF5D3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D37EFCD-8F3C-68D6-605D-203E62C74076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hlinkClick r:id="rId6" action="ppaction://hlinksldjump"/>
            <a:extLst>
              <a:ext uri="{FF2B5EF4-FFF2-40B4-BE49-F238E27FC236}">
                <a16:creationId xmlns:a16="http://schemas.microsoft.com/office/drawing/2014/main" id="{C9B63317-C7DC-FD7D-72D1-778049784E9D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5494429-F522-EBBD-57A9-DB688028521A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hlinkClick r:id="rId7" action="ppaction://hlinksldjump"/>
            <a:extLst>
              <a:ext uri="{FF2B5EF4-FFF2-40B4-BE49-F238E27FC236}">
                <a16:creationId xmlns:a16="http://schemas.microsoft.com/office/drawing/2014/main" id="{B1C6CC72-8C70-3552-C8C7-EE8F75479550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37970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1024974"/>
            <a:ext cx="356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495898"/>
            <a:ext cx="3381311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4/15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C26090-FBB4-5EBA-430B-1BE8B39ACC74}"/>
              </a:ext>
            </a:extLst>
          </p:cNvPr>
          <p:cNvSpPr txBox="1"/>
          <p:nvPr/>
        </p:nvSpPr>
        <p:spPr>
          <a:xfrm>
            <a:off x="3531500" y="801839"/>
            <a:ext cx="3528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3. 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檔名設定會出現重複的狀況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1D30652-A9ED-C5E0-274E-83B11101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679" y="234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E3E43EF-5D21-318A-0E65-B84FB09B3B77}"/>
              </a:ext>
            </a:extLst>
          </p:cNvPr>
          <p:cNvSpPr txBox="1"/>
          <p:nvPr/>
        </p:nvSpPr>
        <p:spPr>
          <a:xfrm>
            <a:off x="53407" y="1135789"/>
            <a:ext cx="8664282" cy="404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執行程序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使用者藉由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runUIReHot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功能，一次以一組拍照活動執行排程。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第一組排程結果沒問題，但當進行第二組排程時，檔名會出現重複。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確認問題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因系統在執行排程前會進行前處理，處理已排程活動的檔名使用狀況。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將已排程的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RSI Record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檔名從「可使用檔名」陣列中刪除，放入「被使用檔名」陣列。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RSI Delete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釋放的檔名放回「可使用檔名」陣列，並從「被使用檔名」陣列中移除。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一加一減都尚未考量未排程的活動。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修訂方法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將檔名處理的流程一律安排於排程後再進行。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修訂結果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問題已排除。</a:t>
            </a:r>
          </a:p>
        </p:txBody>
      </p:sp>
      <p:sp>
        <p:nvSpPr>
          <p:cNvPr id="4" name="Google Shape;230;p30">
            <a:extLst>
              <a:ext uri="{FF2B5EF4-FFF2-40B4-BE49-F238E27FC236}">
                <a16:creationId xmlns:a16="http://schemas.microsoft.com/office/drawing/2014/main" id="{06126E49-5FAE-67D0-5280-C613E703F54F}"/>
              </a:ext>
            </a:extLst>
          </p:cNvPr>
          <p:cNvSpPr/>
          <p:nvPr/>
        </p:nvSpPr>
        <p:spPr>
          <a:xfrm>
            <a:off x="7356189" y="-6262"/>
            <a:ext cx="1067441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B6E540D-FA0D-BF7C-BA61-A3E4E193084F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709A479-2EEE-78F6-EB38-B4E3D21453C1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hlinkClick r:id="rId3" action="ppaction://hlinksldjump"/>
            <a:extLst>
              <a:ext uri="{FF2B5EF4-FFF2-40B4-BE49-F238E27FC236}">
                <a16:creationId xmlns:a16="http://schemas.microsoft.com/office/drawing/2014/main" id="{64D71179-D47B-1AD4-BAC6-12452B9E62FA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3279E48-0A10-3AB4-042B-FD343C5683D6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E3EA409-3A66-0DF3-0837-76864A6DC855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hlinkClick r:id="rId4" action="ppaction://hlinksldjump"/>
            <a:extLst>
              <a:ext uri="{FF2B5EF4-FFF2-40B4-BE49-F238E27FC236}">
                <a16:creationId xmlns:a16="http://schemas.microsoft.com/office/drawing/2014/main" id="{20BF833F-D368-F3EB-CA8C-3C4E0DAB10D7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6FA8327-B85A-343A-F7E8-A9FD9DB85342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hlinkClick r:id="rId5" action="ppaction://hlinksldjump"/>
            <a:extLst>
              <a:ext uri="{FF2B5EF4-FFF2-40B4-BE49-F238E27FC236}">
                <a16:creationId xmlns:a16="http://schemas.microsoft.com/office/drawing/2014/main" id="{AA8A5D40-0D57-9407-A1E0-A9DA16ADF188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D6D005-27E1-B468-586E-50D257A51A81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hlinkClick r:id="rId6" action="ppaction://hlinksldjump"/>
            <a:extLst>
              <a:ext uri="{FF2B5EF4-FFF2-40B4-BE49-F238E27FC236}">
                <a16:creationId xmlns:a16="http://schemas.microsoft.com/office/drawing/2014/main" id="{60CBD4F1-4A4F-5B51-2272-70646D244C22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A4F810B-7B6F-8BE9-696D-989AF81E2ABC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hlinkClick r:id="rId7" action="ppaction://hlinksldjump"/>
            <a:extLst>
              <a:ext uri="{FF2B5EF4-FFF2-40B4-BE49-F238E27FC236}">
                <a16:creationId xmlns:a16="http://schemas.microsoft.com/office/drawing/2014/main" id="{550BDCB4-F343-6365-761D-9DAC11776E49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15900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1024974"/>
            <a:ext cx="356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495898"/>
            <a:ext cx="3381311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5/15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C26090-FBB4-5EBA-430B-1BE8B39ACC74}"/>
              </a:ext>
            </a:extLst>
          </p:cNvPr>
          <p:cNvSpPr txBox="1"/>
          <p:nvPr/>
        </p:nvSpPr>
        <p:spPr>
          <a:xfrm>
            <a:off x="3531500" y="801839"/>
            <a:ext cx="3528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3. 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檔名設定會出現重複的狀況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1D30652-A9ED-C5E0-274E-83B11101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679" y="234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63479D-0824-38D0-A460-6B1580029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994159"/>
              </p:ext>
            </p:extLst>
          </p:nvPr>
        </p:nvGraphicFramePr>
        <p:xfrm>
          <a:off x="1011977" y="1898325"/>
          <a:ext cx="7444105" cy="1800000"/>
        </p:xfrm>
        <a:graphic>
          <a:graphicData uri="http://schemas.openxmlformats.org/drawingml/2006/table">
            <a:tbl>
              <a:tblPr firstRow="1" firstCol="1" bandRow="1"/>
              <a:tblGrid>
                <a:gridCol w="475615">
                  <a:extLst>
                    <a:ext uri="{9D8B030D-6E8A-4147-A177-3AD203B41FA5}">
                      <a16:colId xmlns:a16="http://schemas.microsoft.com/office/drawing/2014/main" val="1967009185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3606991363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2955135839"/>
                    </a:ext>
                  </a:extLst>
                </a:gridCol>
                <a:gridCol w="892810">
                  <a:extLst>
                    <a:ext uri="{9D8B030D-6E8A-4147-A177-3AD203B41FA5}">
                      <a16:colId xmlns:a16="http://schemas.microsoft.com/office/drawing/2014/main" val="578780936"/>
                    </a:ext>
                  </a:extLst>
                </a:gridCol>
                <a:gridCol w="446405">
                  <a:extLst>
                    <a:ext uri="{9D8B030D-6E8A-4147-A177-3AD203B41FA5}">
                      <a16:colId xmlns:a16="http://schemas.microsoft.com/office/drawing/2014/main" val="900831748"/>
                    </a:ext>
                  </a:extLst>
                </a:gridCol>
                <a:gridCol w="695960">
                  <a:extLst>
                    <a:ext uri="{9D8B030D-6E8A-4147-A177-3AD203B41FA5}">
                      <a16:colId xmlns:a16="http://schemas.microsoft.com/office/drawing/2014/main" val="659670408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168050944"/>
                    </a:ext>
                  </a:extLst>
                </a:gridCol>
                <a:gridCol w="506095">
                  <a:extLst>
                    <a:ext uri="{9D8B030D-6E8A-4147-A177-3AD203B41FA5}">
                      <a16:colId xmlns:a16="http://schemas.microsoft.com/office/drawing/2014/main" val="2067648740"/>
                    </a:ext>
                  </a:extLst>
                </a:gridCol>
                <a:gridCol w="506095">
                  <a:extLst>
                    <a:ext uri="{9D8B030D-6E8A-4147-A177-3AD203B41FA5}">
                      <a16:colId xmlns:a16="http://schemas.microsoft.com/office/drawing/2014/main" val="326998044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id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starttime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endtime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name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FN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second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FN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pan2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FN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ms2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FN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ms3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FN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6595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484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02:40:07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02:40:27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RSI_REC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9903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490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03:46:25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622300" algn="l"/>
                        </a:tabLs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03:46:27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DELETE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45022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491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02:45:07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02:45:27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RSI_REC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166805"/>
                  </a:ext>
                </a:extLst>
              </a:tr>
            </a:tbl>
          </a:graphicData>
        </a:graphic>
      </p:graphicFrame>
      <p:sp>
        <p:nvSpPr>
          <p:cNvPr id="23" name="左中括弧 22">
            <a:extLst>
              <a:ext uri="{FF2B5EF4-FFF2-40B4-BE49-F238E27FC236}">
                <a16:creationId xmlns:a16="http://schemas.microsoft.com/office/drawing/2014/main" id="{2BE5F17C-A152-B02D-3EAF-EF20BD35361A}"/>
              </a:ext>
            </a:extLst>
          </p:cNvPr>
          <p:cNvSpPr/>
          <p:nvPr/>
        </p:nvSpPr>
        <p:spPr>
          <a:xfrm>
            <a:off x="618835" y="2702740"/>
            <a:ext cx="391073" cy="822924"/>
          </a:xfrm>
          <a:prstGeom prst="leftBracket">
            <a:avLst>
              <a:gd name="adj" fmla="val 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B80563C-4F4B-79D5-07BC-B3531E13B0CA}"/>
              </a:ext>
            </a:extLst>
          </p:cNvPr>
          <p:cNvSpPr txBox="1"/>
          <p:nvPr/>
        </p:nvSpPr>
        <p:spPr>
          <a:xfrm>
            <a:off x="165899" y="2708368"/>
            <a:ext cx="400110" cy="82292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檔名重複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274088B-9CDA-C8BB-0E7F-65C08DD4478B}"/>
              </a:ext>
            </a:extLst>
          </p:cNvPr>
          <p:cNvSpPr txBox="1"/>
          <p:nvPr/>
        </p:nvSpPr>
        <p:spPr>
          <a:xfrm>
            <a:off x="971474" y="1519804"/>
            <a:ext cx="1545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檔名重複示意圖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76A415D-C445-C42D-48D6-B563825F9258}"/>
              </a:ext>
            </a:extLst>
          </p:cNvPr>
          <p:cNvSpPr txBox="1"/>
          <p:nvPr/>
        </p:nvSpPr>
        <p:spPr>
          <a:xfrm>
            <a:off x="971474" y="3837398"/>
            <a:ext cx="3027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（此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問題已於前一頁說明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中解決）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Google Shape;230;p30">
            <a:extLst>
              <a:ext uri="{FF2B5EF4-FFF2-40B4-BE49-F238E27FC236}">
                <a16:creationId xmlns:a16="http://schemas.microsoft.com/office/drawing/2014/main" id="{4B8ED5F8-67C6-E41A-8920-C3230D9EA19B}"/>
              </a:ext>
            </a:extLst>
          </p:cNvPr>
          <p:cNvSpPr/>
          <p:nvPr/>
        </p:nvSpPr>
        <p:spPr>
          <a:xfrm>
            <a:off x="7356189" y="-6262"/>
            <a:ext cx="1067441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DCE374F-CBED-BBE6-DF0C-ED16C4AA198E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0F58E61-69FD-EF23-41A5-62681E65FEC7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hlinkClick r:id="rId3" action="ppaction://hlinksldjump"/>
            <a:extLst>
              <a:ext uri="{FF2B5EF4-FFF2-40B4-BE49-F238E27FC236}">
                <a16:creationId xmlns:a16="http://schemas.microsoft.com/office/drawing/2014/main" id="{B543921F-A9CC-FA20-F9A5-FECB15C72FED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4450117-6192-E922-85C4-B00FDB2E4895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26D84B5-91A5-4E60-AADC-AB791E5EEAE4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hlinkClick r:id="rId4" action="ppaction://hlinksldjump"/>
            <a:extLst>
              <a:ext uri="{FF2B5EF4-FFF2-40B4-BE49-F238E27FC236}">
                <a16:creationId xmlns:a16="http://schemas.microsoft.com/office/drawing/2014/main" id="{59D8E4B4-2E1E-C7E9-9327-245B1EB37E09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7EC20FA-3932-3FEC-0576-60349602E021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hlinkClick r:id="rId5" action="ppaction://hlinksldjump"/>
            <a:extLst>
              <a:ext uri="{FF2B5EF4-FFF2-40B4-BE49-F238E27FC236}">
                <a16:creationId xmlns:a16="http://schemas.microsoft.com/office/drawing/2014/main" id="{030F1102-C6EA-4779-4B9B-1EF111C45987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23BE30D-8246-697B-93F9-618340515BBB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hlinkClick r:id="rId6" action="ppaction://hlinksldjump"/>
            <a:extLst>
              <a:ext uri="{FF2B5EF4-FFF2-40B4-BE49-F238E27FC236}">
                <a16:creationId xmlns:a16="http://schemas.microsoft.com/office/drawing/2014/main" id="{907B631A-4546-01C5-B7B6-C7F8C90F0953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DDE1CF1-6B75-4E8A-AF00-4A6B96DC5001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hlinkClick r:id="rId7" action="ppaction://hlinksldjump"/>
            <a:extLst>
              <a:ext uri="{FF2B5EF4-FFF2-40B4-BE49-F238E27FC236}">
                <a16:creationId xmlns:a16="http://schemas.microsoft.com/office/drawing/2014/main" id="{4AB5C58E-BCAA-6226-D175-1BDA143E599C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7787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1024974"/>
            <a:ext cx="356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495898"/>
            <a:ext cx="356400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6/15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C26090-FBB4-5EBA-430B-1BE8B39ACC74}"/>
              </a:ext>
            </a:extLst>
          </p:cNvPr>
          <p:cNvSpPr txBox="1"/>
          <p:nvPr/>
        </p:nvSpPr>
        <p:spPr>
          <a:xfrm>
            <a:off x="3531500" y="801839"/>
            <a:ext cx="3528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4. 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模型排程結果不符預期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1D30652-A9ED-C5E0-274E-83B11101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679" y="234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B13F49D-61F1-E9BB-BC15-FA3FA4D2F084}"/>
              </a:ext>
            </a:extLst>
          </p:cNvPr>
          <p:cNvSpPr txBox="1"/>
          <p:nvPr/>
        </p:nvSpPr>
        <p:spPr>
          <a:xfrm>
            <a:off x="53406" y="1135789"/>
            <a:ext cx="9009673" cy="993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執行程序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使用者將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Activity Table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中未排程的活動讀入進行排程。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排程結果發現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RSI Playback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的時間過於分散，未確實將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X-band contact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時間用完。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Google Shape;230;p30">
            <a:extLst>
              <a:ext uri="{FF2B5EF4-FFF2-40B4-BE49-F238E27FC236}">
                <a16:creationId xmlns:a16="http://schemas.microsoft.com/office/drawing/2014/main" id="{E2AFA2BF-339F-6658-C0E5-5ED9C9BA5845}"/>
              </a:ext>
            </a:extLst>
          </p:cNvPr>
          <p:cNvSpPr/>
          <p:nvPr/>
        </p:nvSpPr>
        <p:spPr>
          <a:xfrm>
            <a:off x="7356189" y="-6262"/>
            <a:ext cx="1067441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3235F02-F6DF-3C07-9A16-D653E1040D0B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1205043-A231-E992-199B-10F8B38E0F48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hlinkClick r:id="rId3" action="ppaction://hlinksldjump"/>
            <a:extLst>
              <a:ext uri="{FF2B5EF4-FFF2-40B4-BE49-F238E27FC236}">
                <a16:creationId xmlns:a16="http://schemas.microsoft.com/office/drawing/2014/main" id="{6CD89EA5-BB61-224E-85A7-0A602440D65D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ABDF0D5-61E9-6016-3F39-8C4D440C426C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3295DA0-B504-DD3D-5815-E3FB6A574C77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hlinkClick r:id="rId4" action="ppaction://hlinksldjump"/>
            <a:extLst>
              <a:ext uri="{FF2B5EF4-FFF2-40B4-BE49-F238E27FC236}">
                <a16:creationId xmlns:a16="http://schemas.microsoft.com/office/drawing/2014/main" id="{C7216DE9-2CA3-97C7-AC6C-AC5BD2F9153D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567B734-737F-948F-EAD5-1CFA4E036FF8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hlinkClick r:id="rId5" action="ppaction://hlinksldjump"/>
            <a:extLst>
              <a:ext uri="{FF2B5EF4-FFF2-40B4-BE49-F238E27FC236}">
                <a16:creationId xmlns:a16="http://schemas.microsoft.com/office/drawing/2014/main" id="{CC4E7987-6B3F-F741-1CB5-C15792515C81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E018F29-20EA-68B0-03C6-B3AF84D0A7E4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hlinkClick r:id="rId6" action="ppaction://hlinksldjump"/>
            <a:extLst>
              <a:ext uri="{FF2B5EF4-FFF2-40B4-BE49-F238E27FC236}">
                <a16:creationId xmlns:a16="http://schemas.microsoft.com/office/drawing/2014/main" id="{1C2A07EC-3431-1FB7-141E-EE6D8B5B0869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247942E-A9D3-4728-8483-CF888203E751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hlinkClick r:id="rId7" action="ppaction://hlinksldjump"/>
            <a:extLst>
              <a:ext uri="{FF2B5EF4-FFF2-40B4-BE49-F238E27FC236}">
                <a16:creationId xmlns:a16="http://schemas.microsoft.com/office/drawing/2014/main" id="{9CBDB627-1C41-44A9-45F7-A6B846E630F6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2565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1024974"/>
            <a:ext cx="356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495898"/>
            <a:ext cx="3381311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7/15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C26090-FBB4-5EBA-430B-1BE8B39ACC74}"/>
              </a:ext>
            </a:extLst>
          </p:cNvPr>
          <p:cNvSpPr txBox="1"/>
          <p:nvPr/>
        </p:nvSpPr>
        <p:spPr>
          <a:xfrm>
            <a:off x="3531500" y="801839"/>
            <a:ext cx="3528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4. 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模型排程結果不符預期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1D30652-A9ED-C5E0-274E-83B11101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679" y="234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3B81E3B-46AF-B23A-9A88-70AA32A5F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884314"/>
              </p:ext>
            </p:extLst>
          </p:nvPr>
        </p:nvGraphicFramePr>
        <p:xfrm>
          <a:off x="1214808" y="1341366"/>
          <a:ext cx="6067390" cy="3564000"/>
        </p:xfrm>
        <a:graphic>
          <a:graphicData uri="http://schemas.openxmlformats.org/drawingml/2006/table">
            <a:tbl>
              <a:tblPr firstRow="1" firstCol="1" bandRow="1"/>
              <a:tblGrid>
                <a:gridCol w="366388">
                  <a:extLst>
                    <a:ext uri="{9D8B030D-6E8A-4147-A177-3AD203B41FA5}">
                      <a16:colId xmlns:a16="http://schemas.microsoft.com/office/drawing/2014/main" val="258614129"/>
                    </a:ext>
                  </a:extLst>
                </a:gridCol>
                <a:gridCol w="799776">
                  <a:extLst>
                    <a:ext uri="{9D8B030D-6E8A-4147-A177-3AD203B41FA5}">
                      <a16:colId xmlns:a16="http://schemas.microsoft.com/office/drawing/2014/main" val="3694603272"/>
                    </a:ext>
                  </a:extLst>
                </a:gridCol>
                <a:gridCol w="1604638">
                  <a:extLst>
                    <a:ext uri="{9D8B030D-6E8A-4147-A177-3AD203B41FA5}">
                      <a16:colId xmlns:a16="http://schemas.microsoft.com/office/drawing/2014/main" val="2813546801"/>
                    </a:ext>
                  </a:extLst>
                </a:gridCol>
                <a:gridCol w="1604638">
                  <a:extLst>
                    <a:ext uri="{9D8B030D-6E8A-4147-A177-3AD203B41FA5}">
                      <a16:colId xmlns:a16="http://schemas.microsoft.com/office/drawing/2014/main" val="3431303331"/>
                    </a:ext>
                  </a:extLst>
                </a:gridCol>
                <a:gridCol w="1691950">
                  <a:extLst>
                    <a:ext uri="{9D8B030D-6E8A-4147-A177-3AD203B41FA5}">
                      <a16:colId xmlns:a16="http://schemas.microsoft.com/office/drawing/2014/main" val="64845927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id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1" kern="1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contactid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1" kern="1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starttime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1" kern="1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endtime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name</a:t>
                      </a:r>
                      <a:endParaRPr lang="zh-TW" sz="1400" kern="10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28318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165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02:40:07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02:40:27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RSI_REC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37649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172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02:45:07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02:45:27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RSI_REC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928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179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02:46:07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02:46:27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RSI_REC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7256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186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03:37:24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03:40:24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GAT_MANEUVER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15752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184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77329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03:40:24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tabLst>
                          <a:tab pos="6350" algn="l"/>
                        </a:tabLs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03:40:37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61435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169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77329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03:40:37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03:40:50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23115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183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77329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03:40:50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03:41:03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88339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182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77329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03:41:03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03:41:16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678069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F691EB2C-859B-44FD-9395-577F3A68A402}"/>
              </a:ext>
            </a:extLst>
          </p:cNvPr>
          <p:cNvSpPr txBox="1"/>
          <p:nvPr/>
        </p:nvSpPr>
        <p:spPr>
          <a:xfrm>
            <a:off x="426208" y="1869100"/>
            <a:ext cx="400110" cy="250853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模型排程結果不符預期示意圖</a:t>
            </a:r>
          </a:p>
        </p:txBody>
      </p:sp>
      <p:sp>
        <p:nvSpPr>
          <p:cNvPr id="6" name="Google Shape;230;p30">
            <a:extLst>
              <a:ext uri="{FF2B5EF4-FFF2-40B4-BE49-F238E27FC236}">
                <a16:creationId xmlns:a16="http://schemas.microsoft.com/office/drawing/2014/main" id="{544E4052-E4AF-4FEF-DA89-C7C729143EA5}"/>
              </a:ext>
            </a:extLst>
          </p:cNvPr>
          <p:cNvSpPr/>
          <p:nvPr/>
        </p:nvSpPr>
        <p:spPr>
          <a:xfrm>
            <a:off x="7356189" y="-6262"/>
            <a:ext cx="1067441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D59A8A7-17CD-D573-B2BD-0756E282E8EA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5B5AACD-85DF-D8C9-16D3-A5AF2E1097F3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hlinkClick r:id="rId3" action="ppaction://hlinksldjump"/>
            <a:extLst>
              <a:ext uri="{FF2B5EF4-FFF2-40B4-BE49-F238E27FC236}">
                <a16:creationId xmlns:a16="http://schemas.microsoft.com/office/drawing/2014/main" id="{E5430F9E-4718-0ADF-7796-3EBE8BD082F8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 1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B160EE4-4CC0-51B8-BE03-816F4F19F4F2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DC246FD-40E5-1320-A318-B74C57B849D1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hlinkClick r:id="rId4" action="ppaction://hlinksldjump"/>
            <a:extLst>
              <a:ext uri="{FF2B5EF4-FFF2-40B4-BE49-F238E27FC236}">
                <a16:creationId xmlns:a16="http://schemas.microsoft.com/office/drawing/2014/main" id="{DB2D77E8-D8FE-5ED1-BB44-143FA3219107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CCAD5F7-F7D0-1B59-2A8B-E47032B3F682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hlinkClick r:id="rId5" action="ppaction://hlinksldjump"/>
            <a:extLst>
              <a:ext uri="{FF2B5EF4-FFF2-40B4-BE49-F238E27FC236}">
                <a16:creationId xmlns:a16="http://schemas.microsoft.com/office/drawing/2014/main" id="{C01E67B0-3970-815D-760B-9772B8E6039E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5CFFD9F-B184-8C83-386A-DDB4559899BF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hlinkClick r:id="rId6" action="ppaction://hlinksldjump"/>
            <a:extLst>
              <a:ext uri="{FF2B5EF4-FFF2-40B4-BE49-F238E27FC236}">
                <a16:creationId xmlns:a16="http://schemas.microsoft.com/office/drawing/2014/main" id="{7918DE26-2F77-BFC8-BA7E-034DD14084CF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8F1C621-9DE2-E5CE-DE1B-13F81A98F264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hlinkClick r:id="rId7" action="ppaction://hlinksldjump"/>
            <a:extLst>
              <a:ext uri="{FF2B5EF4-FFF2-40B4-BE49-F238E27FC236}">
                <a16:creationId xmlns:a16="http://schemas.microsoft.com/office/drawing/2014/main" id="{D8163968-EDE1-45F3-C3A8-A0FC10B97C64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3240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1024974"/>
            <a:ext cx="356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495898"/>
            <a:ext cx="3381311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8/15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C26090-FBB4-5EBA-430B-1BE8B39ACC74}"/>
              </a:ext>
            </a:extLst>
          </p:cNvPr>
          <p:cNvSpPr txBox="1"/>
          <p:nvPr/>
        </p:nvSpPr>
        <p:spPr>
          <a:xfrm>
            <a:off x="3531500" y="801839"/>
            <a:ext cx="3528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4. 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模型排程結果不符預期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1D30652-A9ED-C5E0-274E-83B11101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679" y="234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962EB2FB-97F1-215C-2B81-9580822E2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650707"/>
              </p:ext>
            </p:extLst>
          </p:nvPr>
        </p:nvGraphicFramePr>
        <p:xfrm>
          <a:off x="1495326" y="1315309"/>
          <a:ext cx="6067390" cy="3564000"/>
        </p:xfrm>
        <a:graphic>
          <a:graphicData uri="http://schemas.openxmlformats.org/drawingml/2006/table">
            <a:tbl>
              <a:tblPr firstRow="1" firstCol="1" bandRow="1"/>
              <a:tblGrid>
                <a:gridCol w="366388">
                  <a:extLst>
                    <a:ext uri="{9D8B030D-6E8A-4147-A177-3AD203B41FA5}">
                      <a16:colId xmlns:a16="http://schemas.microsoft.com/office/drawing/2014/main" val="731166742"/>
                    </a:ext>
                  </a:extLst>
                </a:gridCol>
                <a:gridCol w="799776">
                  <a:extLst>
                    <a:ext uri="{9D8B030D-6E8A-4147-A177-3AD203B41FA5}">
                      <a16:colId xmlns:a16="http://schemas.microsoft.com/office/drawing/2014/main" val="3612574686"/>
                    </a:ext>
                  </a:extLst>
                </a:gridCol>
                <a:gridCol w="1604638">
                  <a:extLst>
                    <a:ext uri="{9D8B030D-6E8A-4147-A177-3AD203B41FA5}">
                      <a16:colId xmlns:a16="http://schemas.microsoft.com/office/drawing/2014/main" val="2916017915"/>
                    </a:ext>
                  </a:extLst>
                </a:gridCol>
                <a:gridCol w="1604638">
                  <a:extLst>
                    <a:ext uri="{9D8B030D-6E8A-4147-A177-3AD203B41FA5}">
                      <a16:colId xmlns:a16="http://schemas.microsoft.com/office/drawing/2014/main" val="1322909400"/>
                    </a:ext>
                  </a:extLst>
                </a:gridCol>
                <a:gridCol w="1691950">
                  <a:extLst>
                    <a:ext uri="{9D8B030D-6E8A-4147-A177-3AD203B41FA5}">
                      <a16:colId xmlns:a16="http://schemas.microsoft.com/office/drawing/2014/main" val="257110713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175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77329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03:41:16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03:41:29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65220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180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77329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03:41:29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03:41:50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36358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166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77329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03:41:50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03:42:11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64388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170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77329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03:42:11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03:42:24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24266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187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03:43:07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03:46:07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GOHOME_Maneuver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34897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188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08:10:06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08:13:06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GAT_MANEUVER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91611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177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77338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08:13:06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08:13:19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84431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168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77388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08:13:19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08:13:32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8590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181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77338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08:13:32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08:13:53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896475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B71E409B-9BF1-80FD-806F-65195DB6D868}"/>
              </a:ext>
            </a:extLst>
          </p:cNvPr>
          <p:cNvSpPr txBox="1"/>
          <p:nvPr/>
        </p:nvSpPr>
        <p:spPr>
          <a:xfrm>
            <a:off x="612297" y="1843043"/>
            <a:ext cx="400110" cy="250853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模型排程結果不符預期示意圖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2414AEC-04C1-FD67-988F-8D16EA0E6777}"/>
              </a:ext>
            </a:extLst>
          </p:cNvPr>
          <p:cNvSpPr txBox="1"/>
          <p:nvPr/>
        </p:nvSpPr>
        <p:spPr>
          <a:xfrm>
            <a:off x="525085" y="4197685"/>
            <a:ext cx="574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cont.</a:t>
            </a:r>
            <a:endParaRPr lang="zh-TW" altLang="en-US" b="1" dirty="0"/>
          </a:p>
        </p:txBody>
      </p:sp>
      <p:sp>
        <p:nvSpPr>
          <p:cNvPr id="9" name="Google Shape;230;p30">
            <a:extLst>
              <a:ext uri="{FF2B5EF4-FFF2-40B4-BE49-F238E27FC236}">
                <a16:creationId xmlns:a16="http://schemas.microsoft.com/office/drawing/2014/main" id="{114320BC-1462-BB73-2233-0C108D5182B1}"/>
              </a:ext>
            </a:extLst>
          </p:cNvPr>
          <p:cNvSpPr/>
          <p:nvPr/>
        </p:nvSpPr>
        <p:spPr>
          <a:xfrm>
            <a:off x="7356189" y="-6262"/>
            <a:ext cx="1067441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679564E-D0D1-B6A5-7B69-B12926FF951C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C354653-6208-1FD3-939C-29FD6434D05E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hlinkClick r:id="rId3" action="ppaction://hlinksldjump"/>
            <a:extLst>
              <a:ext uri="{FF2B5EF4-FFF2-40B4-BE49-F238E27FC236}">
                <a16:creationId xmlns:a16="http://schemas.microsoft.com/office/drawing/2014/main" id="{AB9B062E-A466-4250-FA26-2FEFCD3CB449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 1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F70F174-A2D4-EEB3-B2AE-043F27C5C5E2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2C5DD88-55A7-C33F-8453-01F13254928E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hlinkClick r:id="rId4" action="ppaction://hlinksldjump"/>
            <a:extLst>
              <a:ext uri="{FF2B5EF4-FFF2-40B4-BE49-F238E27FC236}">
                <a16:creationId xmlns:a16="http://schemas.microsoft.com/office/drawing/2014/main" id="{7A209B22-A267-4FD9-A662-A2BEE0DF0C21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3F828FA-73A5-5409-C605-D5B0EE51EFC4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hlinkClick r:id="rId5" action="ppaction://hlinksldjump"/>
            <a:extLst>
              <a:ext uri="{FF2B5EF4-FFF2-40B4-BE49-F238E27FC236}">
                <a16:creationId xmlns:a16="http://schemas.microsoft.com/office/drawing/2014/main" id="{B0CC2719-4EB8-A8D1-64AF-099C4FD865A3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56DDAEC-7A43-CDC4-781F-48EC91C5B843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hlinkClick r:id="rId6" action="ppaction://hlinksldjump"/>
            <a:extLst>
              <a:ext uri="{FF2B5EF4-FFF2-40B4-BE49-F238E27FC236}">
                <a16:creationId xmlns:a16="http://schemas.microsoft.com/office/drawing/2014/main" id="{7143B606-CF64-E192-AAAC-C4CF7D3F1532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EFCA74D-B1F4-665F-6F92-47796FDB1E25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hlinkClick r:id="rId7" action="ppaction://hlinksldjump"/>
            <a:extLst>
              <a:ext uri="{FF2B5EF4-FFF2-40B4-BE49-F238E27FC236}">
                <a16:creationId xmlns:a16="http://schemas.microsoft.com/office/drawing/2014/main" id="{B1C9503E-F217-1983-50DA-C5056B0E8462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5263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1024974"/>
            <a:ext cx="356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495898"/>
            <a:ext cx="3381311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9/15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C26090-FBB4-5EBA-430B-1BE8B39ACC74}"/>
              </a:ext>
            </a:extLst>
          </p:cNvPr>
          <p:cNvSpPr txBox="1"/>
          <p:nvPr/>
        </p:nvSpPr>
        <p:spPr>
          <a:xfrm>
            <a:off x="3531500" y="801839"/>
            <a:ext cx="3528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4. 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模型排程結果不符預期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1D30652-A9ED-C5E0-274E-83B11101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679" y="234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962EB2FB-97F1-215C-2B81-9580822E2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595681"/>
              </p:ext>
            </p:extLst>
          </p:nvPr>
        </p:nvGraphicFramePr>
        <p:xfrm>
          <a:off x="1495326" y="1315309"/>
          <a:ext cx="6067390" cy="3564000"/>
        </p:xfrm>
        <a:graphic>
          <a:graphicData uri="http://schemas.openxmlformats.org/drawingml/2006/table">
            <a:tbl>
              <a:tblPr firstRow="1" firstCol="1" bandRow="1"/>
              <a:tblGrid>
                <a:gridCol w="366388">
                  <a:extLst>
                    <a:ext uri="{9D8B030D-6E8A-4147-A177-3AD203B41FA5}">
                      <a16:colId xmlns:a16="http://schemas.microsoft.com/office/drawing/2014/main" val="731166742"/>
                    </a:ext>
                  </a:extLst>
                </a:gridCol>
                <a:gridCol w="799776">
                  <a:extLst>
                    <a:ext uri="{9D8B030D-6E8A-4147-A177-3AD203B41FA5}">
                      <a16:colId xmlns:a16="http://schemas.microsoft.com/office/drawing/2014/main" val="3612574686"/>
                    </a:ext>
                  </a:extLst>
                </a:gridCol>
                <a:gridCol w="1604638">
                  <a:extLst>
                    <a:ext uri="{9D8B030D-6E8A-4147-A177-3AD203B41FA5}">
                      <a16:colId xmlns:a16="http://schemas.microsoft.com/office/drawing/2014/main" val="2916017915"/>
                    </a:ext>
                  </a:extLst>
                </a:gridCol>
                <a:gridCol w="1604638">
                  <a:extLst>
                    <a:ext uri="{9D8B030D-6E8A-4147-A177-3AD203B41FA5}">
                      <a16:colId xmlns:a16="http://schemas.microsoft.com/office/drawing/2014/main" val="1322909400"/>
                    </a:ext>
                  </a:extLst>
                </a:gridCol>
                <a:gridCol w="1691950">
                  <a:extLst>
                    <a:ext uri="{9D8B030D-6E8A-4147-A177-3AD203B41FA5}">
                      <a16:colId xmlns:a16="http://schemas.microsoft.com/office/drawing/2014/main" val="257110713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189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08:18:27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08:21:27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GOHOME_Maneuver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4819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11:20:03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11:23:03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GAT_MANEUVER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86990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176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77345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11:23:03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11:23:16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42623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185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11:23:16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11:23:18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DELETE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76180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11:30:54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11:33:54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GOHOME_Maneuver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27489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192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14:11:07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14:14:07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GAT_MANEUVER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8471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173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77348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14:14:07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14:14:28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1353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193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14:21:55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14:24:55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GOHOME_Maneuver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30708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194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14:29:45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14:32:45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GAT_MANEUVER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04952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0169965D-3D1F-AD9C-FD62-E9896C79525E}"/>
              </a:ext>
            </a:extLst>
          </p:cNvPr>
          <p:cNvSpPr txBox="1"/>
          <p:nvPr/>
        </p:nvSpPr>
        <p:spPr>
          <a:xfrm>
            <a:off x="612297" y="1843043"/>
            <a:ext cx="400110" cy="250853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模型排程結果不符預期示意圖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74EABF3-2EEF-98A7-02E3-3F39C7EDAF8D}"/>
              </a:ext>
            </a:extLst>
          </p:cNvPr>
          <p:cNvSpPr txBox="1"/>
          <p:nvPr/>
        </p:nvSpPr>
        <p:spPr>
          <a:xfrm>
            <a:off x="525085" y="4197685"/>
            <a:ext cx="574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cont.</a:t>
            </a:r>
            <a:endParaRPr lang="zh-TW" altLang="en-US" b="1" dirty="0"/>
          </a:p>
        </p:txBody>
      </p:sp>
      <p:sp>
        <p:nvSpPr>
          <p:cNvPr id="10" name="Google Shape;230;p30">
            <a:extLst>
              <a:ext uri="{FF2B5EF4-FFF2-40B4-BE49-F238E27FC236}">
                <a16:creationId xmlns:a16="http://schemas.microsoft.com/office/drawing/2014/main" id="{5A3E8804-74DA-A3FA-6D64-3D0FD57248A0}"/>
              </a:ext>
            </a:extLst>
          </p:cNvPr>
          <p:cNvSpPr/>
          <p:nvPr/>
        </p:nvSpPr>
        <p:spPr>
          <a:xfrm>
            <a:off x="7356189" y="-6262"/>
            <a:ext cx="1067441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C82F41A-2023-D62F-5D36-CEBDC4E3EB08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4D7A597-AD8E-6A58-0639-D409F1A13940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D119CED5-382A-52A5-EC52-31C4F718C371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矩形 1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97C213E-4980-288E-2B4C-EEA70DCC9CB1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5BAB460-7331-3DF7-665F-14919A74F2EF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hlinkClick r:id="rId4" action="ppaction://hlinksldjump"/>
            <a:extLst>
              <a:ext uri="{FF2B5EF4-FFF2-40B4-BE49-F238E27FC236}">
                <a16:creationId xmlns:a16="http://schemas.microsoft.com/office/drawing/2014/main" id="{60769746-1086-D1A6-6B12-05FEFB039ABD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DCD0AA2-247B-3A8B-7E53-E0E557B0F78A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hlinkClick r:id="rId5" action="ppaction://hlinksldjump"/>
            <a:extLst>
              <a:ext uri="{FF2B5EF4-FFF2-40B4-BE49-F238E27FC236}">
                <a16:creationId xmlns:a16="http://schemas.microsoft.com/office/drawing/2014/main" id="{FE96CA27-AE32-5CC7-CF1F-0B6A0F69FADD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F585015-5F26-FCA5-5F1F-4590C743F621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hlinkClick r:id="rId6" action="ppaction://hlinksldjump"/>
            <a:extLst>
              <a:ext uri="{FF2B5EF4-FFF2-40B4-BE49-F238E27FC236}">
                <a16:creationId xmlns:a16="http://schemas.microsoft.com/office/drawing/2014/main" id="{C7E69762-CABE-E96E-768C-3C8FADB00539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18DCDF3-A9E1-057C-1243-DC9E038BB831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hlinkClick r:id="rId7" action="ppaction://hlinksldjump"/>
            <a:extLst>
              <a:ext uri="{FF2B5EF4-FFF2-40B4-BE49-F238E27FC236}">
                <a16:creationId xmlns:a16="http://schemas.microsoft.com/office/drawing/2014/main" id="{D6765E69-08A8-2AD3-D003-939CCCE1C103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05204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1024974"/>
            <a:ext cx="356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495898"/>
            <a:ext cx="356400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10/15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C26090-FBB4-5EBA-430B-1BE8B39ACC74}"/>
              </a:ext>
            </a:extLst>
          </p:cNvPr>
          <p:cNvSpPr txBox="1"/>
          <p:nvPr/>
        </p:nvSpPr>
        <p:spPr>
          <a:xfrm>
            <a:off x="3531500" y="801839"/>
            <a:ext cx="3528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4. 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模型排程結果不符預期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1D30652-A9ED-C5E0-274E-83B11101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679" y="234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962EB2FB-97F1-215C-2B81-9580822E2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857689"/>
              </p:ext>
            </p:extLst>
          </p:nvPr>
        </p:nvGraphicFramePr>
        <p:xfrm>
          <a:off x="1528133" y="1559768"/>
          <a:ext cx="6067390" cy="2772000"/>
        </p:xfrm>
        <a:graphic>
          <a:graphicData uri="http://schemas.openxmlformats.org/drawingml/2006/table">
            <a:tbl>
              <a:tblPr firstRow="1" firstCol="1" bandRow="1"/>
              <a:tblGrid>
                <a:gridCol w="366388">
                  <a:extLst>
                    <a:ext uri="{9D8B030D-6E8A-4147-A177-3AD203B41FA5}">
                      <a16:colId xmlns:a16="http://schemas.microsoft.com/office/drawing/2014/main" val="731166742"/>
                    </a:ext>
                  </a:extLst>
                </a:gridCol>
                <a:gridCol w="799776">
                  <a:extLst>
                    <a:ext uri="{9D8B030D-6E8A-4147-A177-3AD203B41FA5}">
                      <a16:colId xmlns:a16="http://schemas.microsoft.com/office/drawing/2014/main" val="3612574686"/>
                    </a:ext>
                  </a:extLst>
                </a:gridCol>
                <a:gridCol w="1604638">
                  <a:extLst>
                    <a:ext uri="{9D8B030D-6E8A-4147-A177-3AD203B41FA5}">
                      <a16:colId xmlns:a16="http://schemas.microsoft.com/office/drawing/2014/main" val="2916017915"/>
                    </a:ext>
                  </a:extLst>
                </a:gridCol>
                <a:gridCol w="1604638">
                  <a:extLst>
                    <a:ext uri="{9D8B030D-6E8A-4147-A177-3AD203B41FA5}">
                      <a16:colId xmlns:a16="http://schemas.microsoft.com/office/drawing/2014/main" val="1322909400"/>
                    </a:ext>
                  </a:extLst>
                </a:gridCol>
                <a:gridCol w="1691950">
                  <a:extLst>
                    <a:ext uri="{9D8B030D-6E8A-4147-A177-3AD203B41FA5}">
                      <a16:colId xmlns:a16="http://schemas.microsoft.com/office/drawing/2014/main" val="257110713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174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77353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14:32:45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14:33:06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5754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195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14:40:21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14:43:21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GOHOME_Maneuver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27171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178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14:42:36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14:42:38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DELETE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73077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196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tabLst>
                          <a:tab pos="19050" algn="l"/>
                        </a:tabLs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17:38:48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17:41:48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GAT_MANEUVER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99770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167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77358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17:41:48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17:42:09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RSI_PBK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61249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17:49:37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17:52:37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GOHOME_Maneuver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7161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171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17:51:50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2023-03-25 17:51:52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DELETE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27619" marR="2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4011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F0AB5E5-291B-D1C7-D5C5-75B1F287246D}"/>
              </a:ext>
            </a:extLst>
          </p:cNvPr>
          <p:cNvSpPr txBox="1"/>
          <p:nvPr/>
        </p:nvSpPr>
        <p:spPr>
          <a:xfrm>
            <a:off x="612297" y="1616467"/>
            <a:ext cx="400110" cy="250853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模型排程結果不符預期示意圖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214F943-639B-0D7F-5DB2-EE55786C60F6}"/>
              </a:ext>
            </a:extLst>
          </p:cNvPr>
          <p:cNvSpPr txBox="1"/>
          <p:nvPr/>
        </p:nvSpPr>
        <p:spPr>
          <a:xfrm>
            <a:off x="525085" y="3971109"/>
            <a:ext cx="574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cont.</a:t>
            </a:r>
            <a:endParaRPr lang="zh-TW" altLang="en-US" b="1" dirty="0"/>
          </a:p>
        </p:txBody>
      </p:sp>
      <p:sp>
        <p:nvSpPr>
          <p:cNvPr id="10" name="Google Shape;230;p30">
            <a:extLst>
              <a:ext uri="{FF2B5EF4-FFF2-40B4-BE49-F238E27FC236}">
                <a16:creationId xmlns:a16="http://schemas.microsoft.com/office/drawing/2014/main" id="{2361B348-D72A-7367-F060-5E84C23BDAC0}"/>
              </a:ext>
            </a:extLst>
          </p:cNvPr>
          <p:cNvSpPr/>
          <p:nvPr/>
        </p:nvSpPr>
        <p:spPr>
          <a:xfrm>
            <a:off x="7356189" y="-6262"/>
            <a:ext cx="1067441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597B3D4-C43B-04B3-7F66-9D39A585D187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C2AC731-593D-F1BA-83E2-CCDA5A4151FB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EE22156F-068C-C567-BE89-5DF416E68B89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矩形 1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5312CD6-562A-8D23-3612-001ED485EC1E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BC5D37C-5A15-A9F7-12CD-F3851F7A64E8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hlinkClick r:id="rId4" action="ppaction://hlinksldjump"/>
            <a:extLst>
              <a:ext uri="{FF2B5EF4-FFF2-40B4-BE49-F238E27FC236}">
                <a16:creationId xmlns:a16="http://schemas.microsoft.com/office/drawing/2014/main" id="{097D9A78-919F-671C-EA2E-0ACFE380C873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DF62C37-5EE4-842E-04E5-724B0635781B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hlinkClick r:id="rId5" action="ppaction://hlinksldjump"/>
            <a:extLst>
              <a:ext uri="{FF2B5EF4-FFF2-40B4-BE49-F238E27FC236}">
                <a16:creationId xmlns:a16="http://schemas.microsoft.com/office/drawing/2014/main" id="{9540147E-1D18-F348-1F2F-4ABF7525D02E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95B0A62-0F4A-1797-2A06-BC89D978DE87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hlinkClick r:id="rId6" action="ppaction://hlinksldjump"/>
            <a:extLst>
              <a:ext uri="{FF2B5EF4-FFF2-40B4-BE49-F238E27FC236}">
                <a16:creationId xmlns:a16="http://schemas.microsoft.com/office/drawing/2014/main" id="{D10484A8-97DC-DAEF-B487-C0D3A684F7DE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F61BA00-CB12-B5D1-EF22-C76E822D9969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hlinkClick r:id="rId7" action="ppaction://hlinksldjump"/>
            <a:extLst>
              <a:ext uri="{FF2B5EF4-FFF2-40B4-BE49-F238E27FC236}">
                <a16:creationId xmlns:a16="http://schemas.microsoft.com/office/drawing/2014/main" id="{0FC38BBC-5BB6-ABFC-896F-C92AA48FDB0E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38590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1024974"/>
            <a:ext cx="356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495898"/>
            <a:ext cx="3564000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11/15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C26090-FBB4-5EBA-430B-1BE8B39ACC74}"/>
              </a:ext>
            </a:extLst>
          </p:cNvPr>
          <p:cNvSpPr txBox="1"/>
          <p:nvPr/>
        </p:nvSpPr>
        <p:spPr>
          <a:xfrm>
            <a:off x="3531500" y="801839"/>
            <a:ext cx="3528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4. 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模型排程結果不符預期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1D30652-A9ED-C5E0-274E-83B11101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679" y="234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B13F49D-61F1-E9BB-BC15-FA3FA4D2F084}"/>
              </a:ext>
            </a:extLst>
          </p:cNvPr>
          <p:cNvSpPr txBox="1"/>
          <p:nvPr/>
        </p:nvSpPr>
        <p:spPr>
          <a:xfrm>
            <a:off x="53406" y="1135789"/>
            <a:ext cx="9009673" cy="3716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執行程序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使用者將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Activity Table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中未排程的活動讀入進行排程。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排程結果發現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RSI Playback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的時間過於分散，未確實將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X-band contact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時間用完。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確認問題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隨著排程的活動數增加，尤其是拍照系列的活動，會使模型執行效率降低。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為了使系統整體執行時間不會過長，有在系統中設定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gap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值，但也因此尚未求到最佳解時模型即停止優化。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執行效率與排程結果品質間無法取得平衡。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修訂方法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調整目標式的權重值、修訂限制式的書寫方式、修改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gap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值。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修訂結果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問題已排除。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363516D-B177-8844-E294-8F3C26A10F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928972"/>
              </p:ext>
            </p:extLst>
          </p:nvPr>
        </p:nvGraphicFramePr>
        <p:xfrm>
          <a:off x="2111348" y="4230628"/>
          <a:ext cx="6914644" cy="864000"/>
        </p:xfrm>
        <a:graphic>
          <a:graphicData uri="http://schemas.openxmlformats.org/drawingml/2006/table">
            <a:tbl>
              <a:tblPr firstRow="1" firstCol="1" bandRow="1"/>
              <a:tblGrid>
                <a:gridCol w="1042001">
                  <a:extLst>
                    <a:ext uri="{9D8B030D-6E8A-4147-A177-3AD203B41FA5}">
                      <a16:colId xmlns:a16="http://schemas.microsoft.com/office/drawing/2014/main" val="3807663176"/>
                    </a:ext>
                  </a:extLst>
                </a:gridCol>
                <a:gridCol w="1446300">
                  <a:extLst>
                    <a:ext uri="{9D8B030D-6E8A-4147-A177-3AD203B41FA5}">
                      <a16:colId xmlns:a16="http://schemas.microsoft.com/office/drawing/2014/main" val="2035446879"/>
                    </a:ext>
                  </a:extLst>
                </a:gridCol>
                <a:gridCol w="1610315">
                  <a:extLst>
                    <a:ext uri="{9D8B030D-6E8A-4147-A177-3AD203B41FA5}">
                      <a16:colId xmlns:a16="http://schemas.microsoft.com/office/drawing/2014/main" val="786375178"/>
                    </a:ext>
                  </a:extLst>
                </a:gridCol>
                <a:gridCol w="1480842">
                  <a:extLst>
                    <a:ext uri="{9D8B030D-6E8A-4147-A177-3AD203B41FA5}">
                      <a16:colId xmlns:a16="http://schemas.microsoft.com/office/drawing/2014/main" val="323534405"/>
                    </a:ext>
                  </a:extLst>
                </a:gridCol>
                <a:gridCol w="1335186">
                  <a:extLst>
                    <a:ext uri="{9D8B030D-6E8A-4147-A177-3AD203B41FA5}">
                      <a16:colId xmlns:a16="http://schemas.microsoft.com/office/drawing/2014/main" val="386841757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活動執行與否權重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PBK</a:t>
                      </a:r>
                      <a:r>
                        <a:rPr lang="zh-TW" sz="14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活動開始時間偏移量權重</a:t>
                      </a:r>
                      <a:endParaRPr lang="zh-TW" sz="1400" kern="10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DEL</a:t>
                      </a:r>
                      <a:r>
                        <a:rPr lang="zh-TW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活動開始時間偏移量權重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Site priority</a:t>
                      </a:r>
                      <a:r>
                        <a:rPr lang="zh-TW" sz="14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權重</a:t>
                      </a:r>
                      <a:endParaRPr lang="zh-TW" sz="1400" kern="10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gap (%)</a:t>
                      </a:r>
                      <a:endParaRPr lang="zh-TW" sz="1400" kern="100" dirty="0">
                        <a:effectLst/>
                        <a:highlight>
                          <a:srgbClr val="D9D9D9"/>
                        </a:highlight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87345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1,000,000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-1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-1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10,000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077198"/>
                  </a:ext>
                </a:extLst>
              </a:tr>
            </a:tbl>
          </a:graphicData>
        </a:graphic>
      </p:graphicFrame>
      <p:sp>
        <p:nvSpPr>
          <p:cNvPr id="4" name="Google Shape;230;p30">
            <a:extLst>
              <a:ext uri="{FF2B5EF4-FFF2-40B4-BE49-F238E27FC236}">
                <a16:creationId xmlns:a16="http://schemas.microsoft.com/office/drawing/2014/main" id="{BB3431AD-2428-F0F1-201E-5ACFEED8176B}"/>
              </a:ext>
            </a:extLst>
          </p:cNvPr>
          <p:cNvSpPr/>
          <p:nvPr/>
        </p:nvSpPr>
        <p:spPr>
          <a:xfrm>
            <a:off x="7356189" y="-6262"/>
            <a:ext cx="1067441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DADF5C1-0E5F-23DB-2BEE-969B1137AD7D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ED55F77-F695-EE4F-8F9A-26E219B15617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hlinkClick r:id="rId3" action="ppaction://hlinksldjump"/>
            <a:extLst>
              <a:ext uri="{FF2B5EF4-FFF2-40B4-BE49-F238E27FC236}">
                <a16:creationId xmlns:a16="http://schemas.microsoft.com/office/drawing/2014/main" id="{BA9BEA83-0BD4-0460-DB2E-23E78364E69F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D993E7D-3096-7A0F-CE6B-F59DF2F4D136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0189550-4A0D-D886-6548-95B4437802D0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661EF394-36A3-B27E-8FF8-BBE302A49587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D4E8EA0-787D-98B6-D1D6-FB603CA87C5E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hlinkClick r:id="rId5" action="ppaction://hlinksldjump"/>
            <a:extLst>
              <a:ext uri="{FF2B5EF4-FFF2-40B4-BE49-F238E27FC236}">
                <a16:creationId xmlns:a16="http://schemas.microsoft.com/office/drawing/2014/main" id="{A09775CC-5EC9-5C15-DF82-34E332F5DE96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A9D74FE-4DBB-E276-B08B-0AAE15A09D7C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hlinkClick r:id="rId6" action="ppaction://hlinksldjump"/>
            <a:extLst>
              <a:ext uri="{FF2B5EF4-FFF2-40B4-BE49-F238E27FC236}">
                <a16:creationId xmlns:a16="http://schemas.microsoft.com/office/drawing/2014/main" id="{90D3A6CB-9D94-F6DF-97F6-4F51FEAA90D4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DB220F1-7D3C-96C0-89A4-C44E7A58F844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hlinkClick r:id="rId7" action="ppaction://hlinksldjump"/>
            <a:extLst>
              <a:ext uri="{FF2B5EF4-FFF2-40B4-BE49-F238E27FC236}">
                <a16:creationId xmlns:a16="http://schemas.microsoft.com/office/drawing/2014/main" id="{1E464AEC-768E-2440-521F-4B465D82659B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28010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1024974"/>
            <a:ext cx="356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495898"/>
            <a:ext cx="3634847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12/15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C26090-FBB4-5EBA-430B-1BE8B39ACC74}"/>
              </a:ext>
            </a:extLst>
          </p:cNvPr>
          <p:cNvSpPr txBox="1"/>
          <p:nvPr/>
        </p:nvSpPr>
        <p:spPr>
          <a:xfrm>
            <a:off x="3531500" y="801839"/>
            <a:ext cx="3693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5. GAT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和</a:t>
            </a:r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GOHOME Maneuver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的生成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1D30652-A9ED-C5E0-274E-83B11101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679" y="234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9C611B4F-E9B2-B767-FEAF-3516B81CB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54" y="1148969"/>
            <a:ext cx="6676956" cy="3892709"/>
          </a:xfrm>
          <a:prstGeom prst="rect">
            <a:avLst/>
          </a:prstGeom>
        </p:spPr>
      </p:pic>
      <p:sp>
        <p:nvSpPr>
          <p:cNvPr id="2" name="Google Shape;230;p30">
            <a:extLst>
              <a:ext uri="{FF2B5EF4-FFF2-40B4-BE49-F238E27FC236}">
                <a16:creationId xmlns:a16="http://schemas.microsoft.com/office/drawing/2014/main" id="{092EB9D8-862C-6760-846F-91D4CABBD1F5}"/>
              </a:ext>
            </a:extLst>
          </p:cNvPr>
          <p:cNvSpPr/>
          <p:nvPr/>
        </p:nvSpPr>
        <p:spPr>
          <a:xfrm>
            <a:off x="7356189" y="-6262"/>
            <a:ext cx="1067441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353DDEE-3845-7563-37A0-FD4E50CEED02}"/>
              </a:ext>
            </a:extLst>
          </p:cNvPr>
          <p:cNvSpPr txBox="1">
            <a:spLocks/>
          </p:cNvSpPr>
          <p:nvPr/>
        </p:nvSpPr>
        <p:spPr>
          <a:xfrm>
            <a:off x="413826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en-US" altLang="zh-TW" sz="1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TASA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4B79D26-86AB-2E51-BA56-E21AA8D966E3}"/>
              </a:ext>
            </a:extLst>
          </p:cNvPr>
          <p:cNvSpPr txBox="1">
            <a:spLocks/>
          </p:cNvSpPr>
          <p:nvPr/>
        </p:nvSpPr>
        <p:spPr>
          <a:xfrm>
            <a:off x="451004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hlinkClick r:id="rId4" action="ppaction://hlinksldjump"/>
            <a:extLst>
              <a:ext uri="{FF2B5EF4-FFF2-40B4-BE49-F238E27FC236}">
                <a16:creationId xmlns:a16="http://schemas.microsoft.com/office/drawing/2014/main" id="{B86EC970-8664-EBC5-5B54-A46D7247B422}"/>
              </a:ext>
            </a:extLst>
          </p:cNvPr>
          <p:cNvSpPr/>
          <p:nvPr/>
        </p:nvSpPr>
        <p:spPr>
          <a:xfrm>
            <a:off x="4578325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EF5F656-9E57-C016-3F61-77FF39738158}"/>
              </a:ext>
            </a:extLst>
          </p:cNvPr>
          <p:cNvSpPr/>
          <p:nvPr/>
        </p:nvSpPr>
        <p:spPr>
          <a:xfrm>
            <a:off x="525085" y="134943"/>
            <a:ext cx="955335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26B41C8-EAFF-61FF-4ECD-94D704B89EF3}"/>
              </a:ext>
            </a:extLst>
          </p:cNvPr>
          <p:cNvSpPr txBox="1">
            <a:spLocks/>
          </p:cNvSpPr>
          <p:nvPr/>
        </p:nvSpPr>
        <p:spPr>
          <a:xfrm>
            <a:off x="1672599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系統執行流程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hlinkClick r:id="rId5" action="ppaction://hlinksldjump"/>
            <a:extLst>
              <a:ext uri="{FF2B5EF4-FFF2-40B4-BE49-F238E27FC236}">
                <a16:creationId xmlns:a16="http://schemas.microsoft.com/office/drawing/2014/main" id="{34FEF5CF-CDD4-72FE-1E00-E0B37C27D970}"/>
              </a:ext>
            </a:extLst>
          </p:cNvPr>
          <p:cNvSpPr/>
          <p:nvPr/>
        </p:nvSpPr>
        <p:spPr>
          <a:xfrm>
            <a:off x="1744581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A30A3DB-8FA2-D509-DDA3-00AA97E5F78E}"/>
              </a:ext>
            </a:extLst>
          </p:cNvPr>
          <p:cNvSpPr txBox="1">
            <a:spLocks/>
          </p:cNvSpPr>
          <p:nvPr/>
        </p:nvSpPr>
        <p:spPr>
          <a:xfrm>
            <a:off x="5884370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測試結果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hlinkClick r:id="rId6" action="ppaction://hlinksldjump"/>
            <a:extLst>
              <a:ext uri="{FF2B5EF4-FFF2-40B4-BE49-F238E27FC236}">
                <a16:creationId xmlns:a16="http://schemas.microsoft.com/office/drawing/2014/main" id="{14757287-CEF5-B2C7-A528-5D167D9696FC}"/>
              </a:ext>
            </a:extLst>
          </p:cNvPr>
          <p:cNvSpPr/>
          <p:nvPr/>
        </p:nvSpPr>
        <p:spPr>
          <a:xfrm>
            <a:off x="5958470" y="136030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55E6C13-C0C0-8F2E-B5E8-52CAAC1971BD}"/>
              </a:ext>
            </a:extLst>
          </p:cNvPr>
          <p:cNvSpPr txBox="1">
            <a:spLocks/>
          </p:cNvSpPr>
          <p:nvPr/>
        </p:nvSpPr>
        <p:spPr>
          <a:xfrm>
            <a:off x="7293337" y="226144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hlinkClick r:id="rId7" action="ppaction://hlinksldjump"/>
            <a:extLst>
              <a:ext uri="{FF2B5EF4-FFF2-40B4-BE49-F238E27FC236}">
                <a16:creationId xmlns:a16="http://schemas.microsoft.com/office/drawing/2014/main" id="{A35989BD-3AED-2A10-E12A-42EA30E919EC}"/>
              </a:ext>
            </a:extLst>
          </p:cNvPr>
          <p:cNvSpPr/>
          <p:nvPr/>
        </p:nvSpPr>
        <p:spPr>
          <a:xfrm>
            <a:off x="7363892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Google Shape;234;p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51AA3FF-B666-32C1-0FAA-38F4AC9C22FE}"/>
              </a:ext>
            </a:extLst>
          </p:cNvPr>
          <p:cNvSpPr txBox="1">
            <a:spLocks/>
          </p:cNvSpPr>
          <p:nvPr/>
        </p:nvSpPr>
        <p:spPr>
          <a:xfrm>
            <a:off x="3099304" y="228908"/>
            <a:ext cx="1196302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ctr">
              <a:buFont typeface="Poppins"/>
              <a:buNone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限制與目標</a:t>
            </a:r>
            <a:endParaRPr lang="en-US" sz="1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hlinkClick r:id="rId8" action="ppaction://hlinksldjump"/>
            <a:extLst>
              <a:ext uri="{FF2B5EF4-FFF2-40B4-BE49-F238E27FC236}">
                <a16:creationId xmlns:a16="http://schemas.microsoft.com/office/drawing/2014/main" id="{55AC091A-1C4B-F889-774A-FABAB38762C9}"/>
              </a:ext>
            </a:extLst>
          </p:cNvPr>
          <p:cNvSpPr/>
          <p:nvPr/>
        </p:nvSpPr>
        <p:spPr>
          <a:xfrm>
            <a:off x="3173887" y="133266"/>
            <a:ext cx="1059739" cy="36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47999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612282"/>
            <a:ext cx="356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83206"/>
            <a:ext cx="3634847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13/15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C26090-FBB4-5EBA-430B-1BE8B39ACC74}"/>
              </a:ext>
            </a:extLst>
          </p:cNvPr>
          <p:cNvSpPr txBox="1"/>
          <p:nvPr/>
        </p:nvSpPr>
        <p:spPr>
          <a:xfrm>
            <a:off x="3531500" y="389147"/>
            <a:ext cx="3693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5. GAT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和</a:t>
            </a:r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GOHOME Maneuver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的生成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1D30652-A9ED-C5E0-274E-83B11101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679" y="234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7D22FBD-7C59-EDF8-2FBA-A826AED35F9E}"/>
              </a:ext>
            </a:extLst>
          </p:cNvPr>
          <p:cNvSpPr txBox="1"/>
          <p:nvPr/>
        </p:nvSpPr>
        <p:spPr>
          <a:xfrm>
            <a:off x="53406" y="723097"/>
            <a:ext cx="9009673" cy="4363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執行程序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系統在執行模型優化前會透過前處理創建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GAT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GAT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之間可能存有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RSI Record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活動。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在執行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前應該要先執行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確認問題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過去生成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GAT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活動時沒有考慮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的問題。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若在執行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GAT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後又有執行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，該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X-band contact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不可再有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RSI Playback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活動的發生，此限制為後來新增。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修訂方法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在前處理建立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GAT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時會確認此兩活動之間是否存在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，並在模型中針對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RSI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Playback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新增限制。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修訂結果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問題已排除。</a:t>
            </a:r>
          </a:p>
        </p:txBody>
      </p:sp>
    </p:spTree>
    <p:extLst>
      <p:ext uri="{BB962C8B-B14F-4D97-AF65-F5344CB8AC3E}">
        <p14:creationId xmlns:p14="http://schemas.microsoft.com/office/powerpoint/2010/main" val="3182316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C1EB307-210E-E38B-6F46-934BD9182494}"/>
              </a:ext>
            </a:extLst>
          </p:cNvPr>
          <p:cNvSpPr/>
          <p:nvPr/>
        </p:nvSpPr>
        <p:spPr>
          <a:xfrm>
            <a:off x="477429" y="3409032"/>
            <a:ext cx="6222776" cy="7006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612282"/>
            <a:ext cx="356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83206"/>
            <a:ext cx="3634847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14/15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C26090-FBB4-5EBA-430B-1BE8B39ACC74}"/>
              </a:ext>
            </a:extLst>
          </p:cNvPr>
          <p:cNvSpPr txBox="1"/>
          <p:nvPr/>
        </p:nvSpPr>
        <p:spPr>
          <a:xfrm>
            <a:off x="3531500" y="389147"/>
            <a:ext cx="3693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6. 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模型執行效率與品質間的平衡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1D30652-A9ED-C5E0-274E-83B11101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679" y="234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7D22FBD-7C59-EDF8-2FBA-A826AED35F9E}"/>
              </a:ext>
            </a:extLst>
          </p:cNvPr>
          <p:cNvSpPr txBox="1"/>
          <p:nvPr/>
        </p:nvSpPr>
        <p:spPr>
          <a:xfrm>
            <a:off x="53406" y="723097"/>
            <a:ext cx="9009673" cy="411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執行程序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系統在求解過程若要求得最佳解需耗較長時間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（求解時間會受排程活動種類與總數影響）；若在可接受時間求一可行解 ，則無法滿足預期之排程結果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確認問題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參考前面問題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4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（模型排程結果不符預期）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，當初提供的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input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資料能在可接受時間求得符合預期的結果，但後續測試，加入更多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RSI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系列活動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（包含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 Record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Playback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RSI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Delete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），發現求解時間不符預期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修訂方法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透過調整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Cplex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求解的一些參數以改善本問題。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146250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146250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修訂結果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問題已排除。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1F4BA3F-96EF-79D8-4686-6A1BDD268B2C}"/>
              </a:ext>
            </a:extLst>
          </p:cNvPr>
          <p:cNvSpPr txBox="1"/>
          <p:nvPr/>
        </p:nvSpPr>
        <p:spPr>
          <a:xfrm>
            <a:off x="329325" y="3392842"/>
            <a:ext cx="3021701" cy="700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2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Treads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8</a:t>
            </a:r>
          </a:p>
          <a:p>
            <a:pPr marL="432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Gomory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 Cuts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2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ggressive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DE2B9FD-86D8-80EC-E64D-1E94C8F28C30}"/>
              </a:ext>
            </a:extLst>
          </p:cNvPr>
          <p:cNvSpPr txBox="1"/>
          <p:nvPr/>
        </p:nvSpPr>
        <p:spPr>
          <a:xfrm>
            <a:off x="3261090" y="3393519"/>
            <a:ext cx="3681876" cy="700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2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Cliques Cuts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ggressive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32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NodelSelect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2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est-estimate search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59252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42;p38">
            <a:extLst>
              <a:ext uri="{FF2B5EF4-FFF2-40B4-BE49-F238E27FC236}">
                <a16:creationId xmlns:a16="http://schemas.microsoft.com/office/drawing/2014/main" id="{47F32233-FABE-192B-4C2C-57D98D64D9C4}"/>
              </a:ext>
            </a:extLst>
          </p:cNvPr>
          <p:cNvSpPr/>
          <p:nvPr/>
        </p:nvSpPr>
        <p:spPr>
          <a:xfrm>
            <a:off x="0" y="612282"/>
            <a:ext cx="35640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0;p38">
            <a:extLst>
              <a:ext uri="{FF2B5EF4-FFF2-40B4-BE49-F238E27FC236}">
                <a16:creationId xmlns:a16="http://schemas.microsoft.com/office/drawing/2014/main" id="{18B88980-37FF-20DE-F36A-2472AE28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53" y="83206"/>
            <a:ext cx="3634847" cy="52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測試過程修訂（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15/15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C26090-FBB4-5EBA-430B-1BE8B39ACC74}"/>
              </a:ext>
            </a:extLst>
          </p:cNvPr>
          <p:cNvSpPr txBox="1"/>
          <p:nvPr/>
        </p:nvSpPr>
        <p:spPr>
          <a:xfrm>
            <a:off x="3531500" y="389147"/>
            <a:ext cx="3693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7. 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跨</a:t>
            </a:r>
            <a:r>
              <a:rPr lang="en-US" altLang="zh-TW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session</a:t>
            </a:r>
            <a:r>
              <a:rPr lang="zh-TW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的排程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1D30652-A9ED-C5E0-274E-83B11101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679" y="234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7D22FBD-7C59-EDF8-2FBA-A826AED35F9E}"/>
              </a:ext>
            </a:extLst>
          </p:cNvPr>
          <p:cNvSpPr txBox="1"/>
          <p:nvPr/>
        </p:nvSpPr>
        <p:spPr>
          <a:xfrm>
            <a:off x="12947" y="723097"/>
            <a:ext cx="9131054" cy="4363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執行程序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利用系統進行跨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session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的排程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（例如假設排定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session 985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之活動，可能含有部分活動須延至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session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986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才能執行，接著再加入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session 986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其他的活動排程），會有無解的情況發生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確認問題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經分析發現此問題源自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GAT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生成時，只會抓取指定排程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session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Activity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資訊，因此可能忽略資料庫原先的部分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Attitude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活動，以致錯誤生成。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另外在部分限制式會使用到一個極大值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做運算，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值的選定會影響到模型的可行性，過去在設值時未注意到多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session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的排程問題，導致值設的不夠大，進而產生無解。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修訂方法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生成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GAT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GOHOME Maneuver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活動時，抓取的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Activity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資訊只依照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X-band contact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時間做篩選，不考慮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session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值的設定須至少大於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86400 * 5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（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表示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Activity Table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最多保留的天數）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，目前若有需要設定則設為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1,000,000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修訂結果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2000" indent="-285750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問題已排除。</a:t>
            </a:r>
          </a:p>
        </p:txBody>
      </p:sp>
    </p:spTree>
    <p:extLst>
      <p:ext uri="{BB962C8B-B14F-4D97-AF65-F5344CB8AC3E}">
        <p14:creationId xmlns:p14="http://schemas.microsoft.com/office/powerpoint/2010/main" val="801059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1" name="Google Shape;4881;p46"/>
          <p:cNvSpPr txBox="1">
            <a:spLocks noGrp="1"/>
          </p:cNvSpPr>
          <p:nvPr>
            <p:ph type="title"/>
          </p:nvPr>
        </p:nvSpPr>
        <p:spPr>
          <a:xfrm>
            <a:off x="1371600" y="1530600"/>
            <a:ext cx="4296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4898" name="Google Shape;4898;p46"/>
          <p:cNvSpPr/>
          <p:nvPr/>
        </p:nvSpPr>
        <p:spPr>
          <a:xfrm>
            <a:off x="0" y="2724925"/>
            <a:ext cx="54312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ople &amp; Diversity Website Design by Slidesgo">
  <a:themeElements>
    <a:clrScheme name="Simple Light">
      <a:dk1>
        <a:srgbClr val="000000"/>
      </a:dk1>
      <a:lt1>
        <a:srgbClr val="FFFFFF"/>
      </a:lt1>
      <a:dk2>
        <a:srgbClr val="EFEFEF"/>
      </a:dk2>
      <a:lt2>
        <a:srgbClr val="FFCE1C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27781</TotalTime>
  <Words>3291</Words>
  <Application>Microsoft Office PowerPoint</Application>
  <PresentationFormat>如螢幕大小 (16:9)</PresentationFormat>
  <Paragraphs>714</Paragraphs>
  <Slides>26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1" baseType="lpstr">
      <vt:lpstr>Poppins</vt:lpstr>
      <vt:lpstr>Times New Roman</vt:lpstr>
      <vt:lpstr>標楷體</vt:lpstr>
      <vt:lpstr>Arial</vt:lpstr>
      <vt:lpstr>People &amp; Diversity Website Design by Slidesgo</vt:lpstr>
      <vt:lpstr>任務排程系統新模組開發</vt:lpstr>
      <vt:lpstr>系統執行流程</vt:lpstr>
      <vt:lpstr>PowerPoint 簡報</vt:lpstr>
      <vt:lpstr>PowerPoint 簡報</vt:lpstr>
      <vt:lpstr>PowerPoint 簡報</vt:lpstr>
      <vt:lpstr>PowerPoint 簡報</vt:lpstr>
      <vt:lpstr>PowerPoint 簡報</vt:lpstr>
      <vt:lpstr>測試流程</vt:lpstr>
      <vt:lpstr>測試項目與測試結果（1/2）</vt:lpstr>
      <vt:lpstr>測試項目與測試結果（2/2）</vt:lpstr>
      <vt:lpstr>測試過程修訂（1/15）</vt:lpstr>
      <vt:lpstr>測試過程修訂（2/15）</vt:lpstr>
      <vt:lpstr>測試過程修訂（3/15）</vt:lpstr>
      <vt:lpstr>測試過程修訂（4/15）</vt:lpstr>
      <vt:lpstr>測試過程修訂（5/15）</vt:lpstr>
      <vt:lpstr>測試過程修訂（6/15）</vt:lpstr>
      <vt:lpstr>測試過程修訂（7/15）</vt:lpstr>
      <vt:lpstr>測試過程修訂（8/15）</vt:lpstr>
      <vt:lpstr>測試過程修訂（9/15）</vt:lpstr>
      <vt:lpstr>測試過程修訂（10/15）</vt:lpstr>
      <vt:lpstr>測試過程修訂（11/15）</vt:lpstr>
      <vt:lpstr>測試過程修訂（12/15）</vt:lpstr>
      <vt:lpstr>測試過程修訂（13/15）</vt:lpstr>
      <vt:lpstr>測試過程修訂（14/15）</vt:lpstr>
      <vt:lpstr>測試過程修訂（15/15）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Oxidation / Diffusion</dc:title>
  <cp:lastModifiedBy>品玲 尹</cp:lastModifiedBy>
  <cp:revision>521</cp:revision>
  <dcterms:modified xsi:type="dcterms:W3CDTF">2024-05-07T02:52:57Z</dcterms:modified>
</cp:coreProperties>
</file>